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Now" panose="020B0604020202020204" charset="0"/>
      <p:regular r:id="rId16"/>
    </p:embeddedFont>
    <p:embeddedFont>
      <p:font typeface="Now Bold" panose="020B0604020202020204" charset="0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aguscsc/Bidirectional-Buck-DC-DC-converter/tree/main/microcontroller/graphic_interface/executables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00950" y="-313312"/>
            <a:ext cx="10861154" cy="8362804"/>
            <a:chOff x="0" y="0"/>
            <a:chExt cx="14481539" cy="1115040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rcRect t="10514" b="10514"/>
            <a:stretch>
              <a:fillRect/>
            </a:stretch>
          </p:blipFill>
          <p:spPr>
            <a:xfrm>
              <a:off x="0" y="0"/>
              <a:ext cx="14481539" cy="11150405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7600950" y="6575035"/>
            <a:ext cx="10861154" cy="3711965"/>
            <a:chOff x="0" y="0"/>
            <a:chExt cx="2860551" cy="9776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0551" cy="977637"/>
            </a:xfrm>
            <a:custGeom>
              <a:avLst/>
              <a:gdLst/>
              <a:ahLst/>
              <a:cxnLst/>
              <a:rect l="l" t="t" r="r" b="b"/>
              <a:pathLst>
                <a:path w="2860551" h="977637">
                  <a:moveTo>
                    <a:pt x="0" y="0"/>
                  </a:moveTo>
                  <a:lnTo>
                    <a:pt x="2860551" y="0"/>
                  </a:lnTo>
                  <a:lnTo>
                    <a:pt x="2860551" y="977637"/>
                  </a:lnTo>
                  <a:lnTo>
                    <a:pt x="0" y="977637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60551" cy="1015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Grupo N°2</a:t>
              </a:r>
            </a:p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Gian Lucas Barbagelata</a:t>
              </a:r>
            </a:p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Agustín Torres Bobadilla</a:t>
              </a:r>
            </a:p>
            <a:p>
              <a:pPr algn="just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Ignacio Cerda Torres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28379" y="254241"/>
            <a:ext cx="7050428" cy="7026370"/>
            <a:chOff x="0" y="0"/>
            <a:chExt cx="9400570" cy="9368493"/>
          </a:xfrm>
        </p:grpSpPr>
        <p:sp>
          <p:nvSpPr>
            <p:cNvPr id="8" name="TextBox 8"/>
            <p:cNvSpPr txBox="1"/>
            <p:nvPr/>
          </p:nvSpPr>
          <p:spPr>
            <a:xfrm>
              <a:off x="0" y="1088942"/>
              <a:ext cx="9400570" cy="8279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81"/>
                </a:lnSpc>
              </a:pPr>
              <a:r>
                <a:rPr lang="en-US" sz="8001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Proyecto</a:t>
              </a:r>
            </a:p>
            <a:p>
              <a:pPr algn="l">
                <a:lnSpc>
                  <a:spcPts val="9681"/>
                </a:lnSpc>
              </a:pPr>
              <a:r>
                <a:rPr lang="en-US" sz="8001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Convertidor DC/DC</a:t>
              </a:r>
            </a:p>
            <a:p>
              <a:pPr algn="l">
                <a:lnSpc>
                  <a:spcPts val="9681"/>
                </a:lnSpc>
              </a:pPr>
              <a:r>
                <a:rPr lang="en-US" sz="8001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Buck Bidireccional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9400570" cy="730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58"/>
                </a:lnSpc>
              </a:pPr>
              <a:r>
                <a:rPr lang="en-US" sz="3601" spc="1040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PROPUESTA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78662" y="2829712"/>
            <a:ext cx="10809338" cy="7602375"/>
            <a:chOff x="0" y="0"/>
            <a:chExt cx="2846904" cy="2002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904" cy="2002272"/>
            </a:xfrm>
            <a:custGeom>
              <a:avLst/>
              <a:gdLst/>
              <a:ahLst/>
              <a:cxnLst/>
              <a:rect l="l" t="t" r="r" b="b"/>
              <a:pathLst>
                <a:path w="2846904" h="2002272">
                  <a:moveTo>
                    <a:pt x="0" y="0"/>
                  </a:moveTo>
                  <a:lnTo>
                    <a:pt x="2846904" y="0"/>
                  </a:lnTo>
                  <a:lnTo>
                    <a:pt x="2846904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FE3E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904" cy="2040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2159" y="2829712"/>
            <a:ext cx="7600950" cy="7602375"/>
            <a:chOff x="0" y="0"/>
            <a:chExt cx="2001896" cy="20022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01896" cy="2002272"/>
            </a:xfrm>
            <a:custGeom>
              <a:avLst/>
              <a:gdLst/>
              <a:ahLst/>
              <a:cxnLst/>
              <a:rect l="l" t="t" r="r" b="b"/>
              <a:pathLst>
                <a:path w="2001896" h="2002272">
                  <a:moveTo>
                    <a:pt x="0" y="0"/>
                  </a:moveTo>
                  <a:lnTo>
                    <a:pt x="2001896" y="0"/>
                  </a:lnTo>
                  <a:lnTo>
                    <a:pt x="2001896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01896" cy="2040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00007" y="3260203"/>
          <a:ext cx="7156619" cy="6741394"/>
        </p:xfrm>
        <a:graphic>
          <a:graphicData uri="http://schemas.openxmlformats.org/drawingml/2006/table">
            <a:tbl>
              <a:tblPr/>
              <a:tblGrid>
                <a:gridCol w="2158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8076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Parametros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Modo Buck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w Bold"/>
                          <a:ea typeface="Now Bold"/>
                          <a:cs typeface="Now Bold"/>
                          <a:sym typeface="Now Bold"/>
                        </a:rPr>
                        <a:t>Modo 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308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Voltaje Continuo Minimo de Entrada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23[Vdc]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12[Vdc]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308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Voltaje Continuo Máximo de Salida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14[Vdc]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27[Vdc]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25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Frecuencia de conmutación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60[KHz]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60[KHz]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32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Tipo de switch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Mosfet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Mosfet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232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Potencia Máxima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5[W]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w"/>
                          <a:ea typeface="Now"/>
                          <a:cs typeface="Now"/>
                          <a:sym typeface="Now"/>
                        </a:rPr>
                        <a:t>5[W]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15533197" y="2976005"/>
            <a:ext cx="2034996" cy="821071"/>
            <a:chOff x="0" y="0"/>
            <a:chExt cx="618899" cy="2497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8899" cy="249711"/>
            </a:xfrm>
            <a:custGeom>
              <a:avLst/>
              <a:gdLst/>
              <a:ahLst/>
              <a:cxnLst/>
              <a:rect l="l" t="t" r="r" b="b"/>
              <a:pathLst>
                <a:path w="618899" h="249711">
                  <a:moveTo>
                    <a:pt x="415699" y="0"/>
                  </a:moveTo>
                  <a:cubicBezTo>
                    <a:pt x="527923" y="0"/>
                    <a:pt x="618899" y="55900"/>
                    <a:pt x="618899" y="124855"/>
                  </a:cubicBezTo>
                  <a:cubicBezTo>
                    <a:pt x="618899" y="193811"/>
                    <a:pt x="527923" y="249711"/>
                    <a:pt x="415699" y="249711"/>
                  </a:cubicBezTo>
                  <a:lnTo>
                    <a:pt x="203200" y="249711"/>
                  </a:lnTo>
                  <a:cubicBezTo>
                    <a:pt x="90976" y="249711"/>
                    <a:pt x="0" y="193811"/>
                    <a:pt x="0" y="124855"/>
                  </a:cubicBezTo>
                  <a:cubicBezTo>
                    <a:pt x="0" y="559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18899" cy="287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de entrada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301649" y="5366435"/>
            <a:ext cx="2498092" cy="1671956"/>
            <a:chOff x="0" y="0"/>
            <a:chExt cx="812800" cy="5440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543988"/>
            </a:xfrm>
            <a:custGeom>
              <a:avLst/>
              <a:gdLst/>
              <a:ahLst/>
              <a:cxnLst/>
              <a:rect l="l" t="t" r="r" b="b"/>
              <a:pathLst>
                <a:path w="812800" h="543988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9086"/>
                    <a:pt x="603543" y="39331"/>
                    <a:pt x="623736" y="88821"/>
                  </a:cubicBezTo>
                  <a:cubicBezTo>
                    <a:pt x="742003" y="82221"/>
                    <a:pt x="827989" y="175799"/>
                    <a:pt x="775586" y="267642"/>
                  </a:cubicBezTo>
                  <a:cubicBezTo>
                    <a:pt x="793012" y="286941"/>
                    <a:pt x="807550" y="308529"/>
                    <a:pt x="812800" y="337504"/>
                  </a:cubicBezTo>
                  <a:cubicBezTo>
                    <a:pt x="812800" y="345804"/>
                    <a:pt x="812800" y="354084"/>
                    <a:pt x="812800" y="362383"/>
                  </a:cubicBezTo>
                  <a:cubicBezTo>
                    <a:pt x="797154" y="436126"/>
                    <a:pt x="729827" y="485957"/>
                    <a:pt x="619295" y="472542"/>
                  </a:cubicBezTo>
                  <a:cubicBezTo>
                    <a:pt x="590856" y="510406"/>
                    <a:pt x="540252" y="548240"/>
                    <a:pt x="461507" y="543601"/>
                  </a:cubicBezTo>
                  <a:cubicBezTo>
                    <a:pt x="420804" y="541116"/>
                    <a:pt x="392488" y="526718"/>
                    <a:pt x="367697" y="509226"/>
                  </a:cubicBezTo>
                  <a:cubicBezTo>
                    <a:pt x="341584" y="523766"/>
                    <a:pt x="313304" y="535177"/>
                    <a:pt x="272443" y="535303"/>
                  </a:cubicBezTo>
                  <a:cubicBezTo>
                    <a:pt x="177910" y="535518"/>
                    <a:pt x="114672" y="479500"/>
                    <a:pt x="113139" y="402662"/>
                  </a:cubicBezTo>
                  <a:cubicBezTo>
                    <a:pt x="52367" y="384687"/>
                    <a:pt x="11206" y="351134"/>
                    <a:pt x="0" y="293719"/>
                  </a:cubicBezTo>
                  <a:cubicBezTo>
                    <a:pt x="0" y="285421"/>
                    <a:pt x="0" y="277104"/>
                    <a:pt x="0" y="268840"/>
                  </a:cubicBezTo>
                  <a:cubicBezTo>
                    <a:pt x="12369" y="211947"/>
                    <a:pt x="51292" y="176210"/>
                    <a:pt x="116099" y="161061"/>
                  </a:cubicBezTo>
                  <a:cubicBezTo>
                    <a:pt x="112205" y="65086"/>
                    <a:pt x="241837" y="5115"/>
                    <a:pt x="348333" y="47397"/>
                  </a:cubicBezTo>
                  <a:cubicBezTo>
                    <a:pt x="373689" y="26489"/>
                    <a:pt x="409562" y="3684"/>
                    <a:pt x="461490" y="0"/>
                  </a:cubicBezTo>
                  <a:close/>
                </a:path>
              </a:pathLst>
            </a:custGeom>
            <a:solidFill>
              <a:srgbClr val="FF999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00" y="52567"/>
              <a:ext cx="736600" cy="413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Convertidor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de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226934" y="3797076"/>
            <a:ext cx="574832" cy="1606320"/>
            <a:chOff x="0" y="0"/>
            <a:chExt cx="543802" cy="15196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3802" cy="1519608"/>
            </a:xfrm>
            <a:custGeom>
              <a:avLst/>
              <a:gdLst/>
              <a:ahLst/>
              <a:cxnLst/>
              <a:rect l="l" t="t" r="r" b="b"/>
              <a:pathLst>
                <a:path w="543802" h="1519608">
                  <a:moveTo>
                    <a:pt x="0" y="1246558"/>
                  </a:moveTo>
                  <a:lnTo>
                    <a:pt x="271901" y="1519608"/>
                  </a:lnTo>
                  <a:lnTo>
                    <a:pt x="543802" y="1246558"/>
                  </a:lnTo>
                  <a:lnTo>
                    <a:pt x="410452" y="1246558"/>
                  </a:lnTo>
                  <a:lnTo>
                    <a:pt x="410452" y="273050"/>
                  </a:lnTo>
                  <a:lnTo>
                    <a:pt x="543802" y="273050"/>
                  </a:lnTo>
                  <a:lnTo>
                    <a:pt x="271901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1246558"/>
                  </a:lnTo>
                  <a:lnTo>
                    <a:pt x="0" y="1246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9700" y="63500"/>
              <a:ext cx="264402" cy="1354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533197" y="8847834"/>
            <a:ext cx="2034996" cy="821071"/>
            <a:chOff x="0" y="0"/>
            <a:chExt cx="618899" cy="24971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8899" cy="249711"/>
            </a:xfrm>
            <a:custGeom>
              <a:avLst/>
              <a:gdLst/>
              <a:ahLst/>
              <a:cxnLst/>
              <a:rect l="l" t="t" r="r" b="b"/>
              <a:pathLst>
                <a:path w="618899" h="249711">
                  <a:moveTo>
                    <a:pt x="415699" y="0"/>
                  </a:moveTo>
                  <a:cubicBezTo>
                    <a:pt x="527923" y="0"/>
                    <a:pt x="618899" y="55900"/>
                    <a:pt x="618899" y="124855"/>
                  </a:cubicBezTo>
                  <a:cubicBezTo>
                    <a:pt x="618899" y="193811"/>
                    <a:pt x="527923" y="249711"/>
                    <a:pt x="415699" y="249711"/>
                  </a:cubicBezTo>
                  <a:lnTo>
                    <a:pt x="203200" y="249711"/>
                  </a:lnTo>
                  <a:cubicBezTo>
                    <a:pt x="90976" y="249711"/>
                    <a:pt x="0" y="193811"/>
                    <a:pt x="0" y="124855"/>
                  </a:cubicBezTo>
                  <a:cubicBezTo>
                    <a:pt x="0" y="559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18899" cy="287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de salida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226934" y="7038391"/>
            <a:ext cx="647521" cy="1809442"/>
            <a:chOff x="0" y="0"/>
            <a:chExt cx="543802" cy="15196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3802" cy="1519608"/>
            </a:xfrm>
            <a:custGeom>
              <a:avLst/>
              <a:gdLst/>
              <a:ahLst/>
              <a:cxnLst/>
              <a:rect l="l" t="t" r="r" b="b"/>
              <a:pathLst>
                <a:path w="543802" h="1519608">
                  <a:moveTo>
                    <a:pt x="0" y="1246558"/>
                  </a:moveTo>
                  <a:lnTo>
                    <a:pt x="271901" y="1519608"/>
                  </a:lnTo>
                  <a:lnTo>
                    <a:pt x="543802" y="1246558"/>
                  </a:lnTo>
                  <a:lnTo>
                    <a:pt x="410452" y="1246558"/>
                  </a:lnTo>
                  <a:lnTo>
                    <a:pt x="410452" y="273050"/>
                  </a:lnTo>
                  <a:lnTo>
                    <a:pt x="543802" y="273050"/>
                  </a:lnTo>
                  <a:lnTo>
                    <a:pt x="271901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1246558"/>
                  </a:lnTo>
                  <a:lnTo>
                    <a:pt x="0" y="1246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9700" y="63500"/>
              <a:ext cx="264402" cy="1354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82966" y="6647030"/>
            <a:ext cx="2034996" cy="782721"/>
            <a:chOff x="0" y="0"/>
            <a:chExt cx="618899" cy="2380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18899" cy="238047"/>
            </a:xfrm>
            <a:custGeom>
              <a:avLst/>
              <a:gdLst/>
              <a:ahLst/>
              <a:cxnLst/>
              <a:rect l="l" t="t" r="r" b="b"/>
              <a:pathLst>
                <a:path w="618899" h="238047">
                  <a:moveTo>
                    <a:pt x="415699" y="0"/>
                  </a:moveTo>
                  <a:cubicBezTo>
                    <a:pt x="527923" y="0"/>
                    <a:pt x="618899" y="53289"/>
                    <a:pt x="618899" y="119024"/>
                  </a:cubicBezTo>
                  <a:cubicBezTo>
                    <a:pt x="618899" y="184759"/>
                    <a:pt x="527923" y="238047"/>
                    <a:pt x="415699" y="238047"/>
                  </a:cubicBezTo>
                  <a:lnTo>
                    <a:pt x="203200" y="238047"/>
                  </a:lnTo>
                  <a:cubicBezTo>
                    <a:pt x="90976" y="238047"/>
                    <a:pt x="0" y="184759"/>
                    <a:pt x="0" y="119024"/>
                  </a:cubicBezTo>
                  <a:cubicBezTo>
                    <a:pt x="0" y="5328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18899" cy="276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Driver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 rot="-1601812">
            <a:off x="13800492" y="6235747"/>
            <a:ext cx="1657922" cy="726300"/>
            <a:chOff x="0" y="0"/>
            <a:chExt cx="1281900" cy="5615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1900" cy="561573"/>
            </a:xfrm>
            <a:custGeom>
              <a:avLst/>
              <a:gdLst/>
              <a:ahLst/>
              <a:cxnLst/>
              <a:rect l="l" t="t" r="r" b="b"/>
              <a:pathLst>
                <a:path w="1281900" h="561573">
                  <a:moveTo>
                    <a:pt x="1281900" y="280786"/>
                  </a:moveTo>
                  <a:lnTo>
                    <a:pt x="875500" y="0"/>
                  </a:lnTo>
                  <a:lnTo>
                    <a:pt x="875500" y="203200"/>
                  </a:lnTo>
                  <a:lnTo>
                    <a:pt x="0" y="203200"/>
                  </a:lnTo>
                  <a:lnTo>
                    <a:pt x="0" y="358373"/>
                  </a:lnTo>
                  <a:lnTo>
                    <a:pt x="875500" y="358373"/>
                  </a:lnTo>
                  <a:lnTo>
                    <a:pt x="875500" y="561573"/>
                  </a:lnTo>
                  <a:lnTo>
                    <a:pt x="1281900" y="2807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165100"/>
              <a:ext cx="1180300" cy="193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22172" y="630302"/>
            <a:ext cx="11560793" cy="113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3724" b="1" spc="107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ESQUEMA DE SOLUCIÓN A PROBLEMÁTICA</a:t>
            </a:r>
          </a:p>
        </p:txBody>
      </p:sp>
      <p:grpSp>
        <p:nvGrpSpPr>
          <p:cNvPr id="31" name="Group 31"/>
          <p:cNvGrpSpPr/>
          <p:nvPr/>
        </p:nvGrpSpPr>
        <p:grpSpPr>
          <a:xfrm rot="1719360">
            <a:off x="10717306" y="6294001"/>
            <a:ext cx="1345828" cy="741373"/>
            <a:chOff x="0" y="0"/>
            <a:chExt cx="1104923" cy="60866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04923" cy="608667"/>
            </a:xfrm>
            <a:custGeom>
              <a:avLst/>
              <a:gdLst/>
              <a:ahLst/>
              <a:cxnLst/>
              <a:rect l="l" t="t" r="r" b="b"/>
              <a:pathLst>
                <a:path w="1104923" h="608667">
                  <a:moveTo>
                    <a:pt x="1104923" y="304333"/>
                  </a:moveTo>
                  <a:lnTo>
                    <a:pt x="698523" y="0"/>
                  </a:lnTo>
                  <a:lnTo>
                    <a:pt x="698523" y="203200"/>
                  </a:lnTo>
                  <a:lnTo>
                    <a:pt x="0" y="203200"/>
                  </a:lnTo>
                  <a:lnTo>
                    <a:pt x="0" y="405467"/>
                  </a:lnTo>
                  <a:lnTo>
                    <a:pt x="698523" y="405467"/>
                  </a:lnTo>
                  <a:lnTo>
                    <a:pt x="698523" y="608667"/>
                  </a:lnTo>
                  <a:lnTo>
                    <a:pt x="1104923" y="304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165100"/>
              <a:ext cx="1003323" cy="240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-4379394">
            <a:off x="8702401" y="6667704"/>
            <a:ext cx="1345828" cy="741373"/>
            <a:chOff x="0" y="0"/>
            <a:chExt cx="1104923" cy="60866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04923" cy="608667"/>
            </a:xfrm>
            <a:custGeom>
              <a:avLst/>
              <a:gdLst/>
              <a:ahLst/>
              <a:cxnLst/>
              <a:rect l="l" t="t" r="r" b="b"/>
              <a:pathLst>
                <a:path w="1104923" h="608667">
                  <a:moveTo>
                    <a:pt x="1104923" y="304333"/>
                  </a:moveTo>
                  <a:lnTo>
                    <a:pt x="698523" y="0"/>
                  </a:lnTo>
                  <a:lnTo>
                    <a:pt x="698523" y="203200"/>
                  </a:lnTo>
                  <a:lnTo>
                    <a:pt x="0" y="203200"/>
                  </a:lnTo>
                  <a:lnTo>
                    <a:pt x="0" y="405467"/>
                  </a:lnTo>
                  <a:lnTo>
                    <a:pt x="698523" y="405467"/>
                  </a:lnTo>
                  <a:lnTo>
                    <a:pt x="698523" y="608667"/>
                  </a:lnTo>
                  <a:lnTo>
                    <a:pt x="1104923" y="304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65100"/>
              <a:ext cx="1003323" cy="240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02413" y="7551752"/>
            <a:ext cx="2283173" cy="782721"/>
            <a:chOff x="0" y="0"/>
            <a:chExt cx="694377" cy="23804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94377" cy="238047"/>
            </a:xfrm>
            <a:custGeom>
              <a:avLst/>
              <a:gdLst/>
              <a:ahLst/>
              <a:cxnLst/>
              <a:rect l="l" t="t" r="r" b="b"/>
              <a:pathLst>
                <a:path w="694377" h="238047">
                  <a:moveTo>
                    <a:pt x="491177" y="0"/>
                  </a:moveTo>
                  <a:cubicBezTo>
                    <a:pt x="603401" y="0"/>
                    <a:pt x="694377" y="53289"/>
                    <a:pt x="694377" y="119024"/>
                  </a:cubicBezTo>
                  <a:cubicBezTo>
                    <a:pt x="694377" y="184759"/>
                    <a:pt x="603401" y="238047"/>
                    <a:pt x="491177" y="238047"/>
                  </a:cubicBezTo>
                  <a:lnTo>
                    <a:pt x="203200" y="238047"/>
                  </a:lnTo>
                  <a:cubicBezTo>
                    <a:pt x="90976" y="238047"/>
                    <a:pt x="0" y="184759"/>
                    <a:pt x="0" y="119024"/>
                  </a:cubicBezTo>
                  <a:cubicBezTo>
                    <a:pt x="0" y="5328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694377" cy="276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Interfaz Grafica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823991" y="5065850"/>
            <a:ext cx="2498092" cy="1533047"/>
            <a:chOff x="0" y="0"/>
            <a:chExt cx="812800" cy="49880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498847"/>
            </a:xfrm>
            <a:custGeom>
              <a:avLst/>
              <a:gdLst/>
              <a:ahLst/>
              <a:cxnLst/>
              <a:rect l="l" t="t" r="r" b="b"/>
              <a:pathLst>
                <a:path w="812800" h="498847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331"/>
                    <a:pt x="603543" y="36063"/>
                    <a:pt x="623736" y="81441"/>
                  </a:cubicBezTo>
                  <a:cubicBezTo>
                    <a:pt x="742003" y="75390"/>
                    <a:pt x="827989" y="161194"/>
                    <a:pt x="775586" y="245406"/>
                  </a:cubicBezTo>
                  <a:cubicBezTo>
                    <a:pt x="793012" y="263102"/>
                    <a:pt x="807550" y="282896"/>
                    <a:pt x="812800" y="309463"/>
                  </a:cubicBezTo>
                  <a:cubicBezTo>
                    <a:pt x="812800" y="317074"/>
                    <a:pt x="812800" y="324666"/>
                    <a:pt x="812800" y="332275"/>
                  </a:cubicBezTo>
                  <a:cubicBezTo>
                    <a:pt x="797154" y="399892"/>
                    <a:pt x="729827" y="445583"/>
                    <a:pt x="619295" y="433282"/>
                  </a:cubicBezTo>
                  <a:cubicBezTo>
                    <a:pt x="590856" y="468000"/>
                    <a:pt x="540252" y="503043"/>
                    <a:pt x="461507" y="498438"/>
                  </a:cubicBezTo>
                  <a:cubicBezTo>
                    <a:pt x="420804" y="496159"/>
                    <a:pt x="392488" y="482957"/>
                    <a:pt x="367697" y="466918"/>
                  </a:cubicBezTo>
                  <a:cubicBezTo>
                    <a:pt x="341584" y="480251"/>
                    <a:pt x="313304" y="490714"/>
                    <a:pt x="272443" y="490829"/>
                  </a:cubicBezTo>
                  <a:cubicBezTo>
                    <a:pt x="177910" y="491026"/>
                    <a:pt x="114672" y="439662"/>
                    <a:pt x="113139" y="369208"/>
                  </a:cubicBezTo>
                  <a:cubicBezTo>
                    <a:pt x="52367" y="352726"/>
                    <a:pt x="11206" y="321961"/>
                    <a:pt x="0" y="269317"/>
                  </a:cubicBezTo>
                  <a:cubicBezTo>
                    <a:pt x="0" y="261708"/>
                    <a:pt x="0" y="254082"/>
                    <a:pt x="0" y="246505"/>
                  </a:cubicBezTo>
                  <a:cubicBezTo>
                    <a:pt x="12369" y="194338"/>
                    <a:pt x="51292" y="161570"/>
                    <a:pt x="116099" y="147680"/>
                  </a:cubicBezTo>
                  <a:cubicBezTo>
                    <a:pt x="112205" y="59679"/>
                    <a:pt x="241837" y="4690"/>
                    <a:pt x="348333" y="43459"/>
                  </a:cubicBezTo>
                  <a:cubicBezTo>
                    <a:pt x="373689" y="24288"/>
                    <a:pt x="409562" y="3378"/>
                    <a:pt x="461490" y="0"/>
                  </a:cubicBezTo>
                  <a:close/>
                </a:path>
              </a:pathLst>
            </a:custGeom>
            <a:solidFill>
              <a:srgbClr val="FF999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100" y="45034"/>
              <a:ext cx="736600" cy="382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Microcontrolador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73760"/>
            <a:ext cx="18582933" cy="7958328"/>
            <a:chOff x="0" y="0"/>
            <a:chExt cx="4894271" cy="2096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94271" cy="2096021"/>
            </a:xfrm>
            <a:custGeom>
              <a:avLst/>
              <a:gdLst/>
              <a:ahLst/>
              <a:cxnLst/>
              <a:rect l="l" t="t" r="r" b="b"/>
              <a:pathLst>
                <a:path w="4894271" h="209602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65795" y="2823467"/>
            <a:ext cx="6135759" cy="1645330"/>
            <a:chOff x="0" y="0"/>
            <a:chExt cx="1616002" cy="4333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6002" cy="433338"/>
            </a:xfrm>
            <a:custGeom>
              <a:avLst/>
              <a:gdLst/>
              <a:ahLst/>
              <a:cxnLst/>
              <a:rect l="l" t="t" r="r" b="b"/>
              <a:pathLst>
                <a:path w="1616002" h="433338">
                  <a:moveTo>
                    <a:pt x="0" y="0"/>
                  </a:moveTo>
                  <a:lnTo>
                    <a:pt x="1616002" y="0"/>
                  </a:lnTo>
                  <a:lnTo>
                    <a:pt x="1616002" y="433338"/>
                  </a:lnTo>
                  <a:lnTo>
                    <a:pt x="0" y="433338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16002" cy="490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Convertidor DC/DC </a:t>
              </a:r>
            </a:p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Buck Bidireccional</a:t>
              </a:r>
            </a:p>
            <a:p>
              <a:pPr algn="ctr">
                <a:lnSpc>
                  <a:spcPts val="2659"/>
                </a:lnSpc>
              </a:pPr>
              <a:endParaRPr lang="en-US" sz="3099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1852262" y="3646132"/>
            <a:ext cx="3575789" cy="6356958"/>
          </a:xfrm>
          <a:custGeom>
            <a:avLst/>
            <a:gdLst/>
            <a:ahLst/>
            <a:cxnLst/>
            <a:rect l="l" t="t" r="r" b="b"/>
            <a:pathLst>
              <a:path w="3575789" h="6356958">
                <a:moveTo>
                  <a:pt x="0" y="0"/>
                </a:moveTo>
                <a:lnTo>
                  <a:pt x="3575789" y="0"/>
                </a:lnTo>
                <a:lnTo>
                  <a:pt x="357578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205029" y="4661941"/>
            <a:ext cx="7121532" cy="5341149"/>
          </a:xfrm>
          <a:custGeom>
            <a:avLst/>
            <a:gdLst/>
            <a:ahLst/>
            <a:cxnLst/>
            <a:rect l="l" t="t" r="r" b="b"/>
            <a:pathLst>
              <a:path w="7121532" h="5341149">
                <a:moveTo>
                  <a:pt x="0" y="0"/>
                </a:moveTo>
                <a:lnTo>
                  <a:pt x="7121532" y="0"/>
                </a:lnTo>
                <a:lnTo>
                  <a:pt x="7121532" y="5341149"/>
                </a:lnTo>
                <a:lnTo>
                  <a:pt x="0" y="5341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265650" y="1198148"/>
            <a:ext cx="10355863" cy="604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sz="4001" b="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770937"/>
            <a:ext cx="4926076" cy="1543050"/>
            <a:chOff x="0" y="0"/>
            <a:chExt cx="129740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7403" cy="406400"/>
            </a:xfrm>
            <a:custGeom>
              <a:avLst/>
              <a:gdLst/>
              <a:ahLst/>
              <a:cxnLst/>
              <a:rect l="l" t="t" r="r" b="b"/>
              <a:pathLst>
                <a:path w="1297403" h="406400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400" b="1" spc="33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NIVEL 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80962" y="2770937"/>
            <a:ext cx="4926076" cy="1543050"/>
            <a:chOff x="0" y="0"/>
            <a:chExt cx="1297403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7403" cy="406400"/>
            </a:xfrm>
            <a:custGeom>
              <a:avLst/>
              <a:gdLst/>
              <a:ahLst/>
              <a:cxnLst/>
              <a:rect l="l" t="t" r="r" b="b"/>
              <a:pathLst>
                <a:path w="1297403" h="406400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400" b="1" spc="33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NIVEL 2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33224" y="2770937"/>
            <a:ext cx="4926076" cy="1543050"/>
            <a:chOff x="0" y="0"/>
            <a:chExt cx="1297403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7403" cy="406400"/>
            </a:xfrm>
            <a:custGeom>
              <a:avLst/>
              <a:gdLst/>
              <a:ahLst/>
              <a:cxnLst/>
              <a:rect l="l" t="t" r="r" b="b"/>
              <a:pathLst>
                <a:path w="1297403" h="406400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400" b="1" spc="33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NIVEL 3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47467" y="4797951"/>
            <a:ext cx="18582933" cy="5999092"/>
            <a:chOff x="0" y="0"/>
            <a:chExt cx="4894271" cy="15800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4271" cy="1580008"/>
            </a:xfrm>
            <a:custGeom>
              <a:avLst/>
              <a:gdLst/>
              <a:ahLst/>
              <a:cxnLst/>
              <a:rect l="l" t="t" r="r" b="b"/>
              <a:pathLst>
                <a:path w="4894271" h="1580008">
                  <a:moveTo>
                    <a:pt x="0" y="0"/>
                  </a:moveTo>
                  <a:lnTo>
                    <a:pt x="4894271" y="0"/>
                  </a:lnTo>
                  <a:lnTo>
                    <a:pt x="4894271" y="1580008"/>
                  </a:lnTo>
                  <a:lnTo>
                    <a:pt x="0" y="1580008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4894271" cy="1560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7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4364" y="4797951"/>
            <a:ext cx="5739272" cy="5489049"/>
            <a:chOff x="0" y="0"/>
            <a:chExt cx="1511578" cy="14456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1578" cy="1445676"/>
            </a:xfrm>
            <a:custGeom>
              <a:avLst/>
              <a:gdLst/>
              <a:ahLst/>
              <a:cxnLst/>
              <a:rect l="l" t="t" r="r" b="b"/>
              <a:pathLst>
                <a:path w="1511578" h="1445676">
                  <a:moveTo>
                    <a:pt x="0" y="0"/>
                  </a:moveTo>
                  <a:lnTo>
                    <a:pt x="1511578" y="0"/>
                  </a:lnTo>
                  <a:lnTo>
                    <a:pt x="1511578" y="1445676"/>
                  </a:lnTo>
                  <a:lnTo>
                    <a:pt x="0" y="1445676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11578" cy="148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668" y="5302471"/>
            <a:ext cx="5458140" cy="3955829"/>
            <a:chOff x="0" y="0"/>
            <a:chExt cx="7277521" cy="5274439"/>
          </a:xfrm>
        </p:grpSpPr>
        <p:sp>
          <p:nvSpPr>
            <p:cNvPr id="18" name="TextBox 18"/>
            <p:cNvSpPr txBox="1"/>
            <p:nvPr/>
          </p:nvSpPr>
          <p:spPr>
            <a:xfrm>
              <a:off x="0" y="9525"/>
              <a:ext cx="7277521" cy="1049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2"/>
                </a:lnSpc>
              </a:pPr>
              <a:r>
                <a:rPr lang="en-US" sz="2654" b="1" spc="3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PROTORIPO CONVERTIDOR DC/DC BUCK BIDIRECCIONAL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161479"/>
              <a:ext cx="7277521" cy="4112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29861" lvl="1" indent="-214931" algn="l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Estudio de topología</a:t>
              </a:r>
            </a:p>
            <a:p>
              <a:pPr marL="429861" lvl="1" indent="-214931" algn="l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Diseño de circuito y simulación</a:t>
              </a:r>
            </a:p>
            <a:p>
              <a:pPr marL="429861" lvl="1" indent="-214931" algn="l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Listado de componentes</a:t>
              </a:r>
            </a:p>
            <a:p>
              <a:pPr marL="429861" lvl="1" indent="-214931" algn="l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Seleccion y estudio de drivers</a:t>
              </a:r>
            </a:p>
            <a:p>
              <a:pPr marL="429861" lvl="1" indent="-214931" algn="l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Diseño del driver</a:t>
              </a:r>
            </a:p>
            <a:p>
              <a:pPr marL="429861" lvl="1" indent="-214931" algn="l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Diseño e implementación de PCB</a:t>
              </a:r>
            </a:p>
            <a:p>
              <a:pPr marL="429861" lvl="1" indent="-214931" algn="l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Prototipado y verificación</a:t>
              </a:r>
            </a:p>
            <a:p>
              <a:pPr marL="429861" lvl="1" indent="-214931" algn="l">
                <a:lnSpc>
                  <a:spcPts val="3105"/>
                </a:lnSpc>
                <a:buFont typeface="Arial"/>
                <a:buChar char="•"/>
              </a:pPr>
              <a:r>
                <a:rPr lang="en-US" sz="1991" spc="27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Resultados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80962" y="5302471"/>
            <a:ext cx="5306343" cy="4191467"/>
            <a:chOff x="0" y="0"/>
            <a:chExt cx="7075125" cy="5588622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9050"/>
              <a:ext cx="7075125" cy="1154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4"/>
                </a:lnSpc>
              </a:pPr>
              <a:r>
                <a:rPr lang="en-US" sz="3012" b="1" spc="42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GENERADOR DE PULSOS PWM UTILIZANDO PIC32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293850"/>
              <a:ext cx="7075125" cy="4294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0236" lvl="1" indent="-225118" algn="l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Estudio del microcontrolador</a:t>
              </a:r>
            </a:p>
            <a:p>
              <a:pPr marL="450236" lvl="1" indent="-225118" algn="l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Estudio del kit de desarrollo</a:t>
              </a:r>
            </a:p>
            <a:p>
              <a:pPr marL="450236" lvl="1" indent="-225118" algn="l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Familiarizacion con lenguaje de programación</a:t>
              </a:r>
            </a:p>
            <a:p>
              <a:pPr marL="450236" lvl="1" indent="-225118" algn="l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Programación de pulso PWM</a:t>
              </a:r>
            </a:p>
            <a:p>
              <a:pPr marL="450236" lvl="1" indent="-225118" algn="l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Implementación y verificación del código</a:t>
              </a:r>
            </a:p>
            <a:p>
              <a:pPr marL="450236" lvl="1" indent="-225118" algn="l">
                <a:lnSpc>
                  <a:spcPts val="3253"/>
                </a:lnSpc>
                <a:buFont typeface="Arial"/>
                <a:buChar char="•"/>
              </a:pPr>
              <a:r>
                <a:rPr lang="en-US" sz="2085" spc="2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Prototipado y verificación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13636" y="4797951"/>
            <a:ext cx="6274364" cy="5489049"/>
            <a:chOff x="0" y="0"/>
            <a:chExt cx="1652507" cy="14456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2507" cy="1445676"/>
            </a:xfrm>
            <a:custGeom>
              <a:avLst/>
              <a:gdLst/>
              <a:ahLst/>
              <a:cxnLst/>
              <a:rect l="l" t="t" r="r" b="b"/>
              <a:pathLst>
                <a:path w="1652507" h="1445676">
                  <a:moveTo>
                    <a:pt x="0" y="0"/>
                  </a:moveTo>
                  <a:lnTo>
                    <a:pt x="1652507" y="0"/>
                  </a:lnTo>
                  <a:lnTo>
                    <a:pt x="1652507" y="1445676"/>
                  </a:lnTo>
                  <a:lnTo>
                    <a:pt x="0" y="1445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652507" cy="148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582684" y="5302471"/>
            <a:ext cx="4676616" cy="4481750"/>
            <a:chOff x="0" y="0"/>
            <a:chExt cx="6235488" cy="5975667"/>
          </a:xfrm>
        </p:grpSpPr>
        <p:sp>
          <p:nvSpPr>
            <p:cNvPr id="27" name="TextBox 27"/>
            <p:cNvSpPr txBox="1"/>
            <p:nvPr/>
          </p:nvSpPr>
          <p:spPr>
            <a:xfrm>
              <a:off x="0" y="19050"/>
              <a:ext cx="6235488" cy="14712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1"/>
                </a:lnSpc>
              </a:pPr>
              <a:r>
                <a:rPr lang="en-US" sz="2514" spc="35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</a:t>
              </a:r>
              <a:r>
                <a:rPr lang="en-US" sz="2514" b="1" spc="3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NTERFAZ GRÁFICA JUNTO CON  MICROCONTROLADOR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593041"/>
              <a:ext cx="6235488" cy="4382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07165" lvl="1" indent="-203583" algn="l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Selección de plataforma para diseño de interfaz</a:t>
              </a:r>
            </a:p>
            <a:p>
              <a:pPr marL="407165" lvl="1" indent="-203583" algn="l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Programación interfaz gráfica</a:t>
              </a:r>
            </a:p>
            <a:p>
              <a:pPr marL="407165" lvl="1" indent="-203583" algn="l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Pruebas interfaz gráfica con microcontrolador</a:t>
              </a:r>
            </a:p>
            <a:p>
              <a:pPr marL="407165" lvl="1" indent="-203583" algn="l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Prueba con conexiones del microcontrolador y driver a circuito</a:t>
              </a:r>
            </a:p>
            <a:p>
              <a:pPr marL="407165" lvl="1" indent="-203583" algn="l">
                <a:lnSpc>
                  <a:spcPts val="2941"/>
                </a:lnSpc>
                <a:buFont typeface="Arial"/>
                <a:buChar char="•"/>
              </a:pPr>
              <a:r>
                <a:rPr lang="en-US" sz="1885" spc="26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Realizar pruebas y mediciones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28700" y="1522113"/>
            <a:ext cx="9229883" cy="54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b="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FASES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73760"/>
            <a:ext cx="18582933" cy="7958328"/>
            <a:chOff x="0" y="0"/>
            <a:chExt cx="4894271" cy="2096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94271" cy="2096021"/>
            </a:xfrm>
            <a:custGeom>
              <a:avLst/>
              <a:gdLst/>
              <a:ahLst/>
              <a:cxnLst/>
              <a:rect l="l" t="t" r="r" b="b"/>
              <a:pathLst>
                <a:path w="4894271" h="209602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822307" y="2473760"/>
            <a:ext cx="5212729" cy="4122999"/>
          </a:xfrm>
          <a:custGeom>
            <a:avLst/>
            <a:gdLst/>
            <a:ahLst/>
            <a:cxnLst/>
            <a:rect l="l" t="t" r="r" b="b"/>
            <a:pathLst>
              <a:path w="5212729" h="4122999">
                <a:moveTo>
                  <a:pt x="0" y="0"/>
                </a:moveTo>
                <a:lnTo>
                  <a:pt x="5212729" y="0"/>
                </a:lnTo>
                <a:lnTo>
                  <a:pt x="5212729" y="4122998"/>
                </a:lnTo>
                <a:lnTo>
                  <a:pt x="0" y="4122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7831951" y="6218654"/>
            <a:ext cx="5579125" cy="3717092"/>
          </a:xfrm>
          <a:custGeom>
            <a:avLst/>
            <a:gdLst/>
            <a:ahLst/>
            <a:cxnLst/>
            <a:rect l="l" t="t" r="r" b="b"/>
            <a:pathLst>
              <a:path w="5579125" h="3717092">
                <a:moveTo>
                  <a:pt x="0" y="0"/>
                </a:moveTo>
                <a:lnTo>
                  <a:pt x="5579125" y="0"/>
                </a:lnTo>
                <a:lnTo>
                  <a:pt x="5579125" y="3717092"/>
                </a:lnTo>
                <a:lnTo>
                  <a:pt x="0" y="3717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65650" y="1198148"/>
            <a:ext cx="10355863" cy="604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sz="4001" b="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INTERFAZ GRÁFICA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1939" y="3383510"/>
            <a:ext cx="6467215" cy="484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75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visual</a:t>
            </a: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en donde interactua el usuario con tal de controlar ciertos parametros de manera más intuitiva y sencilla.</a:t>
            </a:r>
          </a:p>
          <a:p>
            <a:pPr algn="l">
              <a:lnSpc>
                <a:spcPts val="3855"/>
              </a:lnSpc>
            </a:pPr>
            <a:endParaRPr lang="en-US" sz="2754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55"/>
              </a:lnSpc>
            </a:pPr>
            <a:r>
              <a:rPr lang="en-US" sz="275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Posee:</a:t>
            </a:r>
          </a:p>
          <a:p>
            <a:pPr marL="594606" lvl="1" indent="-297303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Botones</a:t>
            </a:r>
          </a:p>
          <a:p>
            <a:pPr marL="594606" lvl="1" indent="-297303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Menus</a:t>
            </a:r>
          </a:p>
          <a:p>
            <a:pPr marL="594606" lvl="1" indent="-297303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Gráficos</a:t>
            </a:r>
          </a:p>
          <a:p>
            <a:pPr marL="594606" lvl="1" indent="-297303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Ventanas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73760"/>
            <a:ext cx="18582933" cy="7958328"/>
            <a:chOff x="0" y="0"/>
            <a:chExt cx="4894271" cy="2096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94271" cy="2096021"/>
            </a:xfrm>
            <a:custGeom>
              <a:avLst/>
              <a:gdLst/>
              <a:ahLst/>
              <a:cxnLst/>
              <a:rect l="l" t="t" r="r" b="b"/>
              <a:pathLst>
                <a:path w="4894271" h="209602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93339" y="2998213"/>
            <a:ext cx="9182348" cy="5558381"/>
          </a:xfrm>
          <a:custGeom>
            <a:avLst/>
            <a:gdLst/>
            <a:ahLst/>
            <a:cxnLst/>
            <a:rect l="l" t="t" r="r" b="b"/>
            <a:pathLst>
              <a:path w="9182348" h="5558381">
                <a:moveTo>
                  <a:pt x="0" y="0"/>
                </a:moveTo>
                <a:lnTo>
                  <a:pt x="9182347" y="0"/>
                </a:lnTo>
                <a:lnTo>
                  <a:pt x="9182347" y="5558381"/>
                </a:lnTo>
                <a:lnTo>
                  <a:pt x="0" y="5558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265650" y="873942"/>
            <a:ext cx="10355863" cy="1214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sz="4001" b="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PROTOCOLOS DE COMUNICACION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5650" y="2789331"/>
            <a:ext cx="7892921" cy="733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Protocolo USB:</a:t>
            </a:r>
          </a:p>
          <a:p>
            <a:pPr marL="508540" lvl="1" indent="-254270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Utiliza una arquitectura Maestro-Esclavo (Host-Client) asimétrica.</a:t>
            </a:r>
          </a:p>
          <a:p>
            <a:pPr marL="508540" lvl="1" indent="-254270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USB 2.0 High-Speed 480Mbits/s</a:t>
            </a:r>
          </a:p>
          <a:p>
            <a:pPr marL="508540" lvl="1" indent="-254270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Emplea Señalización Diferencial a través de un par trenzado de cables (D+ y D-).</a:t>
            </a:r>
          </a:p>
          <a:p>
            <a:pPr marL="508540" lvl="1" indent="-254270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Transferencia “Bulk”</a:t>
            </a:r>
          </a:p>
          <a:p>
            <a:pPr algn="l">
              <a:lnSpc>
                <a:spcPts val="3297"/>
              </a:lnSpc>
            </a:pPr>
            <a:endParaRPr lang="en-US" sz="23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700"/>
              </a:lnSpc>
            </a:pPr>
            <a:r>
              <a:rPr lang="en-US" sz="264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Protocolo UART:</a:t>
            </a:r>
          </a:p>
          <a:p>
            <a:pPr marL="508540" lvl="1" indent="-254270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Comunicacion serial, punto-punto y Full-Duplex</a:t>
            </a:r>
          </a:p>
          <a:p>
            <a:pPr marL="508540" lvl="1" indent="-254270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sistema depende del Baud Rate para sincronizar datos.</a:t>
            </a:r>
          </a:p>
          <a:p>
            <a:pPr marL="508540" lvl="1" indent="-254270" algn="l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Comunicación Crossover</a:t>
            </a:r>
          </a:p>
          <a:p>
            <a:pPr algn="l">
              <a:lnSpc>
                <a:spcPts val="3700"/>
              </a:lnSpc>
            </a:pPr>
            <a:endParaRPr lang="en-US" sz="23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700"/>
              </a:lnSpc>
            </a:pPr>
            <a:endParaRPr lang="en-US" sz="23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700"/>
              </a:lnSpc>
            </a:pPr>
            <a:endParaRPr lang="en-US" sz="23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700"/>
              </a:lnSpc>
            </a:pPr>
            <a:endParaRPr lang="en-US" sz="23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" y="2473760"/>
            <a:ext cx="18582933" cy="7958328"/>
            <a:chOff x="0" y="0"/>
            <a:chExt cx="4894271" cy="2096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94271" cy="2096021"/>
            </a:xfrm>
            <a:custGeom>
              <a:avLst/>
              <a:gdLst/>
              <a:ahLst/>
              <a:cxnLst/>
              <a:rect l="l" t="t" r="r" b="b"/>
              <a:pathLst>
                <a:path w="4894271" h="209602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535714" y="2792164"/>
            <a:ext cx="6545328" cy="6793469"/>
          </a:xfrm>
          <a:custGeom>
            <a:avLst/>
            <a:gdLst/>
            <a:ahLst/>
            <a:cxnLst/>
            <a:rect l="l" t="t" r="r" b="b"/>
            <a:pathLst>
              <a:path w="6545328" h="6793469">
                <a:moveTo>
                  <a:pt x="0" y="0"/>
                </a:moveTo>
                <a:lnTo>
                  <a:pt x="6545327" y="0"/>
                </a:lnTo>
                <a:lnTo>
                  <a:pt x="6545327" y="6793470"/>
                </a:lnTo>
                <a:lnTo>
                  <a:pt x="0" y="6793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408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1081041" y="2792164"/>
            <a:ext cx="6819308" cy="6793469"/>
          </a:xfrm>
          <a:custGeom>
            <a:avLst/>
            <a:gdLst/>
            <a:ahLst/>
            <a:cxnLst/>
            <a:rect l="l" t="t" r="r" b="b"/>
            <a:pathLst>
              <a:path w="6819308" h="6793469">
                <a:moveTo>
                  <a:pt x="0" y="0"/>
                </a:moveTo>
                <a:lnTo>
                  <a:pt x="6819308" y="0"/>
                </a:lnTo>
                <a:lnTo>
                  <a:pt x="6819308" y="6793470"/>
                </a:lnTo>
                <a:lnTo>
                  <a:pt x="0" y="6793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20" r="-9574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65650" y="1254790"/>
            <a:ext cx="7209081" cy="54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b="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DESARROLLO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5650" y="2979965"/>
            <a:ext cx="6814144" cy="576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0"/>
              </a:lnSpc>
            </a:pPr>
            <a:r>
              <a:rPr lang="en-US" sz="2423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Sistema operativo:</a:t>
            </a:r>
          </a:p>
          <a:p>
            <a:pPr marL="523231" lvl="1" indent="-261616" algn="l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Linux 6.17.7-arch1-1</a:t>
            </a:r>
          </a:p>
          <a:p>
            <a:pPr marL="523231" lvl="1" indent="-261616" algn="l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Windows 11</a:t>
            </a:r>
          </a:p>
          <a:p>
            <a:pPr algn="l">
              <a:lnSpc>
                <a:spcPts val="4580"/>
              </a:lnSpc>
            </a:pPr>
            <a:r>
              <a:rPr lang="en-US" sz="2423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Editor de texto: </a:t>
            </a:r>
          </a:p>
          <a:p>
            <a:pPr marL="523231" lvl="1" indent="-261616" algn="l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nvim</a:t>
            </a:r>
          </a:p>
          <a:p>
            <a:pPr marL="523231" lvl="1" indent="-261616" algn="l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visual studio</a:t>
            </a:r>
          </a:p>
          <a:p>
            <a:pPr algn="l">
              <a:lnSpc>
                <a:spcPts val="4580"/>
              </a:lnSpc>
            </a:pPr>
            <a:r>
              <a:rPr lang="en-US" sz="2423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Lenguaje:</a:t>
            </a:r>
          </a:p>
          <a:p>
            <a:pPr marL="523231" lvl="1" indent="-261616" algn="l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Python 3.13.7</a:t>
            </a:r>
          </a:p>
          <a:p>
            <a:pPr algn="l">
              <a:lnSpc>
                <a:spcPts val="4580"/>
              </a:lnSpc>
            </a:pPr>
            <a:r>
              <a:rPr lang="en-US" sz="2423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Control de versiones:</a:t>
            </a:r>
          </a:p>
          <a:p>
            <a:pPr marL="523231" lvl="1" indent="-261616" algn="l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Git/Github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" y="2473760"/>
            <a:ext cx="18582933" cy="7958328"/>
            <a:chOff x="0" y="0"/>
            <a:chExt cx="4894271" cy="2096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94271" cy="2096021"/>
            </a:xfrm>
            <a:custGeom>
              <a:avLst/>
              <a:gdLst/>
              <a:ahLst/>
              <a:cxnLst/>
              <a:rect l="l" t="t" r="r" b="b"/>
              <a:pathLst>
                <a:path w="4894271" h="209602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763922" y="3427376"/>
            <a:ext cx="9688818" cy="4493189"/>
          </a:xfrm>
          <a:custGeom>
            <a:avLst/>
            <a:gdLst/>
            <a:ahLst/>
            <a:cxnLst/>
            <a:rect l="l" t="t" r="r" b="b"/>
            <a:pathLst>
              <a:path w="9688818" h="4493189">
                <a:moveTo>
                  <a:pt x="0" y="0"/>
                </a:moveTo>
                <a:lnTo>
                  <a:pt x="9688818" y="0"/>
                </a:lnTo>
                <a:lnTo>
                  <a:pt x="9688818" y="4493189"/>
                </a:lnTo>
                <a:lnTo>
                  <a:pt x="0" y="4493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265650" y="1254790"/>
            <a:ext cx="7209081" cy="54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b="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TKINTER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175" y="4442053"/>
            <a:ext cx="6814144" cy="284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0"/>
              </a:lnSpc>
            </a:pPr>
            <a:r>
              <a:rPr lang="en-US" sz="2423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TKINTER: </a:t>
            </a:r>
          </a:p>
          <a:p>
            <a:pPr marL="523231" lvl="1" indent="-261616" algn="l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Librería, python wrapper de Tcl/Tk</a:t>
            </a:r>
          </a:p>
          <a:p>
            <a:pPr algn="l">
              <a:lnSpc>
                <a:spcPts val="4580"/>
              </a:lnSpc>
            </a:pPr>
            <a:r>
              <a:rPr lang="en-US" sz="2423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TTK:</a:t>
            </a:r>
          </a:p>
          <a:p>
            <a:pPr marL="523231" lvl="1" indent="-261616" algn="l">
              <a:lnSpc>
                <a:spcPts val="4580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Submódulo de la librería tkinter, con temas más modernos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03598" y="4962842"/>
            <a:ext cx="9985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8466" y="2688471"/>
            <a:ext cx="7600950" cy="7602375"/>
            <a:chOff x="0" y="0"/>
            <a:chExt cx="2001896" cy="2002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1896" cy="2002272"/>
            </a:xfrm>
            <a:custGeom>
              <a:avLst/>
              <a:gdLst/>
              <a:ahLst/>
              <a:cxnLst/>
              <a:rect l="l" t="t" r="r" b="b"/>
              <a:pathLst>
                <a:path w="2001896" h="2002272">
                  <a:moveTo>
                    <a:pt x="0" y="0"/>
                  </a:moveTo>
                  <a:lnTo>
                    <a:pt x="2001896" y="0"/>
                  </a:lnTo>
                  <a:lnTo>
                    <a:pt x="2001896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01896" cy="2040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12009" y="1955163"/>
            <a:ext cx="11301259" cy="1949467"/>
          </a:xfrm>
          <a:custGeom>
            <a:avLst/>
            <a:gdLst/>
            <a:ahLst/>
            <a:cxnLst/>
            <a:rect l="l" t="t" r="r" b="b"/>
            <a:pathLst>
              <a:path w="11301259" h="1949467">
                <a:moveTo>
                  <a:pt x="0" y="0"/>
                </a:moveTo>
                <a:lnTo>
                  <a:pt x="11301259" y="0"/>
                </a:lnTo>
                <a:lnTo>
                  <a:pt x="11301259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5020365" y="7861737"/>
            <a:ext cx="5768279" cy="2255978"/>
          </a:xfrm>
          <a:custGeom>
            <a:avLst/>
            <a:gdLst/>
            <a:ahLst/>
            <a:cxnLst/>
            <a:rect l="l" t="t" r="r" b="b"/>
            <a:pathLst>
              <a:path w="5768279" h="2255978">
                <a:moveTo>
                  <a:pt x="0" y="0"/>
                </a:moveTo>
                <a:lnTo>
                  <a:pt x="5768279" y="0"/>
                </a:lnTo>
                <a:lnTo>
                  <a:pt x="5768279" y="2255978"/>
                </a:lnTo>
                <a:lnTo>
                  <a:pt x="0" y="2255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5020365" y="4921418"/>
            <a:ext cx="11301259" cy="1695189"/>
          </a:xfrm>
          <a:custGeom>
            <a:avLst/>
            <a:gdLst/>
            <a:ahLst/>
            <a:cxnLst/>
            <a:rect l="l" t="t" r="r" b="b"/>
            <a:pathLst>
              <a:path w="11301259" h="1695189">
                <a:moveTo>
                  <a:pt x="0" y="0"/>
                </a:moveTo>
                <a:lnTo>
                  <a:pt x="11301259" y="0"/>
                </a:lnTo>
                <a:lnTo>
                  <a:pt x="11301259" y="1695189"/>
                </a:lnTo>
                <a:lnTo>
                  <a:pt x="0" y="169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1482891" y="6305544"/>
            <a:ext cx="5776409" cy="989330"/>
          </a:xfrm>
          <a:custGeom>
            <a:avLst/>
            <a:gdLst/>
            <a:ahLst/>
            <a:cxnLst/>
            <a:rect l="l" t="t" r="r" b="b"/>
            <a:pathLst>
              <a:path w="5776409" h="989330">
                <a:moveTo>
                  <a:pt x="0" y="0"/>
                </a:moveTo>
                <a:lnTo>
                  <a:pt x="5776409" y="0"/>
                </a:lnTo>
                <a:lnTo>
                  <a:pt x="5776409" y="989329"/>
                </a:lnTo>
                <a:lnTo>
                  <a:pt x="0" y="9893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1217629" y="7861737"/>
            <a:ext cx="3162992" cy="2131581"/>
          </a:xfrm>
          <a:custGeom>
            <a:avLst/>
            <a:gdLst/>
            <a:ahLst/>
            <a:cxnLst/>
            <a:rect l="l" t="t" r="r" b="b"/>
            <a:pathLst>
              <a:path w="3162992" h="2131581">
                <a:moveTo>
                  <a:pt x="0" y="0"/>
                </a:moveTo>
                <a:lnTo>
                  <a:pt x="3162992" y="0"/>
                </a:lnTo>
                <a:lnTo>
                  <a:pt x="3162992" y="2131582"/>
                </a:lnTo>
                <a:lnTo>
                  <a:pt x="0" y="21315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2952372" y="386151"/>
            <a:ext cx="4604641" cy="2302321"/>
          </a:xfrm>
          <a:custGeom>
            <a:avLst/>
            <a:gdLst/>
            <a:ahLst/>
            <a:cxnLst/>
            <a:rect l="l" t="t" r="r" b="b"/>
            <a:pathLst>
              <a:path w="4604641" h="2302321">
                <a:moveTo>
                  <a:pt x="0" y="0"/>
                </a:moveTo>
                <a:lnTo>
                  <a:pt x="4604642" y="0"/>
                </a:lnTo>
                <a:lnTo>
                  <a:pt x="4604642" y="2302320"/>
                </a:lnTo>
                <a:lnTo>
                  <a:pt x="0" y="23023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322172" y="1955163"/>
            <a:ext cx="11179767" cy="55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b="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OBJETOS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338" y="3315248"/>
            <a:ext cx="6368030" cy="520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7"/>
              </a:lnSpc>
            </a:pPr>
            <a:r>
              <a:rPr lang="en-US" sz="2189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Frames:</a:t>
            </a:r>
          </a:p>
          <a:p>
            <a:pPr marL="472690" lvl="1" indent="-236345" algn="l">
              <a:lnSpc>
                <a:spcPts val="4137"/>
              </a:lnSpc>
              <a:buFont typeface="Arial"/>
              <a:buChar char="•"/>
            </a:pPr>
            <a:r>
              <a:rPr lang="en-US" sz="21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Los frames “sujetan” objetos dentro</a:t>
            </a:r>
          </a:p>
          <a:p>
            <a:pPr algn="l">
              <a:lnSpc>
                <a:spcPts val="4137"/>
              </a:lnSpc>
            </a:pPr>
            <a:endParaRPr lang="en-US" sz="2189">
              <a:solidFill>
                <a:srgbClr val="FFFFFF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4137"/>
              </a:lnSpc>
            </a:pPr>
            <a:r>
              <a:rPr lang="en-US" sz="2189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Botones</a:t>
            </a:r>
          </a:p>
          <a:p>
            <a:pPr marL="472690" lvl="1" indent="-236345" algn="l">
              <a:lnSpc>
                <a:spcPts val="4137"/>
              </a:lnSpc>
              <a:buFont typeface="Arial"/>
              <a:buChar char="•"/>
            </a:pPr>
            <a:r>
              <a:rPr lang="en-US" sz="21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los botones llaman comandos</a:t>
            </a:r>
          </a:p>
          <a:p>
            <a:pPr algn="l">
              <a:lnSpc>
                <a:spcPts val="4137"/>
              </a:lnSpc>
            </a:pPr>
            <a:r>
              <a:rPr lang="en-US" sz="21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al ser presionados</a:t>
            </a:r>
          </a:p>
          <a:p>
            <a:pPr algn="l">
              <a:lnSpc>
                <a:spcPts val="4137"/>
              </a:lnSpc>
            </a:pPr>
            <a:endParaRPr lang="en-US" sz="2189">
              <a:solidFill>
                <a:srgbClr val="FFFFFF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4137"/>
              </a:lnSpc>
            </a:pPr>
            <a:r>
              <a:rPr lang="en-US" sz="2189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ComboBox</a:t>
            </a:r>
          </a:p>
          <a:p>
            <a:pPr marL="472690" lvl="1" indent="-236345" algn="l">
              <a:lnSpc>
                <a:spcPts val="4137"/>
              </a:lnSpc>
              <a:buFont typeface="Arial"/>
              <a:buChar char="•"/>
            </a:pPr>
            <a:r>
              <a:rPr lang="en-US" sz="218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Permiten esoger opciones</a:t>
            </a:r>
          </a:p>
          <a:p>
            <a:pPr algn="l">
              <a:lnSpc>
                <a:spcPts val="4137"/>
              </a:lnSpc>
            </a:pPr>
            <a:endParaRPr lang="en-US" sz="2189">
              <a:solidFill>
                <a:srgbClr val="FFFFFF"/>
              </a:solidFill>
              <a:latin typeface="Now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" y="2473760"/>
            <a:ext cx="18582933" cy="7958328"/>
            <a:chOff x="0" y="0"/>
            <a:chExt cx="4894271" cy="2096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94271" cy="2096021"/>
            </a:xfrm>
            <a:custGeom>
              <a:avLst/>
              <a:gdLst/>
              <a:ahLst/>
              <a:cxnLst/>
              <a:rect l="l" t="t" r="r" b="b"/>
              <a:pathLst>
                <a:path w="4894271" h="209602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650153" y="6310021"/>
            <a:ext cx="8542994" cy="3303679"/>
          </a:xfrm>
          <a:custGeom>
            <a:avLst/>
            <a:gdLst/>
            <a:ahLst/>
            <a:cxnLst/>
            <a:rect l="l" t="t" r="r" b="b"/>
            <a:pathLst>
              <a:path w="8542994" h="3303679">
                <a:moveTo>
                  <a:pt x="0" y="0"/>
                </a:moveTo>
                <a:lnTo>
                  <a:pt x="8542993" y="0"/>
                </a:lnTo>
                <a:lnTo>
                  <a:pt x="8542993" y="3303679"/>
                </a:lnTo>
                <a:lnTo>
                  <a:pt x="0" y="3303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8417557" y="2473760"/>
            <a:ext cx="8841743" cy="3405833"/>
          </a:xfrm>
          <a:custGeom>
            <a:avLst/>
            <a:gdLst/>
            <a:ahLst/>
            <a:cxnLst/>
            <a:rect l="l" t="t" r="r" b="b"/>
            <a:pathLst>
              <a:path w="8841743" h="3405833">
                <a:moveTo>
                  <a:pt x="0" y="0"/>
                </a:moveTo>
                <a:lnTo>
                  <a:pt x="8841743" y="0"/>
                </a:lnTo>
                <a:lnTo>
                  <a:pt x="8841743" y="3405832"/>
                </a:lnTo>
                <a:lnTo>
                  <a:pt x="0" y="3405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265650" y="6653235"/>
            <a:ext cx="5943890" cy="3633765"/>
          </a:xfrm>
          <a:custGeom>
            <a:avLst/>
            <a:gdLst/>
            <a:ahLst/>
            <a:cxnLst/>
            <a:rect l="l" t="t" r="r" b="b"/>
            <a:pathLst>
              <a:path w="5943890" h="3633765">
                <a:moveTo>
                  <a:pt x="0" y="0"/>
                </a:moveTo>
                <a:lnTo>
                  <a:pt x="5943890" y="0"/>
                </a:lnTo>
                <a:lnTo>
                  <a:pt x="5943890" y="3633765"/>
                </a:lnTo>
                <a:lnTo>
                  <a:pt x="0" y="3633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265650" y="1254790"/>
            <a:ext cx="7209081" cy="54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b="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CONEXIONES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650" y="2532935"/>
            <a:ext cx="6659972" cy="391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2368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Función send2controller:</a:t>
            </a:r>
          </a:p>
          <a:p>
            <a:pPr marL="511393" lvl="1" indent="-255697" algn="l">
              <a:lnSpc>
                <a:spcPts val="4476"/>
              </a:lnSpc>
              <a:buFont typeface="Arial"/>
              <a:buChar char="•"/>
            </a:pPr>
            <a:r>
              <a:rPr lang="en-US" sz="236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Envío de información de frecuencia y ciclo de trabajo hacia el PIC32</a:t>
            </a:r>
          </a:p>
          <a:p>
            <a:pPr algn="l">
              <a:lnSpc>
                <a:spcPts val="4476"/>
              </a:lnSpc>
            </a:pPr>
            <a:r>
              <a:rPr lang="en-US" sz="2368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Función Connect y Disconnect:</a:t>
            </a:r>
          </a:p>
          <a:p>
            <a:pPr marL="511393" lvl="1" indent="-255697" algn="l">
              <a:lnSpc>
                <a:spcPts val="4476"/>
              </a:lnSpc>
              <a:buFont typeface="Arial"/>
              <a:buChar char="•"/>
            </a:pPr>
            <a:r>
              <a:rPr lang="en-US" sz="236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 configuran los puertos, junto con la velocidad de transmision de datos y la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159" y="2829712"/>
            <a:ext cx="6333233" cy="7602375"/>
            <a:chOff x="0" y="0"/>
            <a:chExt cx="1668012" cy="2002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8012" cy="2002272"/>
            </a:xfrm>
            <a:custGeom>
              <a:avLst/>
              <a:gdLst/>
              <a:ahLst/>
              <a:cxnLst/>
              <a:rect l="l" t="t" r="r" b="b"/>
              <a:pathLst>
                <a:path w="1668012" h="2002272">
                  <a:moveTo>
                    <a:pt x="0" y="0"/>
                  </a:moveTo>
                  <a:lnTo>
                    <a:pt x="1668012" y="0"/>
                  </a:lnTo>
                  <a:lnTo>
                    <a:pt x="1668012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68012" cy="2040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211074" y="2336490"/>
            <a:ext cx="4350320" cy="2807010"/>
          </a:xfrm>
          <a:custGeom>
            <a:avLst/>
            <a:gdLst/>
            <a:ahLst/>
            <a:cxnLst/>
            <a:rect l="l" t="t" r="r" b="b"/>
            <a:pathLst>
              <a:path w="4350320" h="2807010">
                <a:moveTo>
                  <a:pt x="0" y="0"/>
                </a:moveTo>
                <a:lnTo>
                  <a:pt x="4350321" y="0"/>
                </a:lnTo>
                <a:lnTo>
                  <a:pt x="4350321" y="2807010"/>
                </a:lnTo>
                <a:lnTo>
                  <a:pt x="0" y="2807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799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4341163" y="6286513"/>
            <a:ext cx="6856533" cy="3959648"/>
          </a:xfrm>
          <a:custGeom>
            <a:avLst/>
            <a:gdLst/>
            <a:ahLst/>
            <a:cxnLst/>
            <a:rect l="l" t="t" r="r" b="b"/>
            <a:pathLst>
              <a:path w="6856533" h="3959648">
                <a:moveTo>
                  <a:pt x="0" y="0"/>
                </a:moveTo>
                <a:lnTo>
                  <a:pt x="6856534" y="0"/>
                </a:lnTo>
                <a:lnTo>
                  <a:pt x="6856534" y="3959648"/>
                </a:lnTo>
                <a:lnTo>
                  <a:pt x="0" y="395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1416429" y="3462309"/>
            <a:ext cx="6598681" cy="3719507"/>
          </a:xfrm>
          <a:custGeom>
            <a:avLst/>
            <a:gdLst/>
            <a:ahLst/>
            <a:cxnLst/>
            <a:rect l="l" t="t" r="r" b="b"/>
            <a:pathLst>
              <a:path w="6598681" h="3719507">
                <a:moveTo>
                  <a:pt x="0" y="0"/>
                </a:moveTo>
                <a:lnTo>
                  <a:pt x="6598681" y="0"/>
                </a:lnTo>
                <a:lnTo>
                  <a:pt x="6598681" y="3719507"/>
                </a:lnTo>
                <a:lnTo>
                  <a:pt x="0" y="3719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 rot="3280886">
            <a:off x="8002232" y="5377514"/>
            <a:ext cx="1883963" cy="1258694"/>
            <a:chOff x="0" y="0"/>
            <a:chExt cx="812800" cy="54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543040"/>
            </a:xfrm>
            <a:custGeom>
              <a:avLst/>
              <a:gdLst/>
              <a:ahLst/>
              <a:cxnLst/>
              <a:rect l="l" t="t" r="r" b="b"/>
              <a:pathLst>
                <a:path w="812800" h="543040">
                  <a:moveTo>
                    <a:pt x="812800" y="27152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39840"/>
                  </a:lnTo>
                  <a:lnTo>
                    <a:pt x="406400" y="339840"/>
                  </a:lnTo>
                  <a:lnTo>
                    <a:pt x="406400" y="543040"/>
                  </a:lnTo>
                  <a:lnTo>
                    <a:pt x="812800" y="271520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0325"/>
              <a:ext cx="711200" cy="279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505927">
            <a:off x="10824180" y="6648078"/>
            <a:ext cx="1694029" cy="1131798"/>
            <a:chOff x="0" y="0"/>
            <a:chExt cx="812800" cy="54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543040"/>
            </a:xfrm>
            <a:custGeom>
              <a:avLst/>
              <a:gdLst/>
              <a:ahLst/>
              <a:cxnLst/>
              <a:rect l="l" t="t" r="r" b="b"/>
              <a:pathLst>
                <a:path w="812800" h="543040">
                  <a:moveTo>
                    <a:pt x="812800" y="27152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39840"/>
                  </a:lnTo>
                  <a:lnTo>
                    <a:pt x="406400" y="339840"/>
                  </a:lnTo>
                  <a:lnTo>
                    <a:pt x="406400" y="543040"/>
                  </a:lnTo>
                  <a:lnTo>
                    <a:pt x="812800" y="271520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0325"/>
              <a:ext cx="711200" cy="279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405" y="2988256"/>
            <a:ext cx="6259591" cy="254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7"/>
              </a:lnSpc>
            </a:pPr>
            <a:r>
              <a:rPr lang="en-US" sz="2152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Compatibilidad:</a:t>
            </a:r>
          </a:p>
          <a:p>
            <a:pPr marL="464641" lvl="1" indent="-232320" algn="l">
              <a:lnSpc>
                <a:spcPts val="4067"/>
              </a:lnSpc>
              <a:buFont typeface="Arial"/>
              <a:buChar char="•"/>
            </a:pPr>
            <a:r>
              <a:rPr lang="en-US" sz="21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Microsoft Windows 10 o superior</a:t>
            </a:r>
          </a:p>
          <a:p>
            <a:pPr marL="464641" lvl="1" indent="-232320" algn="l">
              <a:lnSpc>
                <a:spcPts val="4067"/>
              </a:lnSpc>
              <a:buFont typeface="Arial"/>
              <a:buChar char="•"/>
            </a:pPr>
            <a:r>
              <a:rPr lang="en-US" sz="215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Linux</a:t>
            </a:r>
          </a:p>
          <a:p>
            <a:pPr algn="l">
              <a:lnSpc>
                <a:spcPts val="4067"/>
              </a:lnSpc>
            </a:pPr>
            <a:r>
              <a:rPr lang="en-US" sz="2152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Enlace de descarga:</a:t>
            </a:r>
          </a:p>
          <a:p>
            <a:pPr marL="464641" lvl="1" indent="-232320" algn="l">
              <a:lnSpc>
                <a:spcPts val="4067"/>
              </a:lnSpc>
              <a:buFont typeface="Arial"/>
              <a:buChar char="•"/>
            </a:pPr>
            <a:r>
              <a:rPr lang="en-US" sz="2152" b="1" u="sng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  <a:hlinkClick r:id="rId6" tooltip="https://github.com/aguscsc/Bidirectional-Buck-DC-DC-converter/tree/main/microcontroller/graphic_interface/executables"/>
              </a:rPr>
              <a:t>descarga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2405" y="1820558"/>
            <a:ext cx="11179767" cy="55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b="1" spc="104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CÓMO UTILIZAR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82814" y="4399777"/>
            <a:ext cx="5206841" cy="73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5"/>
              </a:lnSpc>
              <a:spcBef>
                <a:spcPct val="0"/>
              </a:spcBef>
            </a:pPr>
            <a:r>
              <a:rPr lang="en-US" sz="3352" b="1">
                <a:solidFill>
                  <a:srgbClr val="FFBD59"/>
                </a:solidFill>
                <a:latin typeface="Now Bold"/>
                <a:ea typeface="Now Bold"/>
                <a:cs typeface="Now Bold"/>
                <a:sym typeface="Now Bold"/>
              </a:rPr>
              <a:t>Descargar el ejecutable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11074" y="9168135"/>
            <a:ext cx="1795145" cy="73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5"/>
              </a:lnSpc>
              <a:spcBef>
                <a:spcPct val="0"/>
              </a:spcBef>
            </a:pPr>
            <a:r>
              <a:rPr lang="en-US" sz="3352" b="1">
                <a:solidFill>
                  <a:srgbClr val="FF751F"/>
                </a:solidFill>
                <a:latin typeface="Now Bold"/>
                <a:ea typeface="Now Bold"/>
                <a:cs typeface="Now Bold"/>
                <a:sym typeface="Now Bold"/>
              </a:rPr>
              <a:t>Ejecutar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41362" y="5867589"/>
            <a:ext cx="974408" cy="73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5"/>
              </a:lnSpc>
              <a:spcBef>
                <a:spcPct val="0"/>
              </a:spcBef>
            </a:pPr>
            <a:r>
              <a:rPr lang="en-US" sz="3352" b="1">
                <a:solidFill>
                  <a:srgbClr val="FF751F"/>
                </a:solidFill>
                <a:latin typeface="Now Bold"/>
                <a:ea typeface="Now Bold"/>
                <a:cs typeface="Now Bold"/>
                <a:sym typeface="Now Bold"/>
              </a:rPr>
              <a:t>Usar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" y="2817558"/>
            <a:ext cx="7600950" cy="7602375"/>
            <a:chOff x="0" y="0"/>
            <a:chExt cx="2001896" cy="2002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1896" cy="2002272"/>
            </a:xfrm>
            <a:custGeom>
              <a:avLst/>
              <a:gdLst/>
              <a:ahLst/>
              <a:cxnLst/>
              <a:rect l="l" t="t" r="r" b="b"/>
              <a:pathLst>
                <a:path w="2001896" h="2002272">
                  <a:moveTo>
                    <a:pt x="0" y="0"/>
                  </a:moveTo>
                  <a:lnTo>
                    <a:pt x="2001896" y="0"/>
                  </a:lnTo>
                  <a:lnTo>
                    <a:pt x="2001896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00025"/>
              <a:ext cx="2001896" cy="2202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960328" y="1406164"/>
            <a:ext cx="13722630" cy="8537291"/>
          </a:xfrm>
          <a:custGeom>
            <a:avLst/>
            <a:gdLst/>
            <a:ahLst/>
            <a:cxnLst/>
            <a:rect l="l" t="t" r="r" b="b"/>
            <a:pathLst>
              <a:path w="13722630" h="8537291">
                <a:moveTo>
                  <a:pt x="0" y="0"/>
                </a:moveTo>
                <a:lnTo>
                  <a:pt x="13722631" y="0"/>
                </a:lnTo>
                <a:lnTo>
                  <a:pt x="13722631" y="8537291"/>
                </a:lnTo>
                <a:lnTo>
                  <a:pt x="0" y="8537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0" y="224791"/>
            <a:ext cx="6095248" cy="1752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7"/>
              </a:lnSpc>
              <a:spcBef>
                <a:spcPct val="0"/>
              </a:spcBef>
            </a:pPr>
            <a:r>
              <a:rPr lang="en-US" sz="385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Configuracion de el micro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779458"/>
            <a:ext cx="7600950" cy="7602375"/>
            <a:chOff x="0" y="0"/>
            <a:chExt cx="2001896" cy="2002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1896" cy="2002272"/>
            </a:xfrm>
            <a:custGeom>
              <a:avLst/>
              <a:gdLst/>
              <a:ahLst/>
              <a:cxnLst/>
              <a:rect l="l" t="t" r="r" b="b"/>
              <a:pathLst>
                <a:path w="2001896" h="2002272">
                  <a:moveTo>
                    <a:pt x="0" y="0"/>
                  </a:moveTo>
                  <a:lnTo>
                    <a:pt x="2001896" y="0"/>
                  </a:lnTo>
                  <a:lnTo>
                    <a:pt x="2001896" y="2002272"/>
                  </a:lnTo>
                  <a:lnTo>
                    <a:pt x="0" y="2002272"/>
                  </a:lnTo>
                  <a:close/>
                </a:path>
              </a:pathLst>
            </a:custGeom>
            <a:solidFill>
              <a:srgbClr val="F7030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00025"/>
              <a:ext cx="2001896" cy="2202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014193"/>
            <a:ext cx="8242997" cy="5680658"/>
          </a:xfrm>
          <a:custGeom>
            <a:avLst/>
            <a:gdLst/>
            <a:ahLst/>
            <a:cxnLst/>
            <a:rect l="l" t="t" r="r" b="b"/>
            <a:pathLst>
              <a:path w="8242997" h="5680658">
                <a:moveTo>
                  <a:pt x="0" y="0"/>
                </a:moveTo>
                <a:lnTo>
                  <a:pt x="8242997" y="0"/>
                </a:lnTo>
                <a:lnTo>
                  <a:pt x="8242997" y="5680657"/>
                </a:lnTo>
                <a:lnTo>
                  <a:pt x="0" y="56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8486401" y="0"/>
            <a:ext cx="9450539" cy="10287000"/>
          </a:xfrm>
          <a:custGeom>
            <a:avLst/>
            <a:gdLst/>
            <a:ahLst/>
            <a:cxnLst/>
            <a:rect l="l" t="t" r="r" b="b"/>
            <a:pathLst>
              <a:path w="9450539" h="10287000">
                <a:moveTo>
                  <a:pt x="0" y="0"/>
                </a:moveTo>
                <a:lnTo>
                  <a:pt x="9450539" y="0"/>
                </a:lnTo>
                <a:lnTo>
                  <a:pt x="945053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0" y="224791"/>
            <a:ext cx="6095248" cy="1752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7"/>
              </a:lnSpc>
              <a:spcBef>
                <a:spcPct val="0"/>
              </a:spcBef>
            </a:pPr>
            <a:r>
              <a:rPr lang="en-US" sz="3855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Configuracion de el micro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Microsoft Office PowerPoint</Application>
  <PresentationFormat>Personalizado</PresentationFormat>
  <Paragraphs>161</Paragraphs>
  <Slides>13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Calibri</vt:lpstr>
      <vt:lpstr>Arial</vt:lpstr>
      <vt:lpstr>Now</vt:lpstr>
      <vt:lpstr>Open Sans Bold</vt:lpstr>
      <vt:lpstr>Now Bold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Proyecto: Convertidor DC/dc</dc:title>
  <dc:creator>ignacio cerda torres</dc:creator>
  <cp:lastModifiedBy>Ignacio Andre Cerda Torres</cp:lastModifiedBy>
  <cp:revision>1</cp:revision>
  <dcterms:created xsi:type="dcterms:W3CDTF">2006-08-16T00:00:00Z</dcterms:created>
  <dcterms:modified xsi:type="dcterms:W3CDTF">2025-12-18T16:30:11Z</dcterms:modified>
  <dc:identifier>DAG4hIDAEXg</dc:identifier>
</cp:coreProperties>
</file>