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Now Bold" charset="1" panose="00000800000000000000"/>
      <p:regular r:id="rId26"/>
    </p:embeddedFont>
    <p:embeddedFont>
      <p:font typeface="Now" charset="1" panose="00000500000000000000"/>
      <p:regular r:id="rId27"/>
    </p:embeddedFont>
    <p:embeddedFont>
      <p:font typeface="Open Sans Bold" charset="1" panose="020B0806030504020204"/>
      <p:regular r:id="rId38"/>
    </p:embeddedFont>
    <p:embeddedFont>
      <p:font typeface="Open Sans" charset="1" panose="020B0606030504020204"/>
      <p:regular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notesMasters/notesMaster1.xml" Type="http://schemas.openxmlformats.org/officeDocument/2006/relationships/notesMaster"/><Relationship Id="rId24" Target="theme/theme2.xml" Type="http://schemas.openxmlformats.org/officeDocument/2006/relationships/theme"/><Relationship Id="rId25" Target="notesSlides/notesSlide1.xml" Type="http://schemas.openxmlformats.org/officeDocument/2006/relationships/notes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notesSlides/notesSlide2.xml" Type="http://schemas.openxmlformats.org/officeDocument/2006/relationships/notesSlide"/><Relationship Id="rId29" Target="notesSlides/notesSlide3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4.xml" Type="http://schemas.openxmlformats.org/officeDocument/2006/relationships/notesSlide"/><Relationship Id="rId31" Target="notesSlides/notesSlide5.xml" Type="http://schemas.openxmlformats.org/officeDocument/2006/relationships/notesSlide"/><Relationship Id="rId32" Target="notesSlides/notesSlide6.xml" Type="http://schemas.openxmlformats.org/officeDocument/2006/relationships/notesSlide"/><Relationship Id="rId33" Target="notesSlides/notesSlide7.xml" Type="http://schemas.openxmlformats.org/officeDocument/2006/relationships/notesSlide"/><Relationship Id="rId34" Target="notesSlides/notesSlide8.xml" Type="http://schemas.openxmlformats.org/officeDocument/2006/relationships/notesSlide"/><Relationship Id="rId35" Target="notesSlides/notesSlide9.xml" Type="http://schemas.openxmlformats.org/officeDocument/2006/relationships/notesSlide"/><Relationship Id="rId36" Target="notesSlides/notesSlide10.xml" Type="http://schemas.openxmlformats.org/officeDocument/2006/relationships/notesSlide"/><Relationship Id="rId37" Target="notesSlides/notesSlide11.xml" Type="http://schemas.openxmlformats.org/officeDocument/2006/relationships/notesSlide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notesSlides/notesSlide12.xml" Type="http://schemas.openxmlformats.org/officeDocument/2006/relationships/notesSlide"/><Relationship Id="rId41" Target="notesSlides/notesSlide13.xml" Type="http://schemas.openxmlformats.org/officeDocument/2006/relationships/notesSlide"/><Relationship Id="rId42" Target="notesSlides/notesSlide14.xml" Type="http://schemas.openxmlformats.org/officeDocument/2006/relationships/notesSlide"/><Relationship Id="rId43" Target="notesSlides/notesSlide15.xml" Type="http://schemas.openxmlformats.org/officeDocument/2006/relationships/notesSlide"/><Relationship Id="rId44" Target="notesSlides/notesSlide16.xml" Type="http://schemas.openxmlformats.org/officeDocument/2006/relationships/notesSlide"/><Relationship Id="rId45" Target="notesSlides/notesSlide17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nacho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nacho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nacho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nacho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 El ESP32 actúa como el Sistema de Adquisición de Datos y Telemetría (DAQ) del proyecto. Su función principal es digitalizar el comportamiento físico del convertidor en tiempo real para hacerlo visible y comprensible para el usuario a través de una interfaz inalámbrica</a:t>
            </a:r>
          </a:p>
          <a:p>
            <a:r>
              <a:rPr lang="en-US"/>
              <a:t>Gracias a su módulo Wi-Fi integrado, crea una barrera de seguridad. Permite monitorear el estado del sistema desde una computadora o celular sin contacto físico con la placa de alta potencia</a:t>
            </a:r>
          </a:p>
          <a:p>
            <a:r>
              <a:rPr lang="en-US"/>
              <a:t/>
            </a:r>
          </a:p>
          <a:p>
            <a:r>
              <a:rPr lang="en-US"/>
              <a:t>El ESP32 nos ofrece 4 veces más resolución que un microcontrolador estándar de 10 bits</a:t>
            </a:r>
          </a:p>
          <a:p>
            <a:r>
              <a:rPr lang="en-US"/>
              <a:t/>
            </a:r>
          </a:p>
          <a:p>
            <a:r>
              <a:rPr lang="en-US"/>
              <a:t>Estos pines son arquitectónicamente de Solo Entrada. Esto significa que están dedicados exclusivamente a  sensar el voltaje y carecen de la capacidad física para inyectar voltaje o corriente de retorno hacia el convertidor.(VDET= voltage detect)</a:t>
            </a:r>
          </a:p>
          <a:p>
            <a:r>
              <a:rPr lang="en-US"/>
              <a:t/>
            </a:r>
          </a:p>
          <a:p>
            <a:r>
              <a:rPr lang="en-US"/>
              <a:t>El ADC1bv  se define como la unidad de conversión analógica dedicada. Significa que este bloque de hardware es exclusivo para tus sensores y no comparte recursos con el sistema de comunicaciones inalámbricas, garantizando que medir voltaje y enviar datos por Wi-Fi puedan ocurrir al mismo tiempo</a:t>
            </a:r>
          </a:p>
          <a:p>
            <a:r>
              <a:rPr lang="en-US"/>
              <a:t/>
            </a:r>
          </a:p>
          <a:p>
            <a:r>
              <a:rPr lang="en-US"/>
              <a:t>Resolucion de 12 bit= capacidad de discretización del sistema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nacho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nacho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nacho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nacho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nacho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nacho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nacho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nacho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nacho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nacho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nacho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nacho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9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1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4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9.pn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Relationship Id="rId7" Target="../media/image23.png" Type="http://schemas.openxmlformats.org/officeDocument/2006/relationships/image"/><Relationship Id="rId8" Target="../media/image2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25.pn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Relationship Id="rId6" Target="../media/image2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29.png" Type="http://schemas.openxmlformats.org/officeDocument/2006/relationships/image"/><Relationship Id="rId4" Target="../media/image30.png" Type="http://schemas.openxmlformats.org/officeDocument/2006/relationships/image"/><Relationship Id="rId5" Target="../media/image3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32.jpeg" Type="http://schemas.openxmlformats.org/officeDocument/2006/relationships/image"/><Relationship Id="rId4" Target="../media/image33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34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00950" y="-313312"/>
            <a:ext cx="10861154" cy="8362804"/>
            <a:chOff x="0" y="0"/>
            <a:chExt cx="14481539" cy="11150405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3"/>
            <a:srcRect l="0" t="10514" r="0" b="10514"/>
            <a:stretch>
              <a:fillRect/>
            </a:stretch>
          </p:blipFill>
          <p:spPr>
            <a:xfrm flipH="false" flipV="false">
              <a:off x="0" y="0"/>
              <a:ext cx="14481539" cy="11150405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7600950" y="6575035"/>
            <a:ext cx="10861154" cy="3711965"/>
            <a:chOff x="0" y="0"/>
            <a:chExt cx="2860551" cy="97763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60551" cy="977637"/>
            </a:xfrm>
            <a:custGeom>
              <a:avLst/>
              <a:gdLst/>
              <a:ahLst/>
              <a:cxnLst/>
              <a:rect r="r" b="b" t="t" l="l"/>
              <a:pathLst>
                <a:path h="977637" w="2860551">
                  <a:moveTo>
                    <a:pt x="0" y="0"/>
                  </a:moveTo>
                  <a:lnTo>
                    <a:pt x="2860551" y="0"/>
                  </a:lnTo>
                  <a:lnTo>
                    <a:pt x="2860551" y="977637"/>
                  </a:lnTo>
                  <a:lnTo>
                    <a:pt x="0" y="977637"/>
                  </a:lnTo>
                  <a:close/>
                </a:path>
              </a:pathLst>
            </a:custGeom>
            <a:solidFill>
              <a:srgbClr val="F7030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2860551" cy="10443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4339"/>
                </a:lnSpc>
              </a:pPr>
              <a:r>
                <a:rPr lang="en-US" sz="3099" b="true">
                  <a:solidFill>
                    <a:srgbClr val="FFFFFF"/>
                  </a:solidFill>
                  <a:latin typeface="Now Bold"/>
                  <a:ea typeface="Now Bold"/>
                  <a:cs typeface="Now Bold"/>
                  <a:sym typeface="Now Bold"/>
                </a:rPr>
                <a:t> Grupo N°2</a:t>
              </a:r>
            </a:p>
            <a:p>
              <a:pPr algn="just">
                <a:lnSpc>
                  <a:spcPts val="4339"/>
                </a:lnSpc>
              </a:pPr>
              <a:r>
                <a:rPr lang="en-US" sz="30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    Gian Lucas Barbagelata</a:t>
              </a:r>
            </a:p>
            <a:p>
              <a:pPr algn="just">
                <a:lnSpc>
                  <a:spcPts val="4339"/>
                </a:lnSpc>
              </a:pPr>
              <a:r>
                <a:rPr lang="en-US" sz="30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    Agustín Torres Bobadilla</a:t>
              </a:r>
            </a:p>
            <a:p>
              <a:pPr algn="just">
                <a:lnSpc>
                  <a:spcPts val="4339"/>
                </a:lnSpc>
                <a:spcBef>
                  <a:spcPct val="0"/>
                </a:spcBef>
              </a:pPr>
              <a:r>
                <a:rPr lang="en-US" sz="30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    Ignacio Cerda Torres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80974" y="764293"/>
            <a:ext cx="7050428" cy="6645543"/>
            <a:chOff x="0" y="0"/>
            <a:chExt cx="9400570" cy="8860724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2487279"/>
              <a:ext cx="9400570" cy="63734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441"/>
                </a:lnSpc>
              </a:pPr>
              <a:r>
                <a:rPr lang="en-US" sz="6150" b="true">
                  <a:solidFill>
                    <a:srgbClr val="000000"/>
                  </a:solidFill>
                  <a:latin typeface="Now Bold"/>
                  <a:ea typeface="Now Bold"/>
                  <a:cs typeface="Now Bold"/>
                  <a:sym typeface="Now Bold"/>
                </a:rPr>
                <a:t>Proyecto 2</a:t>
              </a:r>
            </a:p>
            <a:p>
              <a:pPr algn="l">
                <a:lnSpc>
                  <a:spcPts val="7441"/>
                </a:lnSpc>
              </a:pPr>
              <a:r>
                <a:rPr lang="en-US" sz="6150" b="true">
                  <a:solidFill>
                    <a:srgbClr val="000000"/>
                  </a:solidFill>
                  <a:latin typeface="Now Bold"/>
                  <a:ea typeface="Now Bold"/>
                  <a:cs typeface="Now Bold"/>
                  <a:sym typeface="Now Bold"/>
                </a:rPr>
                <a:t>Monitoreo de señales con un Microcontrolador ESP32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-9525"/>
              <a:ext cx="9400570" cy="7400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58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619230"/>
            <a:ext cx="18288000" cy="1273982"/>
            <a:chOff x="0" y="0"/>
            <a:chExt cx="4816593" cy="3355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335534"/>
            </a:xfrm>
            <a:custGeom>
              <a:avLst/>
              <a:gdLst/>
              <a:ahLst/>
              <a:cxnLst/>
              <a:rect r="r" b="b" t="t" l="l"/>
              <a:pathLst>
                <a:path h="335534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35534"/>
                  </a:lnTo>
                  <a:lnTo>
                    <a:pt x="0" y="335534"/>
                  </a:lnTo>
                  <a:close/>
                </a:path>
              </a:pathLst>
            </a:custGeom>
            <a:solidFill>
              <a:srgbClr val="F7030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816593" cy="4022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433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3788" y="5733604"/>
            <a:ext cx="2122494" cy="804488"/>
            <a:chOff x="0" y="0"/>
            <a:chExt cx="753919" cy="2857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53919" cy="285758"/>
            </a:xfrm>
            <a:custGeom>
              <a:avLst/>
              <a:gdLst/>
              <a:ahLst/>
              <a:cxnLst/>
              <a:rect r="r" b="b" t="t" l="l"/>
              <a:pathLst>
                <a:path h="285758" w="753919">
                  <a:moveTo>
                    <a:pt x="142879" y="0"/>
                  </a:moveTo>
                  <a:lnTo>
                    <a:pt x="611040" y="0"/>
                  </a:lnTo>
                  <a:cubicBezTo>
                    <a:pt x="648934" y="0"/>
                    <a:pt x="685276" y="15053"/>
                    <a:pt x="712071" y="41848"/>
                  </a:cubicBezTo>
                  <a:cubicBezTo>
                    <a:pt x="738866" y="68643"/>
                    <a:pt x="753919" y="104985"/>
                    <a:pt x="753919" y="142879"/>
                  </a:cubicBezTo>
                  <a:lnTo>
                    <a:pt x="753919" y="142879"/>
                  </a:lnTo>
                  <a:cubicBezTo>
                    <a:pt x="753919" y="221789"/>
                    <a:pt x="689950" y="285758"/>
                    <a:pt x="611040" y="285758"/>
                  </a:cubicBezTo>
                  <a:lnTo>
                    <a:pt x="142879" y="285758"/>
                  </a:lnTo>
                  <a:cubicBezTo>
                    <a:pt x="104985" y="285758"/>
                    <a:pt x="68643" y="270704"/>
                    <a:pt x="41848" y="243909"/>
                  </a:cubicBezTo>
                  <a:cubicBezTo>
                    <a:pt x="15053" y="217114"/>
                    <a:pt x="0" y="180773"/>
                    <a:pt x="0" y="142879"/>
                  </a:cubicBezTo>
                  <a:lnTo>
                    <a:pt x="0" y="142879"/>
                  </a:lnTo>
                  <a:cubicBezTo>
                    <a:pt x="0" y="104985"/>
                    <a:pt x="15053" y="68643"/>
                    <a:pt x="41848" y="41848"/>
                  </a:cubicBezTo>
                  <a:cubicBezTo>
                    <a:pt x="68643" y="15053"/>
                    <a:pt x="104985" y="0"/>
                    <a:pt x="142879" y="0"/>
                  </a:cubicBez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753919" cy="323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000000"/>
                  </a:solidFill>
                  <a:latin typeface="Now Bold"/>
                  <a:ea typeface="Now Bold"/>
                  <a:cs typeface="Now Bold"/>
                  <a:sym typeface="Now Bold"/>
                </a:rPr>
                <a:t>PIC32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091964" y="3348503"/>
            <a:ext cx="2133235" cy="945557"/>
            <a:chOff x="0" y="0"/>
            <a:chExt cx="757734" cy="33586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57735" cy="335866"/>
            </a:xfrm>
            <a:custGeom>
              <a:avLst/>
              <a:gdLst/>
              <a:ahLst/>
              <a:cxnLst/>
              <a:rect r="r" b="b" t="t" l="l"/>
              <a:pathLst>
                <a:path h="335866" w="757735">
                  <a:moveTo>
                    <a:pt x="167933" y="0"/>
                  </a:moveTo>
                  <a:lnTo>
                    <a:pt x="589802" y="0"/>
                  </a:lnTo>
                  <a:cubicBezTo>
                    <a:pt x="682548" y="0"/>
                    <a:pt x="757735" y="75186"/>
                    <a:pt x="757735" y="167933"/>
                  </a:cubicBezTo>
                  <a:lnTo>
                    <a:pt x="757735" y="167933"/>
                  </a:lnTo>
                  <a:cubicBezTo>
                    <a:pt x="757735" y="260680"/>
                    <a:pt x="682548" y="335866"/>
                    <a:pt x="589802" y="335866"/>
                  </a:cubicBezTo>
                  <a:lnTo>
                    <a:pt x="167933" y="335866"/>
                  </a:lnTo>
                  <a:cubicBezTo>
                    <a:pt x="75186" y="335866"/>
                    <a:pt x="0" y="260680"/>
                    <a:pt x="0" y="167933"/>
                  </a:cubicBezTo>
                  <a:lnTo>
                    <a:pt x="0" y="167933"/>
                  </a:lnTo>
                  <a:cubicBezTo>
                    <a:pt x="0" y="75186"/>
                    <a:pt x="75186" y="0"/>
                    <a:pt x="167933" y="0"/>
                  </a:cubicBezTo>
                  <a:close/>
                </a:path>
              </a:pathLst>
            </a:custGeom>
            <a:solidFill>
              <a:srgbClr val="B753EE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57734" cy="3739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000000"/>
                  </a:solidFill>
                  <a:latin typeface="Now Bold"/>
                  <a:ea typeface="Now Bold"/>
                  <a:cs typeface="Now Bold"/>
                  <a:sym typeface="Now Bold"/>
                </a:rPr>
                <a:t>VOLTAJE DE ENTRADA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093657" y="8106220"/>
            <a:ext cx="2133235" cy="928980"/>
            <a:chOff x="0" y="0"/>
            <a:chExt cx="757734" cy="329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57735" cy="329978"/>
            </a:xfrm>
            <a:custGeom>
              <a:avLst/>
              <a:gdLst/>
              <a:ahLst/>
              <a:cxnLst/>
              <a:rect r="r" b="b" t="t" l="l"/>
              <a:pathLst>
                <a:path h="329978" w="757735">
                  <a:moveTo>
                    <a:pt x="164989" y="0"/>
                  </a:moveTo>
                  <a:lnTo>
                    <a:pt x="592746" y="0"/>
                  </a:lnTo>
                  <a:cubicBezTo>
                    <a:pt x="683866" y="0"/>
                    <a:pt x="757735" y="73868"/>
                    <a:pt x="757735" y="164989"/>
                  </a:cubicBezTo>
                  <a:lnTo>
                    <a:pt x="757735" y="164989"/>
                  </a:lnTo>
                  <a:cubicBezTo>
                    <a:pt x="757735" y="256110"/>
                    <a:pt x="683866" y="329978"/>
                    <a:pt x="592746" y="329978"/>
                  </a:cubicBezTo>
                  <a:lnTo>
                    <a:pt x="164989" y="329978"/>
                  </a:lnTo>
                  <a:cubicBezTo>
                    <a:pt x="73868" y="329978"/>
                    <a:pt x="0" y="256110"/>
                    <a:pt x="0" y="164989"/>
                  </a:cubicBezTo>
                  <a:lnTo>
                    <a:pt x="0" y="164989"/>
                  </a:lnTo>
                  <a:cubicBezTo>
                    <a:pt x="0" y="73868"/>
                    <a:pt x="73868" y="0"/>
                    <a:pt x="164989" y="0"/>
                  </a:cubicBezTo>
                  <a:close/>
                </a:path>
              </a:pathLst>
            </a:custGeom>
            <a:solidFill>
              <a:srgbClr val="F7030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757734" cy="368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000000"/>
                  </a:solidFill>
                  <a:latin typeface="Now Bold"/>
                  <a:ea typeface="Now Bold"/>
                  <a:cs typeface="Now Bold"/>
                  <a:sym typeface="Now Bold"/>
                </a:rPr>
                <a:t>VOLTAJE DE SALIDA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633143" y="5511405"/>
            <a:ext cx="3050877" cy="1393777"/>
            <a:chOff x="0" y="0"/>
            <a:chExt cx="1083685" cy="49507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83685" cy="495076"/>
            </a:xfrm>
            <a:custGeom>
              <a:avLst/>
              <a:gdLst/>
              <a:ahLst/>
              <a:cxnLst/>
              <a:rect r="r" b="b" t="t" l="l"/>
              <a:pathLst>
                <a:path h="495076" w="1083685">
                  <a:moveTo>
                    <a:pt x="129418" y="0"/>
                  </a:moveTo>
                  <a:lnTo>
                    <a:pt x="954267" y="0"/>
                  </a:lnTo>
                  <a:cubicBezTo>
                    <a:pt x="988591" y="0"/>
                    <a:pt x="1021509" y="13635"/>
                    <a:pt x="1045780" y="37906"/>
                  </a:cubicBezTo>
                  <a:cubicBezTo>
                    <a:pt x="1070050" y="62176"/>
                    <a:pt x="1083685" y="95094"/>
                    <a:pt x="1083685" y="129418"/>
                  </a:cubicBezTo>
                  <a:lnTo>
                    <a:pt x="1083685" y="365658"/>
                  </a:lnTo>
                  <a:cubicBezTo>
                    <a:pt x="1083685" y="399982"/>
                    <a:pt x="1070050" y="432900"/>
                    <a:pt x="1045780" y="457170"/>
                  </a:cubicBezTo>
                  <a:cubicBezTo>
                    <a:pt x="1021509" y="481441"/>
                    <a:pt x="988591" y="495076"/>
                    <a:pt x="954267" y="495076"/>
                  </a:cubicBezTo>
                  <a:lnTo>
                    <a:pt x="129418" y="495076"/>
                  </a:lnTo>
                  <a:cubicBezTo>
                    <a:pt x="95094" y="495076"/>
                    <a:pt x="62176" y="481441"/>
                    <a:pt x="37906" y="457170"/>
                  </a:cubicBezTo>
                  <a:cubicBezTo>
                    <a:pt x="13635" y="432900"/>
                    <a:pt x="0" y="399982"/>
                    <a:pt x="0" y="365658"/>
                  </a:cubicBezTo>
                  <a:lnTo>
                    <a:pt x="0" y="129418"/>
                  </a:lnTo>
                  <a:cubicBezTo>
                    <a:pt x="0" y="95094"/>
                    <a:pt x="13635" y="62176"/>
                    <a:pt x="37906" y="37906"/>
                  </a:cubicBezTo>
                  <a:cubicBezTo>
                    <a:pt x="62176" y="13635"/>
                    <a:pt x="95094" y="0"/>
                    <a:pt x="129418" y="0"/>
                  </a:cubicBezTo>
                  <a:close/>
                </a:path>
              </a:pathLst>
            </a:custGeom>
            <a:solidFill>
              <a:srgbClr val="FF999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083685" cy="5522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  <a:r>
                <a:rPr lang="en-US" b="true" sz="2299">
                  <a:solidFill>
                    <a:srgbClr val="000000"/>
                  </a:solidFill>
                  <a:latin typeface="Now Bold"/>
                  <a:ea typeface="Now Bold"/>
                  <a:cs typeface="Now Bold"/>
                  <a:sym typeface="Now Bold"/>
                </a:rPr>
                <a:t>CONVERTIDOR DC/DC BUCK BIDIRECCIONAL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857110" y="4320522"/>
            <a:ext cx="602943" cy="1207821"/>
            <a:chOff x="0" y="0"/>
            <a:chExt cx="414788" cy="83090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14788" cy="830907"/>
            </a:xfrm>
            <a:custGeom>
              <a:avLst/>
              <a:gdLst/>
              <a:ahLst/>
              <a:cxnLst/>
              <a:rect r="r" b="b" t="t" l="l"/>
              <a:pathLst>
                <a:path h="830907" w="414788">
                  <a:moveTo>
                    <a:pt x="0" y="557857"/>
                  </a:moveTo>
                  <a:lnTo>
                    <a:pt x="207394" y="830907"/>
                  </a:lnTo>
                  <a:lnTo>
                    <a:pt x="414788" y="557857"/>
                  </a:lnTo>
                  <a:lnTo>
                    <a:pt x="281438" y="557857"/>
                  </a:lnTo>
                  <a:lnTo>
                    <a:pt x="281438" y="273050"/>
                  </a:lnTo>
                  <a:lnTo>
                    <a:pt x="414788" y="273050"/>
                  </a:lnTo>
                  <a:lnTo>
                    <a:pt x="207394" y="0"/>
                  </a:lnTo>
                  <a:lnTo>
                    <a:pt x="0" y="273050"/>
                  </a:lnTo>
                  <a:lnTo>
                    <a:pt x="133350" y="273050"/>
                  </a:lnTo>
                  <a:lnTo>
                    <a:pt x="133350" y="557857"/>
                  </a:lnTo>
                  <a:lnTo>
                    <a:pt x="0" y="557857"/>
                  </a:lnTo>
                  <a:close/>
                </a:path>
              </a:pathLst>
            </a:custGeom>
            <a:solidFill>
              <a:srgbClr val="FF751F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139700" y="63500"/>
              <a:ext cx="135388" cy="6658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860496" y="6905182"/>
            <a:ext cx="599557" cy="1201038"/>
            <a:chOff x="0" y="0"/>
            <a:chExt cx="414788" cy="83090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14788" cy="830907"/>
            </a:xfrm>
            <a:custGeom>
              <a:avLst/>
              <a:gdLst/>
              <a:ahLst/>
              <a:cxnLst/>
              <a:rect r="r" b="b" t="t" l="l"/>
              <a:pathLst>
                <a:path h="830907" w="414788">
                  <a:moveTo>
                    <a:pt x="0" y="557857"/>
                  </a:moveTo>
                  <a:lnTo>
                    <a:pt x="207394" y="830907"/>
                  </a:lnTo>
                  <a:lnTo>
                    <a:pt x="414788" y="557857"/>
                  </a:lnTo>
                  <a:lnTo>
                    <a:pt x="281438" y="557857"/>
                  </a:lnTo>
                  <a:lnTo>
                    <a:pt x="281438" y="273050"/>
                  </a:lnTo>
                  <a:lnTo>
                    <a:pt x="414788" y="273050"/>
                  </a:lnTo>
                  <a:lnTo>
                    <a:pt x="207394" y="0"/>
                  </a:lnTo>
                  <a:lnTo>
                    <a:pt x="0" y="273050"/>
                  </a:lnTo>
                  <a:lnTo>
                    <a:pt x="133350" y="273050"/>
                  </a:lnTo>
                  <a:lnTo>
                    <a:pt x="133350" y="557857"/>
                  </a:lnTo>
                  <a:lnTo>
                    <a:pt x="0" y="557857"/>
                  </a:lnTo>
                  <a:close/>
                </a:path>
              </a:pathLst>
            </a:custGeom>
            <a:solidFill>
              <a:srgbClr val="FF751F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139700" y="63500"/>
              <a:ext cx="135388" cy="6658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96282" y="5791943"/>
            <a:ext cx="1436861" cy="603733"/>
            <a:chOff x="0" y="0"/>
            <a:chExt cx="1369847" cy="57557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69847" cy="575576"/>
            </a:xfrm>
            <a:custGeom>
              <a:avLst/>
              <a:gdLst/>
              <a:ahLst/>
              <a:cxnLst/>
              <a:rect r="r" b="b" t="t" l="l"/>
              <a:pathLst>
                <a:path h="575576" w="1369847">
                  <a:moveTo>
                    <a:pt x="1369847" y="287788"/>
                  </a:moveTo>
                  <a:lnTo>
                    <a:pt x="963447" y="0"/>
                  </a:lnTo>
                  <a:lnTo>
                    <a:pt x="963447" y="203200"/>
                  </a:lnTo>
                  <a:lnTo>
                    <a:pt x="0" y="203200"/>
                  </a:lnTo>
                  <a:lnTo>
                    <a:pt x="0" y="372376"/>
                  </a:lnTo>
                  <a:lnTo>
                    <a:pt x="963447" y="372376"/>
                  </a:lnTo>
                  <a:lnTo>
                    <a:pt x="963447" y="575576"/>
                  </a:lnTo>
                  <a:lnTo>
                    <a:pt x="1369847" y="287788"/>
                  </a:lnTo>
                  <a:close/>
                </a:path>
              </a:pathLst>
            </a:custGeom>
            <a:solidFill>
              <a:srgbClr val="FF751F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165100"/>
              <a:ext cx="1268247" cy="2072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322172" y="345488"/>
            <a:ext cx="7815729" cy="1147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6"/>
              </a:lnSpc>
            </a:pPr>
            <a:r>
              <a:rPr lang="en-US" b="true" sz="3724" spc="1076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ESPECIFICACIONES Y PROBLEMATICA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09130" y="2018340"/>
            <a:ext cx="4382354" cy="576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6"/>
              </a:lnSpc>
            </a:pPr>
            <a:r>
              <a:rPr lang="en-US" b="true" sz="3724" spc="1076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PROYECTO 1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017902" y="2018340"/>
            <a:ext cx="4734348" cy="576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6"/>
              </a:lnSpc>
            </a:pPr>
            <a:r>
              <a:rPr lang="en-US" b="true" sz="3724" spc="1076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PROYECTO 2</a:t>
            </a:r>
          </a:p>
        </p:txBody>
      </p:sp>
      <p:grpSp>
        <p:nvGrpSpPr>
          <p:cNvPr name="Group 29" id="29"/>
          <p:cNvGrpSpPr/>
          <p:nvPr/>
        </p:nvGrpSpPr>
        <p:grpSpPr>
          <a:xfrm rot="-5400000">
            <a:off x="416605" y="6954656"/>
            <a:ext cx="1436861" cy="603733"/>
            <a:chOff x="0" y="0"/>
            <a:chExt cx="1369847" cy="57557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369847" cy="575576"/>
            </a:xfrm>
            <a:custGeom>
              <a:avLst/>
              <a:gdLst/>
              <a:ahLst/>
              <a:cxnLst/>
              <a:rect r="r" b="b" t="t" l="l"/>
              <a:pathLst>
                <a:path h="575576" w="1369847">
                  <a:moveTo>
                    <a:pt x="1369847" y="287788"/>
                  </a:moveTo>
                  <a:lnTo>
                    <a:pt x="963447" y="0"/>
                  </a:lnTo>
                  <a:lnTo>
                    <a:pt x="963447" y="203200"/>
                  </a:lnTo>
                  <a:lnTo>
                    <a:pt x="0" y="203200"/>
                  </a:lnTo>
                  <a:lnTo>
                    <a:pt x="0" y="372376"/>
                  </a:lnTo>
                  <a:lnTo>
                    <a:pt x="963447" y="372376"/>
                  </a:lnTo>
                  <a:lnTo>
                    <a:pt x="963447" y="575576"/>
                  </a:lnTo>
                  <a:lnTo>
                    <a:pt x="1369847" y="287788"/>
                  </a:lnTo>
                  <a:close/>
                </a:path>
              </a:pathLst>
            </a:custGeom>
            <a:solidFill>
              <a:srgbClr val="FF751F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165100"/>
              <a:ext cx="1268247" cy="2072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3788" y="7974953"/>
            <a:ext cx="2122494" cy="821071"/>
            <a:chOff x="0" y="0"/>
            <a:chExt cx="753919" cy="29164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53919" cy="291648"/>
            </a:xfrm>
            <a:custGeom>
              <a:avLst/>
              <a:gdLst/>
              <a:ahLst/>
              <a:cxnLst/>
              <a:rect r="r" b="b" t="t" l="l"/>
              <a:pathLst>
                <a:path h="291648" w="753919">
                  <a:moveTo>
                    <a:pt x="145824" y="0"/>
                  </a:moveTo>
                  <a:lnTo>
                    <a:pt x="608095" y="0"/>
                  </a:lnTo>
                  <a:cubicBezTo>
                    <a:pt x="646770" y="0"/>
                    <a:pt x="683861" y="15364"/>
                    <a:pt x="711208" y="42711"/>
                  </a:cubicBezTo>
                  <a:cubicBezTo>
                    <a:pt x="738556" y="70058"/>
                    <a:pt x="753919" y="107149"/>
                    <a:pt x="753919" y="145824"/>
                  </a:cubicBezTo>
                  <a:lnTo>
                    <a:pt x="753919" y="145824"/>
                  </a:lnTo>
                  <a:cubicBezTo>
                    <a:pt x="753919" y="226360"/>
                    <a:pt x="688632" y="291648"/>
                    <a:pt x="608095" y="291648"/>
                  </a:cubicBezTo>
                  <a:lnTo>
                    <a:pt x="145824" y="291648"/>
                  </a:lnTo>
                  <a:cubicBezTo>
                    <a:pt x="107149" y="291648"/>
                    <a:pt x="70058" y="276284"/>
                    <a:pt x="42711" y="248937"/>
                  </a:cubicBezTo>
                  <a:cubicBezTo>
                    <a:pt x="15364" y="221590"/>
                    <a:pt x="0" y="184499"/>
                    <a:pt x="0" y="145824"/>
                  </a:cubicBezTo>
                  <a:lnTo>
                    <a:pt x="0" y="145824"/>
                  </a:lnTo>
                  <a:cubicBezTo>
                    <a:pt x="0" y="107149"/>
                    <a:pt x="15364" y="70058"/>
                    <a:pt x="42711" y="42711"/>
                  </a:cubicBezTo>
                  <a:cubicBezTo>
                    <a:pt x="70058" y="15364"/>
                    <a:pt x="107149" y="0"/>
                    <a:pt x="145824" y="0"/>
                  </a:cubicBezTo>
                  <a:close/>
                </a:path>
              </a:pathLst>
            </a:custGeom>
            <a:solidFill>
              <a:srgbClr val="039FF7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753919" cy="329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000000"/>
                  </a:solidFill>
                  <a:latin typeface="Now Bold"/>
                  <a:ea typeface="Now Bold"/>
                  <a:cs typeface="Now Bold"/>
                  <a:sym typeface="Now Bold"/>
                </a:rPr>
                <a:t>INTERFAZ GRAFICA 1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579495" y="5477985"/>
            <a:ext cx="2122494" cy="804488"/>
            <a:chOff x="0" y="0"/>
            <a:chExt cx="753919" cy="28575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53919" cy="285758"/>
            </a:xfrm>
            <a:custGeom>
              <a:avLst/>
              <a:gdLst/>
              <a:ahLst/>
              <a:cxnLst/>
              <a:rect r="r" b="b" t="t" l="l"/>
              <a:pathLst>
                <a:path h="285758" w="753919">
                  <a:moveTo>
                    <a:pt x="142879" y="0"/>
                  </a:moveTo>
                  <a:lnTo>
                    <a:pt x="611040" y="0"/>
                  </a:lnTo>
                  <a:cubicBezTo>
                    <a:pt x="648934" y="0"/>
                    <a:pt x="685276" y="15053"/>
                    <a:pt x="712071" y="41848"/>
                  </a:cubicBezTo>
                  <a:cubicBezTo>
                    <a:pt x="738866" y="68643"/>
                    <a:pt x="753919" y="104985"/>
                    <a:pt x="753919" y="142879"/>
                  </a:cubicBezTo>
                  <a:lnTo>
                    <a:pt x="753919" y="142879"/>
                  </a:lnTo>
                  <a:cubicBezTo>
                    <a:pt x="753919" y="221789"/>
                    <a:pt x="689950" y="285758"/>
                    <a:pt x="611040" y="285758"/>
                  </a:cubicBezTo>
                  <a:lnTo>
                    <a:pt x="142879" y="285758"/>
                  </a:lnTo>
                  <a:cubicBezTo>
                    <a:pt x="104985" y="285758"/>
                    <a:pt x="68643" y="270704"/>
                    <a:pt x="41848" y="243909"/>
                  </a:cubicBezTo>
                  <a:cubicBezTo>
                    <a:pt x="15053" y="217114"/>
                    <a:pt x="0" y="180773"/>
                    <a:pt x="0" y="142879"/>
                  </a:cubicBezTo>
                  <a:lnTo>
                    <a:pt x="0" y="142879"/>
                  </a:lnTo>
                  <a:cubicBezTo>
                    <a:pt x="0" y="104985"/>
                    <a:pt x="15053" y="68643"/>
                    <a:pt x="41848" y="41848"/>
                  </a:cubicBezTo>
                  <a:cubicBezTo>
                    <a:pt x="68643" y="15053"/>
                    <a:pt x="104985" y="0"/>
                    <a:pt x="142879" y="0"/>
                  </a:cubicBez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753919" cy="323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000000"/>
                  </a:solidFill>
                  <a:latin typeface="Now Bold"/>
                  <a:ea typeface="Now Bold"/>
                  <a:cs typeface="Now Bold"/>
                  <a:sym typeface="Now Bold"/>
                </a:rPr>
                <a:t>PIC32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360960" y="3092884"/>
            <a:ext cx="2133235" cy="945557"/>
            <a:chOff x="0" y="0"/>
            <a:chExt cx="757734" cy="33586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57735" cy="335866"/>
            </a:xfrm>
            <a:custGeom>
              <a:avLst/>
              <a:gdLst/>
              <a:ahLst/>
              <a:cxnLst/>
              <a:rect r="r" b="b" t="t" l="l"/>
              <a:pathLst>
                <a:path h="335866" w="757735">
                  <a:moveTo>
                    <a:pt x="167933" y="0"/>
                  </a:moveTo>
                  <a:lnTo>
                    <a:pt x="589802" y="0"/>
                  </a:lnTo>
                  <a:cubicBezTo>
                    <a:pt x="682548" y="0"/>
                    <a:pt x="757735" y="75186"/>
                    <a:pt x="757735" y="167933"/>
                  </a:cubicBezTo>
                  <a:lnTo>
                    <a:pt x="757735" y="167933"/>
                  </a:lnTo>
                  <a:cubicBezTo>
                    <a:pt x="757735" y="260680"/>
                    <a:pt x="682548" y="335866"/>
                    <a:pt x="589802" y="335866"/>
                  </a:cubicBezTo>
                  <a:lnTo>
                    <a:pt x="167933" y="335866"/>
                  </a:lnTo>
                  <a:cubicBezTo>
                    <a:pt x="75186" y="335866"/>
                    <a:pt x="0" y="260680"/>
                    <a:pt x="0" y="167933"/>
                  </a:cubicBezTo>
                  <a:lnTo>
                    <a:pt x="0" y="167933"/>
                  </a:lnTo>
                  <a:cubicBezTo>
                    <a:pt x="0" y="75186"/>
                    <a:pt x="75186" y="0"/>
                    <a:pt x="167933" y="0"/>
                  </a:cubicBezTo>
                  <a:close/>
                </a:path>
              </a:pathLst>
            </a:custGeom>
            <a:solidFill>
              <a:srgbClr val="B753EE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757734" cy="3739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000000"/>
                  </a:solidFill>
                  <a:latin typeface="Now Bold"/>
                  <a:ea typeface="Now Bold"/>
                  <a:cs typeface="Now Bold"/>
                  <a:sym typeface="Now Bold"/>
                </a:rPr>
                <a:t>VOLTAJE DE ENTRADA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6154765" y="5450254"/>
            <a:ext cx="2133235" cy="928980"/>
            <a:chOff x="0" y="0"/>
            <a:chExt cx="757734" cy="32997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57735" cy="329978"/>
            </a:xfrm>
            <a:custGeom>
              <a:avLst/>
              <a:gdLst/>
              <a:ahLst/>
              <a:cxnLst/>
              <a:rect r="r" b="b" t="t" l="l"/>
              <a:pathLst>
                <a:path h="329978" w="757735">
                  <a:moveTo>
                    <a:pt x="164989" y="0"/>
                  </a:moveTo>
                  <a:lnTo>
                    <a:pt x="592746" y="0"/>
                  </a:lnTo>
                  <a:cubicBezTo>
                    <a:pt x="683866" y="0"/>
                    <a:pt x="757735" y="73868"/>
                    <a:pt x="757735" y="164989"/>
                  </a:cubicBezTo>
                  <a:lnTo>
                    <a:pt x="757735" y="164989"/>
                  </a:lnTo>
                  <a:cubicBezTo>
                    <a:pt x="757735" y="256110"/>
                    <a:pt x="683866" y="329978"/>
                    <a:pt x="592746" y="329978"/>
                  </a:cubicBezTo>
                  <a:lnTo>
                    <a:pt x="164989" y="329978"/>
                  </a:lnTo>
                  <a:cubicBezTo>
                    <a:pt x="73868" y="329978"/>
                    <a:pt x="0" y="256110"/>
                    <a:pt x="0" y="164989"/>
                  </a:cubicBezTo>
                  <a:lnTo>
                    <a:pt x="0" y="164989"/>
                  </a:lnTo>
                  <a:cubicBezTo>
                    <a:pt x="0" y="73868"/>
                    <a:pt x="73868" y="0"/>
                    <a:pt x="164989" y="0"/>
                  </a:cubicBezTo>
                  <a:close/>
                </a:path>
              </a:pathLst>
            </a:custGeom>
            <a:solidFill>
              <a:srgbClr val="F7030D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757734" cy="368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000000"/>
                  </a:solidFill>
                  <a:latin typeface="Now Bold"/>
                  <a:ea typeface="Now Bold"/>
                  <a:cs typeface="Now Bold"/>
                  <a:sym typeface="Now Bold"/>
                </a:rPr>
                <a:t>VOLTAJE DE SALIDA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1902139" y="5255786"/>
            <a:ext cx="3050877" cy="1393777"/>
            <a:chOff x="0" y="0"/>
            <a:chExt cx="1083685" cy="49507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83685" cy="495076"/>
            </a:xfrm>
            <a:custGeom>
              <a:avLst/>
              <a:gdLst/>
              <a:ahLst/>
              <a:cxnLst/>
              <a:rect r="r" b="b" t="t" l="l"/>
              <a:pathLst>
                <a:path h="495076" w="1083685">
                  <a:moveTo>
                    <a:pt x="129418" y="0"/>
                  </a:moveTo>
                  <a:lnTo>
                    <a:pt x="954267" y="0"/>
                  </a:lnTo>
                  <a:cubicBezTo>
                    <a:pt x="988591" y="0"/>
                    <a:pt x="1021509" y="13635"/>
                    <a:pt x="1045780" y="37906"/>
                  </a:cubicBezTo>
                  <a:cubicBezTo>
                    <a:pt x="1070050" y="62176"/>
                    <a:pt x="1083685" y="95094"/>
                    <a:pt x="1083685" y="129418"/>
                  </a:cubicBezTo>
                  <a:lnTo>
                    <a:pt x="1083685" y="365658"/>
                  </a:lnTo>
                  <a:cubicBezTo>
                    <a:pt x="1083685" y="399982"/>
                    <a:pt x="1070050" y="432900"/>
                    <a:pt x="1045780" y="457170"/>
                  </a:cubicBezTo>
                  <a:cubicBezTo>
                    <a:pt x="1021509" y="481441"/>
                    <a:pt x="988591" y="495076"/>
                    <a:pt x="954267" y="495076"/>
                  </a:cubicBezTo>
                  <a:lnTo>
                    <a:pt x="129418" y="495076"/>
                  </a:lnTo>
                  <a:cubicBezTo>
                    <a:pt x="95094" y="495076"/>
                    <a:pt x="62176" y="481441"/>
                    <a:pt x="37906" y="457170"/>
                  </a:cubicBezTo>
                  <a:cubicBezTo>
                    <a:pt x="13635" y="432900"/>
                    <a:pt x="0" y="399982"/>
                    <a:pt x="0" y="365658"/>
                  </a:cubicBezTo>
                  <a:lnTo>
                    <a:pt x="0" y="129418"/>
                  </a:lnTo>
                  <a:cubicBezTo>
                    <a:pt x="0" y="95094"/>
                    <a:pt x="13635" y="62176"/>
                    <a:pt x="37906" y="37906"/>
                  </a:cubicBezTo>
                  <a:cubicBezTo>
                    <a:pt x="62176" y="13635"/>
                    <a:pt x="95094" y="0"/>
                    <a:pt x="129418" y="0"/>
                  </a:cubicBezTo>
                  <a:close/>
                </a:path>
              </a:pathLst>
            </a:custGeom>
            <a:solidFill>
              <a:srgbClr val="FF9999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1083685" cy="5522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  <a:r>
                <a:rPr lang="en-US" b="true" sz="2299">
                  <a:solidFill>
                    <a:srgbClr val="000000"/>
                  </a:solidFill>
                  <a:latin typeface="Now Bold"/>
                  <a:ea typeface="Now Bold"/>
                  <a:cs typeface="Now Bold"/>
                  <a:sym typeface="Now Bold"/>
                </a:rPr>
                <a:t>CONVERTIDOR DC/DC BUCK BIDIRECCIONAL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3126106" y="4064904"/>
            <a:ext cx="602943" cy="1207821"/>
            <a:chOff x="0" y="0"/>
            <a:chExt cx="414788" cy="830907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14788" cy="830907"/>
            </a:xfrm>
            <a:custGeom>
              <a:avLst/>
              <a:gdLst/>
              <a:ahLst/>
              <a:cxnLst/>
              <a:rect r="r" b="b" t="t" l="l"/>
              <a:pathLst>
                <a:path h="830907" w="414788">
                  <a:moveTo>
                    <a:pt x="0" y="557857"/>
                  </a:moveTo>
                  <a:lnTo>
                    <a:pt x="207394" y="830907"/>
                  </a:lnTo>
                  <a:lnTo>
                    <a:pt x="414788" y="557857"/>
                  </a:lnTo>
                  <a:lnTo>
                    <a:pt x="281438" y="557857"/>
                  </a:lnTo>
                  <a:lnTo>
                    <a:pt x="281438" y="273050"/>
                  </a:lnTo>
                  <a:lnTo>
                    <a:pt x="414788" y="273050"/>
                  </a:lnTo>
                  <a:lnTo>
                    <a:pt x="207394" y="0"/>
                  </a:lnTo>
                  <a:lnTo>
                    <a:pt x="0" y="273050"/>
                  </a:lnTo>
                  <a:lnTo>
                    <a:pt x="133350" y="273050"/>
                  </a:lnTo>
                  <a:lnTo>
                    <a:pt x="133350" y="557857"/>
                  </a:lnTo>
                  <a:lnTo>
                    <a:pt x="0" y="557857"/>
                  </a:lnTo>
                  <a:close/>
                </a:path>
              </a:pathLst>
            </a:custGeom>
            <a:solidFill>
              <a:srgbClr val="FF751F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139700" y="63500"/>
              <a:ext cx="135388" cy="6658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-5400000">
            <a:off x="15253756" y="5291554"/>
            <a:ext cx="599557" cy="1201038"/>
            <a:chOff x="0" y="0"/>
            <a:chExt cx="414788" cy="830907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14788" cy="830907"/>
            </a:xfrm>
            <a:custGeom>
              <a:avLst/>
              <a:gdLst/>
              <a:ahLst/>
              <a:cxnLst/>
              <a:rect r="r" b="b" t="t" l="l"/>
              <a:pathLst>
                <a:path h="830907" w="414788">
                  <a:moveTo>
                    <a:pt x="0" y="557857"/>
                  </a:moveTo>
                  <a:lnTo>
                    <a:pt x="207394" y="830907"/>
                  </a:lnTo>
                  <a:lnTo>
                    <a:pt x="414788" y="557857"/>
                  </a:lnTo>
                  <a:lnTo>
                    <a:pt x="281438" y="557857"/>
                  </a:lnTo>
                  <a:lnTo>
                    <a:pt x="281438" y="273050"/>
                  </a:lnTo>
                  <a:lnTo>
                    <a:pt x="414788" y="273050"/>
                  </a:lnTo>
                  <a:lnTo>
                    <a:pt x="207394" y="0"/>
                  </a:lnTo>
                  <a:lnTo>
                    <a:pt x="0" y="273050"/>
                  </a:lnTo>
                  <a:lnTo>
                    <a:pt x="133350" y="273050"/>
                  </a:lnTo>
                  <a:lnTo>
                    <a:pt x="133350" y="557857"/>
                  </a:lnTo>
                  <a:lnTo>
                    <a:pt x="0" y="557857"/>
                  </a:lnTo>
                  <a:close/>
                </a:path>
              </a:pathLst>
            </a:custGeom>
            <a:solidFill>
              <a:srgbClr val="FF751F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139700" y="63500"/>
              <a:ext cx="135388" cy="6658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0694584" y="5632674"/>
            <a:ext cx="1207554" cy="507384"/>
            <a:chOff x="0" y="0"/>
            <a:chExt cx="1369847" cy="57557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369847" cy="575576"/>
            </a:xfrm>
            <a:custGeom>
              <a:avLst/>
              <a:gdLst/>
              <a:ahLst/>
              <a:cxnLst/>
              <a:rect r="r" b="b" t="t" l="l"/>
              <a:pathLst>
                <a:path h="575576" w="1369847">
                  <a:moveTo>
                    <a:pt x="1369847" y="287788"/>
                  </a:moveTo>
                  <a:lnTo>
                    <a:pt x="963447" y="0"/>
                  </a:lnTo>
                  <a:lnTo>
                    <a:pt x="963447" y="203200"/>
                  </a:lnTo>
                  <a:lnTo>
                    <a:pt x="0" y="203200"/>
                  </a:lnTo>
                  <a:lnTo>
                    <a:pt x="0" y="372376"/>
                  </a:lnTo>
                  <a:lnTo>
                    <a:pt x="963447" y="372376"/>
                  </a:lnTo>
                  <a:lnTo>
                    <a:pt x="963447" y="575576"/>
                  </a:lnTo>
                  <a:lnTo>
                    <a:pt x="1369847" y="287788"/>
                  </a:lnTo>
                  <a:close/>
                </a:path>
              </a:pathLst>
            </a:custGeom>
            <a:solidFill>
              <a:srgbClr val="FF751F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0" y="165100"/>
              <a:ext cx="1268247" cy="2072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-5400000">
            <a:off x="8988174" y="6699037"/>
            <a:ext cx="1436861" cy="603733"/>
            <a:chOff x="0" y="0"/>
            <a:chExt cx="1369847" cy="57557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369847" cy="575576"/>
            </a:xfrm>
            <a:custGeom>
              <a:avLst/>
              <a:gdLst/>
              <a:ahLst/>
              <a:cxnLst/>
              <a:rect r="r" b="b" t="t" l="l"/>
              <a:pathLst>
                <a:path h="575576" w="1369847">
                  <a:moveTo>
                    <a:pt x="1369847" y="287788"/>
                  </a:moveTo>
                  <a:lnTo>
                    <a:pt x="963447" y="0"/>
                  </a:lnTo>
                  <a:lnTo>
                    <a:pt x="963447" y="203200"/>
                  </a:lnTo>
                  <a:lnTo>
                    <a:pt x="0" y="203200"/>
                  </a:lnTo>
                  <a:lnTo>
                    <a:pt x="0" y="372376"/>
                  </a:lnTo>
                  <a:lnTo>
                    <a:pt x="963447" y="372376"/>
                  </a:lnTo>
                  <a:lnTo>
                    <a:pt x="963447" y="575576"/>
                  </a:lnTo>
                  <a:lnTo>
                    <a:pt x="1369847" y="287788"/>
                  </a:lnTo>
                  <a:close/>
                </a:path>
              </a:pathLst>
            </a:custGeom>
            <a:solidFill>
              <a:srgbClr val="FF751F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0" y="165100"/>
              <a:ext cx="1268247" cy="2072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8732817" y="7864464"/>
            <a:ext cx="2122494" cy="821071"/>
            <a:chOff x="0" y="0"/>
            <a:chExt cx="753919" cy="29164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53919" cy="291648"/>
            </a:xfrm>
            <a:custGeom>
              <a:avLst/>
              <a:gdLst/>
              <a:ahLst/>
              <a:cxnLst/>
              <a:rect r="r" b="b" t="t" l="l"/>
              <a:pathLst>
                <a:path h="291648" w="753919">
                  <a:moveTo>
                    <a:pt x="145824" y="0"/>
                  </a:moveTo>
                  <a:lnTo>
                    <a:pt x="608095" y="0"/>
                  </a:lnTo>
                  <a:cubicBezTo>
                    <a:pt x="646770" y="0"/>
                    <a:pt x="683861" y="15364"/>
                    <a:pt x="711208" y="42711"/>
                  </a:cubicBezTo>
                  <a:cubicBezTo>
                    <a:pt x="738556" y="70058"/>
                    <a:pt x="753919" y="107149"/>
                    <a:pt x="753919" y="145824"/>
                  </a:cubicBezTo>
                  <a:lnTo>
                    <a:pt x="753919" y="145824"/>
                  </a:lnTo>
                  <a:cubicBezTo>
                    <a:pt x="753919" y="226360"/>
                    <a:pt x="688632" y="291648"/>
                    <a:pt x="608095" y="291648"/>
                  </a:cubicBezTo>
                  <a:lnTo>
                    <a:pt x="145824" y="291648"/>
                  </a:lnTo>
                  <a:cubicBezTo>
                    <a:pt x="107149" y="291648"/>
                    <a:pt x="70058" y="276284"/>
                    <a:pt x="42711" y="248937"/>
                  </a:cubicBezTo>
                  <a:cubicBezTo>
                    <a:pt x="15364" y="221590"/>
                    <a:pt x="0" y="184499"/>
                    <a:pt x="0" y="145824"/>
                  </a:cubicBezTo>
                  <a:lnTo>
                    <a:pt x="0" y="145824"/>
                  </a:lnTo>
                  <a:cubicBezTo>
                    <a:pt x="0" y="107149"/>
                    <a:pt x="15364" y="70058"/>
                    <a:pt x="42711" y="42711"/>
                  </a:cubicBezTo>
                  <a:cubicBezTo>
                    <a:pt x="70058" y="15364"/>
                    <a:pt x="107149" y="0"/>
                    <a:pt x="145824" y="0"/>
                  </a:cubicBezTo>
                  <a:close/>
                </a:path>
              </a:pathLst>
            </a:custGeom>
            <a:solidFill>
              <a:srgbClr val="039FF7"/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753919" cy="329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000000"/>
                  </a:solidFill>
                  <a:latin typeface="Now Bold"/>
                  <a:ea typeface="Now Bold"/>
                  <a:cs typeface="Now Bold"/>
                  <a:sym typeface="Now Bold"/>
                </a:rPr>
                <a:t>INTERFAZ GRAFICA 2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5400000">
            <a:off x="12731576" y="7053618"/>
            <a:ext cx="1382147" cy="580744"/>
            <a:chOff x="0" y="0"/>
            <a:chExt cx="1369847" cy="57557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369847" cy="575576"/>
            </a:xfrm>
            <a:custGeom>
              <a:avLst/>
              <a:gdLst/>
              <a:ahLst/>
              <a:cxnLst/>
              <a:rect r="r" b="b" t="t" l="l"/>
              <a:pathLst>
                <a:path h="575576" w="1369847">
                  <a:moveTo>
                    <a:pt x="1369847" y="287788"/>
                  </a:moveTo>
                  <a:lnTo>
                    <a:pt x="963447" y="0"/>
                  </a:lnTo>
                  <a:lnTo>
                    <a:pt x="963447" y="203200"/>
                  </a:lnTo>
                  <a:lnTo>
                    <a:pt x="0" y="203200"/>
                  </a:lnTo>
                  <a:lnTo>
                    <a:pt x="0" y="372376"/>
                  </a:lnTo>
                  <a:lnTo>
                    <a:pt x="963447" y="372376"/>
                  </a:lnTo>
                  <a:lnTo>
                    <a:pt x="963447" y="575576"/>
                  </a:lnTo>
                  <a:lnTo>
                    <a:pt x="1369847" y="287788"/>
                  </a:lnTo>
                  <a:close/>
                </a:path>
              </a:pathLst>
            </a:custGeom>
            <a:solidFill>
              <a:srgbClr val="FF751F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4" id="64"/>
            <p:cNvSpPr txBox="true"/>
            <p:nvPr/>
          </p:nvSpPr>
          <p:spPr>
            <a:xfrm>
              <a:off x="0" y="165100"/>
              <a:ext cx="1268247" cy="2072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2292172" y="8035064"/>
            <a:ext cx="2202023" cy="727935"/>
            <a:chOff x="0" y="0"/>
            <a:chExt cx="782168" cy="25856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82168" cy="258566"/>
            </a:xfrm>
            <a:custGeom>
              <a:avLst/>
              <a:gdLst/>
              <a:ahLst/>
              <a:cxnLst/>
              <a:rect r="r" b="b" t="t" l="l"/>
              <a:pathLst>
                <a:path h="258566" w="782168">
                  <a:moveTo>
                    <a:pt x="129283" y="0"/>
                  </a:moveTo>
                  <a:lnTo>
                    <a:pt x="652886" y="0"/>
                  </a:lnTo>
                  <a:cubicBezTo>
                    <a:pt x="724287" y="0"/>
                    <a:pt x="782168" y="57882"/>
                    <a:pt x="782168" y="129283"/>
                  </a:cubicBezTo>
                  <a:lnTo>
                    <a:pt x="782168" y="129283"/>
                  </a:lnTo>
                  <a:cubicBezTo>
                    <a:pt x="782168" y="200684"/>
                    <a:pt x="724287" y="258566"/>
                    <a:pt x="652886" y="258566"/>
                  </a:cubicBezTo>
                  <a:lnTo>
                    <a:pt x="129283" y="258566"/>
                  </a:lnTo>
                  <a:cubicBezTo>
                    <a:pt x="57882" y="258566"/>
                    <a:pt x="0" y="200684"/>
                    <a:pt x="0" y="129283"/>
                  </a:cubicBezTo>
                  <a:lnTo>
                    <a:pt x="0" y="129283"/>
                  </a:lnTo>
                  <a:cubicBezTo>
                    <a:pt x="0" y="57882"/>
                    <a:pt x="57882" y="0"/>
                    <a:pt x="129283" y="0"/>
                  </a:cubicBez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782168" cy="2966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000000"/>
                  </a:solidFill>
                  <a:latin typeface="Now Bold"/>
                  <a:ea typeface="Now Bold"/>
                  <a:cs typeface="Now Bold"/>
                  <a:sym typeface="Now Bold"/>
                </a:rPr>
                <a:t>ESP32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-10800000">
            <a:off x="10855310" y="7973133"/>
            <a:ext cx="1436861" cy="603733"/>
            <a:chOff x="0" y="0"/>
            <a:chExt cx="1369847" cy="57557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369847" cy="575576"/>
            </a:xfrm>
            <a:custGeom>
              <a:avLst/>
              <a:gdLst/>
              <a:ahLst/>
              <a:cxnLst/>
              <a:rect r="r" b="b" t="t" l="l"/>
              <a:pathLst>
                <a:path h="575576" w="1369847">
                  <a:moveTo>
                    <a:pt x="1369847" y="287788"/>
                  </a:moveTo>
                  <a:lnTo>
                    <a:pt x="963447" y="0"/>
                  </a:lnTo>
                  <a:lnTo>
                    <a:pt x="963447" y="203200"/>
                  </a:lnTo>
                  <a:lnTo>
                    <a:pt x="0" y="203200"/>
                  </a:lnTo>
                  <a:lnTo>
                    <a:pt x="0" y="372376"/>
                  </a:lnTo>
                  <a:lnTo>
                    <a:pt x="963447" y="372376"/>
                  </a:lnTo>
                  <a:lnTo>
                    <a:pt x="963447" y="575576"/>
                  </a:lnTo>
                  <a:lnTo>
                    <a:pt x="1369847" y="287788"/>
                  </a:lnTo>
                  <a:close/>
                </a:path>
              </a:pathLst>
            </a:custGeom>
            <a:solidFill>
              <a:srgbClr val="FF751F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0" id="70"/>
            <p:cNvSpPr txBox="true"/>
            <p:nvPr/>
          </p:nvSpPr>
          <p:spPr>
            <a:xfrm>
              <a:off x="0" y="165100"/>
              <a:ext cx="1268247" cy="2072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353119" y="3003937"/>
            <a:ext cx="7281008" cy="1555724"/>
            <a:chOff x="0" y="0"/>
            <a:chExt cx="2465464" cy="5267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65464" cy="526793"/>
            </a:xfrm>
            <a:custGeom>
              <a:avLst/>
              <a:gdLst/>
              <a:ahLst/>
              <a:cxnLst/>
              <a:rect r="r" b="b" t="t" l="l"/>
              <a:pathLst>
                <a:path h="526793" w="2465464">
                  <a:moveTo>
                    <a:pt x="0" y="0"/>
                  </a:moveTo>
                  <a:lnTo>
                    <a:pt x="2262264" y="0"/>
                  </a:lnTo>
                  <a:lnTo>
                    <a:pt x="2465464" y="263396"/>
                  </a:lnTo>
                  <a:lnTo>
                    <a:pt x="2262264" y="526793"/>
                  </a:lnTo>
                  <a:lnTo>
                    <a:pt x="0" y="526793"/>
                  </a:lnTo>
                  <a:lnTo>
                    <a:pt x="203200" y="2633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99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77800" y="9525"/>
              <a:ext cx="2211464" cy="5172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0"/>
                </a:lnSpc>
              </a:pPr>
              <a:r>
                <a:rPr lang="en-US" b="true" sz="2400" spc="33">
                  <a:solidFill>
                    <a:srgbClr val="FFFFFF"/>
                  </a:solidFill>
                  <a:latin typeface="Now Bold"/>
                  <a:ea typeface="Now Bold"/>
                  <a:cs typeface="Now Bold"/>
                  <a:sym typeface="Now Bold"/>
                </a:rPr>
                <a:t>NIVEL 2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684139" y="4663928"/>
            <a:ext cx="5019151" cy="5504689"/>
            <a:chOff x="0" y="0"/>
            <a:chExt cx="1321916" cy="144979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21916" cy="1449795"/>
            </a:xfrm>
            <a:custGeom>
              <a:avLst/>
              <a:gdLst/>
              <a:ahLst/>
              <a:cxnLst/>
              <a:rect r="r" b="b" t="t" l="l"/>
              <a:pathLst>
                <a:path h="1449795" w="1321916">
                  <a:moveTo>
                    <a:pt x="0" y="0"/>
                  </a:moveTo>
                  <a:lnTo>
                    <a:pt x="1321916" y="0"/>
                  </a:lnTo>
                  <a:lnTo>
                    <a:pt x="1321916" y="1449795"/>
                  </a:lnTo>
                  <a:lnTo>
                    <a:pt x="0" y="1449795"/>
                  </a:ln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321916" cy="14878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346735" y="4663928"/>
            <a:ext cx="5293777" cy="5505158"/>
            <a:chOff x="0" y="0"/>
            <a:chExt cx="1394246" cy="144991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94246" cy="1449918"/>
            </a:xfrm>
            <a:custGeom>
              <a:avLst/>
              <a:gdLst/>
              <a:ahLst/>
              <a:cxnLst/>
              <a:rect r="r" b="b" t="t" l="l"/>
              <a:pathLst>
                <a:path h="1449918" w="1394246">
                  <a:moveTo>
                    <a:pt x="0" y="0"/>
                  </a:moveTo>
                  <a:lnTo>
                    <a:pt x="1394246" y="0"/>
                  </a:lnTo>
                  <a:lnTo>
                    <a:pt x="1394246" y="1449918"/>
                  </a:lnTo>
                  <a:lnTo>
                    <a:pt x="0" y="1449918"/>
                  </a:lnTo>
                  <a:close/>
                </a:path>
              </a:pathLst>
            </a:custGeom>
            <a:solidFill>
              <a:srgbClr val="FF999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394246" cy="14880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695245" y="4832732"/>
            <a:ext cx="4596758" cy="3956816"/>
            <a:chOff x="0" y="0"/>
            <a:chExt cx="6129011" cy="5275755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9525"/>
              <a:ext cx="6129011" cy="38597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29"/>
                </a:lnSpc>
              </a:pPr>
              <a:r>
                <a:rPr lang="en-US" b="true" sz="3156" spc="44">
                  <a:solidFill>
                    <a:srgbClr val="FFFFFF"/>
                  </a:solidFill>
                  <a:latin typeface="Now Bold"/>
                  <a:ea typeface="Now Bold"/>
                  <a:cs typeface="Now Bold"/>
                  <a:sym typeface="Now Bold"/>
                </a:rPr>
                <a:t>MONITOREO OCUPANDO INTERFAZ GRÁFICA:</a:t>
              </a:r>
            </a:p>
            <a:p>
              <a:pPr algn="l">
                <a:lnSpc>
                  <a:spcPts val="3284"/>
                </a:lnSpc>
              </a:pPr>
            </a:p>
            <a:p>
              <a:pPr algn="l" marL="530338" indent="-265169" lvl="1">
                <a:lnSpc>
                  <a:spcPts val="2824"/>
                </a:lnSpc>
                <a:buFont typeface="Arial"/>
                <a:buChar char="•"/>
              </a:pPr>
              <a:r>
                <a:rPr lang="en-US" b="true" sz="2456" spc="34">
                  <a:solidFill>
                    <a:srgbClr val="FFFFFF"/>
                  </a:solidFill>
                  <a:latin typeface="Now Bold"/>
                  <a:ea typeface="Now Bold"/>
                  <a:cs typeface="Now Bold"/>
                  <a:sym typeface="Now Bold"/>
                </a:rPr>
                <a:t>IMPLEMENTACION DE CODIGO EN CONJUNTO DE ITERFAZ GRAFICA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4567716"/>
              <a:ext cx="6129011" cy="7080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28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69793" y="715966"/>
            <a:ext cx="11447844" cy="1374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5"/>
              </a:lnSpc>
            </a:pPr>
            <a:r>
              <a:rPr lang="en-US" b="true" sz="4467" spc="1291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PLANIFICACIÓN DEL PROYECTO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3109172" y="3003937"/>
            <a:ext cx="6169086" cy="1555724"/>
            <a:chOff x="0" y="0"/>
            <a:chExt cx="2088950" cy="52679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88950" cy="526793"/>
            </a:xfrm>
            <a:custGeom>
              <a:avLst/>
              <a:gdLst/>
              <a:ahLst/>
              <a:cxnLst/>
              <a:rect r="r" b="b" t="t" l="l"/>
              <a:pathLst>
                <a:path h="526793" w="2088950">
                  <a:moveTo>
                    <a:pt x="0" y="0"/>
                  </a:moveTo>
                  <a:lnTo>
                    <a:pt x="1885750" y="0"/>
                  </a:lnTo>
                  <a:lnTo>
                    <a:pt x="2088950" y="263396"/>
                  </a:lnTo>
                  <a:lnTo>
                    <a:pt x="1885750" y="526793"/>
                  </a:lnTo>
                  <a:lnTo>
                    <a:pt x="0" y="526793"/>
                  </a:lnTo>
                  <a:lnTo>
                    <a:pt x="203200" y="2633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77800" y="9525"/>
              <a:ext cx="1834950" cy="5172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0"/>
                </a:lnSpc>
              </a:pPr>
              <a:r>
                <a:rPr lang="en-US" b="true" sz="2400" spc="33">
                  <a:solidFill>
                    <a:srgbClr val="FFFFFF"/>
                  </a:solidFill>
                  <a:latin typeface="Now Bold"/>
                  <a:ea typeface="Now Bold"/>
                  <a:cs typeface="Now Bold"/>
                  <a:sym typeface="Now Bold"/>
                </a:rPr>
                <a:t>NIVEL 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778951" y="4832732"/>
            <a:ext cx="4924340" cy="6397121"/>
            <a:chOff x="0" y="0"/>
            <a:chExt cx="6565786" cy="8529495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9525"/>
              <a:ext cx="6565786" cy="71135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29"/>
                </a:lnSpc>
              </a:pPr>
              <a:r>
                <a:rPr lang="en-US" b="true" sz="3156" spc="44">
                  <a:solidFill>
                    <a:srgbClr val="FFFFFF"/>
                  </a:solidFill>
                  <a:latin typeface="Now Bold"/>
                  <a:ea typeface="Now Bold"/>
                  <a:cs typeface="Now Bold"/>
                  <a:sym typeface="Now Bold"/>
                </a:rPr>
                <a:t>MICROCONTROLADOR ESP32:</a:t>
              </a:r>
            </a:p>
            <a:p>
              <a:pPr algn="l">
                <a:lnSpc>
                  <a:spcPts val="3629"/>
                </a:lnSpc>
              </a:pPr>
            </a:p>
            <a:p>
              <a:pPr algn="l" marL="530338" indent="-265169" lvl="1">
                <a:lnSpc>
                  <a:spcPts val="2824"/>
                </a:lnSpc>
                <a:buFont typeface="Arial"/>
                <a:buChar char="•"/>
              </a:pPr>
              <a:r>
                <a:rPr lang="en-US" b="true" sz="2456" spc="34">
                  <a:solidFill>
                    <a:srgbClr val="FFFFFF"/>
                  </a:solidFill>
                  <a:latin typeface="Now Bold"/>
                  <a:ea typeface="Now Bold"/>
                  <a:cs typeface="Now Bold"/>
                  <a:sym typeface="Now Bold"/>
                </a:rPr>
                <a:t>ESTUDIO DEL MICROCONTROLADOR</a:t>
              </a:r>
            </a:p>
            <a:p>
              <a:pPr algn="l">
                <a:lnSpc>
                  <a:spcPts val="2824"/>
                </a:lnSpc>
              </a:pPr>
            </a:p>
            <a:p>
              <a:pPr algn="l" marL="530338" indent="-265169" lvl="1">
                <a:lnSpc>
                  <a:spcPts val="2824"/>
                </a:lnSpc>
                <a:buFont typeface="Arial"/>
                <a:buChar char="•"/>
              </a:pPr>
              <a:r>
                <a:rPr lang="en-US" b="true" sz="2456" spc="34">
                  <a:solidFill>
                    <a:srgbClr val="FFFFFF"/>
                  </a:solidFill>
                  <a:latin typeface="Now Bold"/>
                  <a:ea typeface="Now Bold"/>
                  <a:cs typeface="Now Bold"/>
                  <a:sym typeface="Now Bold"/>
                </a:rPr>
                <a:t>FAMILIARIZACION CON EL KIT DE DESARROLLO</a:t>
              </a:r>
            </a:p>
            <a:p>
              <a:pPr algn="l">
                <a:lnSpc>
                  <a:spcPts val="2824"/>
                </a:lnSpc>
              </a:pPr>
            </a:p>
            <a:p>
              <a:pPr algn="l" marL="530338" indent="-265169" lvl="1">
                <a:lnSpc>
                  <a:spcPts val="2824"/>
                </a:lnSpc>
                <a:buFont typeface="Arial"/>
                <a:buChar char="•"/>
              </a:pPr>
              <a:r>
                <a:rPr lang="en-US" b="true" sz="2456" spc="34">
                  <a:solidFill>
                    <a:srgbClr val="FFFFFF"/>
                  </a:solidFill>
                  <a:latin typeface="Now Bold"/>
                  <a:ea typeface="Now Bold"/>
                  <a:cs typeface="Now Bold"/>
                  <a:sym typeface="Now Bold"/>
                </a:rPr>
                <a:t>PROGRAMACION DE MONITOREO REMOTO</a:t>
              </a:r>
            </a:p>
            <a:p>
              <a:pPr algn="l">
                <a:lnSpc>
                  <a:spcPts val="2824"/>
                </a:lnSpc>
              </a:pPr>
            </a:p>
            <a:p>
              <a:pPr algn="l" marL="530338" indent="-265169" lvl="1">
                <a:lnSpc>
                  <a:spcPts val="2824"/>
                </a:lnSpc>
                <a:buFont typeface="Arial"/>
                <a:buChar char="•"/>
              </a:pPr>
              <a:r>
                <a:rPr lang="en-US" b="true" sz="2456" spc="34">
                  <a:solidFill>
                    <a:srgbClr val="FFFFFF"/>
                  </a:solidFill>
                  <a:latin typeface="Now Bold"/>
                  <a:ea typeface="Now Bold"/>
                  <a:cs typeface="Now Bold"/>
                  <a:sym typeface="Now Bold"/>
                </a:rPr>
                <a:t>IMPLEMENTACION DE CODIGO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7821455"/>
              <a:ext cx="6128458" cy="7080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28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473760"/>
            <a:ext cx="18582933" cy="7958328"/>
            <a:chOff x="0" y="0"/>
            <a:chExt cx="4894271" cy="20960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4271" cy="2096021"/>
            </a:xfrm>
            <a:custGeom>
              <a:avLst/>
              <a:gdLst/>
              <a:ahLst/>
              <a:cxnLst/>
              <a:rect r="r" b="b" t="t" l="l"/>
              <a:pathLst>
                <a:path h="2096021" w="4894271">
                  <a:moveTo>
                    <a:pt x="0" y="0"/>
                  </a:moveTo>
                  <a:lnTo>
                    <a:pt x="4894271" y="0"/>
                  </a:lnTo>
                  <a:lnTo>
                    <a:pt x="4894271" y="2096021"/>
                  </a:lnTo>
                  <a:lnTo>
                    <a:pt x="0" y="2096021"/>
                  </a:lnTo>
                  <a:close/>
                </a:path>
              </a:pathLst>
            </a:custGeom>
            <a:solidFill>
              <a:srgbClr val="F7030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94271" cy="2134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930634" y="3066333"/>
            <a:ext cx="10721666" cy="3835254"/>
          </a:xfrm>
          <a:custGeom>
            <a:avLst/>
            <a:gdLst/>
            <a:ahLst/>
            <a:cxnLst/>
            <a:rect r="r" b="b" t="t" l="l"/>
            <a:pathLst>
              <a:path h="3835254" w="10721666">
                <a:moveTo>
                  <a:pt x="0" y="0"/>
                </a:moveTo>
                <a:lnTo>
                  <a:pt x="10721665" y="0"/>
                </a:lnTo>
                <a:lnTo>
                  <a:pt x="10721665" y="3835254"/>
                </a:lnTo>
                <a:lnTo>
                  <a:pt x="0" y="3835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65650" y="588548"/>
            <a:ext cx="10355863" cy="1214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2"/>
              </a:lnSpc>
            </a:pPr>
            <a:r>
              <a:rPr lang="en-US" b="true" sz="4001" spc="1156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PLANIFICACIÓN DEL PROYECTO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126363" y="7700810"/>
            <a:ext cx="8330208" cy="1065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95"/>
              </a:lnSpc>
            </a:pPr>
            <a:r>
              <a:rPr lang="en-US" sz="3068" b="true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Duración estimada del proyecto 2</a:t>
            </a:r>
            <a:r>
              <a:rPr lang="en-US" sz="3068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: 22 días</a:t>
            </a:r>
          </a:p>
          <a:p>
            <a:pPr algn="l">
              <a:lnSpc>
                <a:spcPts val="4295"/>
              </a:lnSpc>
              <a:spcBef>
                <a:spcPct val="0"/>
              </a:spcBef>
            </a:pPr>
            <a:r>
              <a:rPr lang="en-US" b="true" sz="3068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Duración real del proyecto 2:</a:t>
            </a:r>
            <a:r>
              <a:rPr lang="en-US" sz="3068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 40 días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328672"/>
            <a:ext cx="18582933" cy="7958328"/>
            <a:chOff x="0" y="0"/>
            <a:chExt cx="4894271" cy="20960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4271" cy="2096021"/>
            </a:xfrm>
            <a:custGeom>
              <a:avLst/>
              <a:gdLst/>
              <a:ahLst/>
              <a:cxnLst/>
              <a:rect r="r" b="b" t="t" l="l"/>
              <a:pathLst>
                <a:path h="2096021" w="4894271">
                  <a:moveTo>
                    <a:pt x="0" y="0"/>
                  </a:moveTo>
                  <a:lnTo>
                    <a:pt x="4894271" y="0"/>
                  </a:lnTo>
                  <a:lnTo>
                    <a:pt x="4894271" y="2096021"/>
                  </a:lnTo>
                  <a:lnTo>
                    <a:pt x="0" y="2096021"/>
                  </a:lnTo>
                  <a:close/>
                </a:path>
              </a:pathLst>
            </a:custGeom>
            <a:solidFill>
              <a:srgbClr val="F7030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94271" cy="2134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2328672"/>
            <a:ext cx="10786958" cy="5073957"/>
          </a:xfrm>
          <a:custGeom>
            <a:avLst/>
            <a:gdLst/>
            <a:ahLst/>
            <a:cxnLst/>
            <a:rect r="r" b="b" t="t" l="l"/>
            <a:pathLst>
              <a:path h="5073957" w="10786958">
                <a:moveTo>
                  <a:pt x="0" y="0"/>
                </a:moveTo>
                <a:lnTo>
                  <a:pt x="10786958" y="0"/>
                </a:lnTo>
                <a:lnTo>
                  <a:pt x="10786958" y="5073957"/>
                </a:lnTo>
                <a:lnTo>
                  <a:pt x="0" y="50739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67" t="0" r="-867" b="-5979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77432" y="3993057"/>
            <a:ext cx="4291632" cy="553068"/>
          </a:xfrm>
          <a:custGeom>
            <a:avLst/>
            <a:gdLst/>
            <a:ahLst/>
            <a:cxnLst/>
            <a:rect r="r" b="b" t="t" l="l"/>
            <a:pathLst>
              <a:path h="553068" w="4291632">
                <a:moveTo>
                  <a:pt x="0" y="0"/>
                </a:moveTo>
                <a:lnTo>
                  <a:pt x="4291632" y="0"/>
                </a:lnTo>
                <a:lnTo>
                  <a:pt x="4291632" y="553068"/>
                </a:lnTo>
                <a:lnTo>
                  <a:pt x="0" y="5530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412489" r="-169842" b="-346006"/>
            </a:stretch>
          </a:blipFill>
          <a:ln w="85725" cap="sq">
            <a:solidFill>
              <a:srgbClr val="0003FF"/>
            </a:solidFill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1507498" y="7210820"/>
            <a:ext cx="5498506" cy="1870131"/>
          </a:xfrm>
          <a:custGeom>
            <a:avLst/>
            <a:gdLst/>
            <a:ahLst/>
            <a:cxnLst/>
            <a:rect r="r" b="b" t="t" l="l"/>
            <a:pathLst>
              <a:path h="1870131" w="5498506">
                <a:moveTo>
                  <a:pt x="0" y="0"/>
                </a:moveTo>
                <a:lnTo>
                  <a:pt x="5498506" y="0"/>
                </a:lnTo>
                <a:lnTo>
                  <a:pt x="5498506" y="1870132"/>
                </a:lnTo>
                <a:lnTo>
                  <a:pt x="0" y="18701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1576" y="424182"/>
            <a:ext cx="13176513" cy="604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2"/>
              </a:lnSpc>
            </a:pPr>
            <a:r>
              <a:rPr lang="en-US" b="true" sz="4001" spc="1156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PROPUESTA SOLUCIÓN:NIVEL1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-278780" y="1534729"/>
            <a:ext cx="7477643" cy="688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ESP32 DevKit V1 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301259" y="3594648"/>
            <a:ext cx="6654943" cy="5321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9"/>
              </a:lnSpc>
              <a:spcBef>
                <a:spcPct val="0"/>
              </a:spcBef>
            </a:pPr>
            <a:r>
              <a:rPr lang="en-US" b="true" sz="2437" spc="704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 USO DE PINES:</a:t>
            </a:r>
          </a:p>
          <a:p>
            <a:pPr algn="l">
              <a:lnSpc>
                <a:spcPts val="3195"/>
              </a:lnSpc>
              <a:spcBef>
                <a:spcPct val="0"/>
              </a:spcBef>
            </a:pPr>
          </a:p>
          <a:p>
            <a:pPr algn="l" marL="460609" indent="-230305" lvl="1">
              <a:lnSpc>
                <a:spcPts val="258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33" spc="616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GPIO 34 Y GPIO 35(VDET)</a:t>
            </a:r>
          </a:p>
          <a:p>
            <a:pPr algn="l">
              <a:lnSpc>
                <a:spcPts val="2581"/>
              </a:lnSpc>
              <a:spcBef>
                <a:spcPct val="0"/>
              </a:spcBef>
            </a:pPr>
          </a:p>
          <a:p>
            <a:pPr algn="l" marL="460609" indent="-230305" lvl="1">
              <a:lnSpc>
                <a:spcPts val="258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33" spc="616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ESTRATEGIA DE CONVERSIÓN ADC1</a:t>
            </a:r>
          </a:p>
          <a:p>
            <a:pPr algn="l">
              <a:lnSpc>
                <a:spcPts val="2581"/>
              </a:lnSpc>
              <a:spcBef>
                <a:spcPct val="0"/>
              </a:spcBef>
            </a:pPr>
          </a:p>
          <a:p>
            <a:pPr algn="l" marL="460609" indent="-230305" lvl="1">
              <a:lnSpc>
                <a:spcPts val="258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33" spc="616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RESOLUCIÓN DE 12-BIT</a:t>
            </a:r>
          </a:p>
          <a:p>
            <a:pPr algn="l">
              <a:lnSpc>
                <a:spcPts val="2581"/>
              </a:lnSpc>
              <a:spcBef>
                <a:spcPct val="0"/>
              </a:spcBef>
            </a:pPr>
          </a:p>
          <a:p>
            <a:pPr algn="l">
              <a:lnSpc>
                <a:spcPts val="2581"/>
              </a:lnSpc>
              <a:spcBef>
                <a:spcPct val="0"/>
              </a:spcBef>
            </a:pPr>
          </a:p>
          <a:p>
            <a:pPr algn="l">
              <a:lnSpc>
                <a:spcPts val="2581"/>
              </a:lnSpc>
              <a:spcBef>
                <a:spcPct val="0"/>
              </a:spcBef>
            </a:pPr>
          </a:p>
          <a:p>
            <a:pPr algn="l">
              <a:lnSpc>
                <a:spcPts val="2581"/>
              </a:lnSpc>
              <a:spcBef>
                <a:spcPct val="0"/>
              </a:spcBef>
            </a:pPr>
          </a:p>
          <a:p>
            <a:pPr algn="l">
              <a:lnSpc>
                <a:spcPts val="2581"/>
              </a:lnSpc>
              <a:spcBef>
                <a:spcPct val="0"/>
              </a:spcBef>
            </a:pPr>
          </a:p>
          <a:p>
            <a:pPr algn="l">
              <a:lnSpc>
                <a:spcPts val="2581"/>
              </a:lnSpc>
              <a:spcBef>
                <a:spcPct val="0"/>
              </a:spcBef>
            </a:pPr>
          </a:p>
          <a:p>
            <a:pPr algn="l">
              <a:lnSpc>
                <a:spcPts val="2581"/>
              </a:lnSpc>
            </a:pPr>
          </a:p>
          <a:p>
            <a:pPr algn="l">
              <a:lnSpc>
                <a:spcPts val="3195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473760"/>
            <a:ext cx="18582933" cy="7958328"/>
            <a:chOff x="0" y="0"/>
            <a:chExt cx="4894271" cy="20960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4271" cy="2096021"/>
            </a:xfrm>
            <a:custGeom>
              <a:avLst/>
              <a:gdLst/>
              <a:ahLst/>
              <a:cxnLst/>
              <a:rect r="r" b="b" t="t" l="l"/>
              <a:pathLst>
                <a:path h="2096021" w="4894271">
                  <a:moveTo>
                    <a:pt x="0" y="0"/>
                  </a:moveTo>
                  <a:lnTo>
                    <a:pt x="4894271" y="0"/>
                  </a:lnTo>
                  <a:lnTo>
                    <a:pt x="4894271" y="2096021"/>
                  </a:lnTo>
                  <a:lnTo>
                    <a:pt x="0" y="2096021"/>
                  </a:lnTo>
                  <a:close/>
                </a:path>
              </a:pathLst>
            </a:custGeom>
            <a:solidFill>
              <a:srgbClr val="F7030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94271" cy="2134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889533" y="3230484"/>
            <a:ext cx="5369767" cy="5369767"/>
          </a:xfrm>
          <a:custGeom>
            <a:avLst/>
            <a:gdLst/>
            <a:ahLst/>
            <a:cxnLst/>
            <a:rect r="r" b="b" t="t" l="l"/>
            <a:pathLst>
              <a:path h="5369767" w="5369767">
                <a:moveTo>
                  <a:pt x="0" y="0"/>
                </a:moveTo>
                <a:lnTo>
                  <a:pt x="5369767" y="0"/>
                </a:lnTo>
                <a:lnTo>
                  <a:pt x="5369767" y="5369767"/>
                </a:lnTo>
                <a:lnTo>
                  <a:pt x="0" y="53697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351577" y="2043576"/>
            <a:ext cx="4567844" cy="3871792"/>
          </a:xfrm>
          <a:custGeom>
            <a:avLst/>
            <a:gdLst/>
            <a:ahLst/>
            <a:cxnLst/>
            <a:rect r="r" b="b" t="t" l="l"/>
            <a:pathLst>
              <a:path h="3871792" w="4567844">
                <a:moveTo>
                  <a:pt x="0" y="0"/>
                </a:moveTo>
                <a:lnTo>
                  <a:pt x="4567845" y="0"/>
                </a:lnTo>
                <a:lnTo>
                  <a:pt x="4567845" y="3871792"/>
                </a:lnTo>
                <a:lnTo>
                  <a:pt x="0" y="38717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17781" y="5915368"/>
            <a:ext cx="10804726" cy="4308633"/>
          </a:xfrm>
          <a:custGeom>
            <a:avLst/>
            <a:gdLst/>
            <a:ahLst/>
            <a:cxnLst/>
            <a:rect r="r" b="b" t="t" l="l"/>
            <a:pathLst>
              <a:path h="4308633" w="10804726">
                <a:moveTo>
                  <a:pt x="0" y="0"/>
                </a:moveTo>
                <a:lnTo>
                  <a:pt x="10804726" y="0"/>
                </a:lnTo>
                <a:lnTo>
                  <a:pt x="10804726" y="4308633"/>
                </a:lnTo>
                <a:lnTo>
                  <a:pt x="0" y="43086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1576" y="424182"/>
            <a:ext cx="13176513" cy="604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2"/>
              </a:lnSpc>
            </a:pPr>
            <a:r>
              <a:rPr lang="en-US" b="true" sz="4001" spc="1156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PROPUESTA SOLUCIÓN:NIVEL1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-426246" y="1373159"/>
            <a:ext cx="16691336" cy="670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27"/>
              </a:lnSpc>
              <a:spcBef>
                <a:spcPct val="0"/>
              </a:spcBef>
            </a:pPr>
            <a:r>
              <a:rPr lang="en-US" b="true" sz="3876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Módulo de Comunicación y Procesamiento: ESP-WROOM-32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47104" y="1867496"/>
            <a:ext cx="18582933" cy="7958328"/>
            <a:chOff x="0" y="0"/>
            <a:chExt cx="4894271" cy="20960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4271" cy="2096021"/>
            </a:xfrm>
            <a:custGeom>
              <a:avLst/>
              <a:gdLst/>
              <a:ahLst/>
              <a:cxnLst/>
              <a:rect r="r" b="b" t="t" l="l"/>
              <a:pathLst>
                <a:path h="2096021" w="4894271">
                  <a:moveTo>
                    <a:pt x="0" y="0"/>
                  </a:moveTo>
                  <a:lnTo>
                    <a:pt x="4894271" y="0"/>
                  </a:lnTo>
                  <a:lnTo>
                    <a:pt x="4894271" y="2096021"/>
                  </a:lnTo>
                  <a:lnTo>
                    <a:pt x="0" y="2096021"/>
                  </a:lnTo>
                  <a:close/>
                </a:path>
              </a:pathLst>
            </a:custGeom>
            <a:solidFill>
              <a:srgbClr val="F7030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94271" cy="2134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71576" y="2043576"/>
            <a:ext cx="7397130" cy="7814799"/>
          </a:xfrm>
          <a:custGeom>
            <a:avLst/>
            <a:gdLst/>
            <a:ahLst/>
            <a:cxnLst/>
            <a:rect r="r" b="b" t="t" l="l"/>
            <a:pathLst>
              <a:path h="7814799" w="7397130">
                <a:moveTo>
                  <a:pt x="0" y="0"/>
                </a:moveTo>
                <a:lnTo>
                  <a:pt x="7397131" y="0"/>
                </a:lnTo>
                <a:lnTo>
                  <a:pt x="7397131" y="7814799"/>
                </a:lnTo>
                <a:lnTo>
                  <a:pt x="0" y="78147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144000" y="3304247"/>
            <a:ext cx="6891521" cy="5697150"/>
          </a:xfrm>
          <a:custGeom>
            <a:avLst/>
            <a:gdLst/>
            <a:ahLst/>
            <a:cxnLst/>
            <a:rect r="r" b="b" t="t" l="l"/>
            <a:pathLst>
              <a:path h="5697150" w="6891521">
                <a:moveTo>
                  <a:pt x="0" y="0"/>
                </a:moveTo>
                <a:lnTo>
                  <a:pt x="6891521" y="0"/>
                </a:lnTo>
                <a:lnTo>
                  <a:pt x="6891521" y="5697150"/>
                </a:lnTo>
                <a:lnTo>
                  <a:pt x="0" y="56971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1576" y="424182"/>
            <a:ext cx="13176513" cy="604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2"/>
              </a:lnSpc>
            </a:pPr>
            <a:r>
              <a:rPr lang="en-US" b="true" sz="4001" spc="1156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PROPUESTA SOLUCIÓN:NIVEL1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-426246" y="1373159"/>
            <a:ext cx="16691336" cy="670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27"/>
              </a:lnSpc>
              <a:spcBef>
                <a:spcPct val="0"/>
              </a:spcBef>
            </a:pPr>
            <a:r>
              <a:rPr lang="en-US" b="true" sz="3876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Módulo de Comunicación y Procesamiento: ESP-WROOM-32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47104" y="1867496"/>
            <a:ext cx="18582933" cy="7958328"/>
            <a:chOff x="0" y="0"/>
            <a:chExt cx="4894271" cy="20960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4271" cy="2096021"/>
            </a:xfrm>
            <a:custGeom>
              <a:avLst/>
              <a:gdLst/>
              <a:ahLst/>
              <a:cxnLst/>
              <a:rect r="r" b="b" t="t" l="l"/>
              <a:pathLst>
                <a:path h="2096021" w="4894271">
                  <a:moveTo>
                    <a:pt x="0" y="0"/>
                  </a:moveTo>
                  <a:lnTo>
                    <a:pt x="4894271" y="0"/>
                  </a:lnTo>
                  <a:lnTo>
                    <a:pt x="4894271" y="2096021"/>
                  </a:lnTo>
                  <a:lnTo>
                    <a:pt x="0" y="2096021"/>
                  </a:lnTo>
                  <a:close/>
                </a:path>
              </a:pathLst>
            </a:custGeom>
            <a:solidFill>
              <a:srgbClr val="F7030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94271" cy="2134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489787" y="2988560"/>
            <a:ext cx="7716603" cy="5456329"/>
          </a:xfrm>
          <a:custGeom>
            <a:avLst/>
            <a:gdLst/>
            <a:ahLst/>
            <a:cxnLst/>
            <a:rect r="r" b="b" t="t" l="l"/>
            <a:pathLst>
              <a:path h="5456329" w="7716603">
                <a:moveTo>
                  <a:pt x="0" y="0"/>
                </a:moveTo>
                <a:lnTo>
                  <a:pt x="7716603" y="0"/>
                </a:lnTo>
                <a:lnTo>
                  <a:pt x="7716603" y="5456329"/>
                </a:lnTo>
                <a:lnTo>
                  <a:pt x="0" y="54563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95639" y="2988560"/>
            <a:ext cx="6223783" cy="5370147"/>
          </a:xfrm>
          <a:custGeom>
            <a:avLst/>
            <a:gdLst/>
            <a:ahLst/>
            <a:cxnLst/>
            <a:rect r="r" b="b" t="t" l="l"/>
            <a:pathLst>
              <a:path h="5370147" w="6223783">
                <a:moveTo>
                  <a:pt x="0" y="0"/>
                </a:moveTo>
                <a:lnTo>
                  <a:pt x="6223783" y="0"/>
                </a:lnTo>
                <a:lnTo>
                  <a:pt x="6223783" y="5370147"/>
                </a:lnTo>
                <a:lnTo>
                  <a:pt x="0" y="53701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1576" y="424182"/>
            <a:ext cx="13176513" cy="604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2"/>
              </a:lnSpc>
            </a:pPr>
            <a:r>
              <a:rPr lang="en-US" b="true" sz="4001" spc="1156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PROPUESTA SOLUCIÓN:NIVEL1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-426246" y="1373159"/>
            <a:ext cx="16691336" cy="1353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27"/>
              </a:lnSpc>
            </a:pPr>
            <a:r>
              <a:rPr lang="en-US" sz="3876" b="true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Entorno de programacion</a:t>
            </a:r>
          </a:p>
          <a:p>
            <a:pPr algn="ctr" marL="0" indent="0" lvl="0">
              <a:lnSpc>
                <a:spcPts val="542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473760"/>
            <a:ext cx="18582933" cy="7958328"/>
            <a:chOff x="0" y="0"/>
            <a:chExt cx="4894271" cy="20960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4271" cy="2096021"/>
            </a:xfrm>
            <a:custGeom>
              <a:avLst/>
              <a:gdLst/>
              <a:ahLst/>
              <a:cxnLst/>
              <a:rect r="r" b="b" t="t" l="l"/>
              <a:pathLst>
                <a:path h="2096021" w="4894271">
                  <a:moveTo>
                    <a:pt x="0" y="0"/>
                  </a:moveTo>
                  <a:lnTo>
                    <a:pt x="4894271" y="0"/>
                  </a:lnTo>
                  <a:lnTo>
                    <a:pt x="4894271" y="2096021"/>
                  </a:lnTo>
                  <a:lnTo>
                    <a:pt x="0" y="2096021"/>
                  </a:lnTo>
                  <a:close/>
                </a:path>
              </a:pathLst>
            </a:custGeom>
            <a:solidFill>
              <a:srgbClr val="F7030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94271" cy="2134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2473760"/>
            <a:ext cx="11850082" cy="7813240"/>
          </a:xfrm>
          <a:custGeom>
            <a:avLst/>
            <a:gdLst/>
            <a:ahLst/>
            <a:cxnLst/>
            <a:rect r="r" b="b" t="t" l="l"/>
            <a:pathLst>
              <a:path h="7813240" w="11850082">
                <a:moveTo>
                  <a:pt x="0" y="0"/>
                </a:moveTo>
                <a:lnTo>
                  <a:pt x="11850082" y="0"/>
                </a:lnTo>
                <a:lnTo>
                  <a:pt x="11850082" y="7813240"/>
                </a:lnTo>
                <a:lnTo>
                  <a:pt x="0" y="78132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34" r="0" b="-334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-193424" y="1336892"/>
            <a:ext cx="6536346" cy="688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DIVISORES DE VOLTAJE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8980" y="214632"/>
            <a:ext cx="13176513" cy="604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2"/>
              </a:lnSpc>
            </a:pPr>
            <a:r>
              <a:rPr lang="en-US" b="true" sz="4001" spc="1156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PROPUESTA SOLUCIÓN:NIVEL1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94933" y="2328672"/>
            <a:ext cx="18582933" cy="7958328"/>
            <a:chOff x="0" y="0"/>
            <a:chExt cx="4894271" cy="20960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4271" cy="2096021"/>
            </a:xfrm>
            <a:custGeom>
              <a:avLst/>
              <a:gdLst/>
              <a:ahLst/>
              <a:cxnLst/>
              <a:rect r="r" b="b" t="t" l="l"/>
              <a:pathLst>
                <a:path h="2096021" w="4894271">
                  <a:moveTo>
                    <a:pt x="0" y="0"/>
                  </a:moveTo>
                  <a:lnTo>
                    <a:pt x="4894271" y="0"/>
                  </a:lnTo>
                  <a:lnTo>
                    <a:pt x="4894271" y="2096021"/>
                  </a:lnTo>
                  <a:lnTo>
                    <a:pt x="0" y="2096021"/>
                  </a:lnTo>
                  <a:close/>
                </a:path>
              </a:pathLst>
            </a:custGeom>
            <a:solidFill>
              <a:srgbClr val="F7030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94271" cy="2134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8980" y="4112451"/>
            <a:ext cx="8777549" cy="5780337"/>
          </a:xfrm>
          <a:custGeom>
            <a:avLst/>
            <a:gdLst/>
            <a:ahLst/>
            <a:cxnLst/>
            <a:rect r="r" b="b" t="t" l="l"/>
            <a:pathLst>
              <a:path h="5780337" w="8777549">
                <a:moveTo>
                  <a:pt x="0" y="0"/>
                </a:moveTo>
                <a:lnTo>
                  <a:pt x="8777549" y="0"/>
                </a:lnTo>
                <a:lnTo>
                  <a:pt x="8777549" y="5780337"/>
                </a:lnTo>
                <a:lnTo>
                  <a:pt x="0" y="57803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335438" y="4051801"/>
            <a:ext cx="7550017" cy="5840987"/>
          </a:xfrm>
          <a:custGeom>
            <a:avLst/>
            <a:gdLst/>
            <a:ahLst/>
            <a:cxnLst/>
            <a:rect r="r" b="b" t="t" l="l"/>
            <a:pathLst>
              <a:path h="5840987" w="7550017">
                <a:moveTo>
                  <a:pt x="0" y="0"/>
                </a:moveTo>
                <a:lnTo>
                  <a:pt x="7550016" y="0"/>
                </a:lnTo>
                <a:lnTo>
                  <a:pt x="7550016" y="5840987"/>
                </a:lnTo>
                <a:lnTo>
                  <a:pt x="0" y="58409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-193424" y="1336892"/>
            <a:ext cx="10528861" cy="688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SIMULACION DIVISORES DE VOLTAJE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8980" y="214632"/>
            <a:ext cx="13176513" cy="604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2"/>
              </a:lnSpc>
            </a:pPr>
            <a:r>
              <a:rPr lang="en-US" b="true" sz="4001" spc="1156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PROPUESTA SOLUCIÓN:NIVEL1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83336" y="2778950"/>
            <a:ext cx="3969609" cy="514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MODO BUCK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731628" y="2778950"/>
            <a:ext cx="3969609" cy="514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MODO BOOST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473760"/>
            <a:ext cx="18582933" cy="7958328"/>
            <a:chOff x="0" y="0"/>
            <a:chExt cx="4894271" cy="20960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4271" cy="2096021"/>
            </a:xfrm>
            <a:custGeom>
              <a:avLst/>
              <a:gdLst/>
              <a:ahLst/>
              <a:cxnLst/>
              <a:rect r="r" b="b" t="t" l="l"/>
              <a:pathLst>
                <a:path h="2096021" w="4894271">
                  <a:moveTo>
                    <a:pt x="0" y="0"/>
                  </a:moveTo>
                  <a:lnTo>
                    <a:pt x="4894271" y="0"/>
                  </a:lnTo>
                  <a:lnTo>
                    <a:pt x="4894271" y="2096021"/>
                  </a:lnTo>
                  <a:lnTo>
                    <a:pt x="0" y="2096021"/>
                  </a:lnTo>
                  <a:close/>
                </a:path>
              </a:pathLst>
            </a:custGeom>
            <a:solidFill>
              <a:srgbClr val="F7030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94271" cy="2134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028700"/>
            <a:ext cx="18288000" cy="1613455"/>
            <a:chOff x="0" y="0"/>
            <a:chExt cx="4816593" cy="42494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424943"/>
            </a:xfrm>
            <a:custGeom>
              <a:avLst/>
              <a:gdLst/>
              <a:ahLst/>
              <a:cxnLst/>
              <a:rect r="r" b="b" t="t" l="l"/>
              <a:pathLst>
                <a:path h="42494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24943"/>
                  </a:lnTo>
                  <a:lnTo>
                    <a:pt x="0" y="424943"/>
                  </a:ln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4816593" cy="491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39"/>
                </a:lnSpc>
              </a:pPr>
              <a:r>
                <a:rPr lang="en-US" sz="30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Comunicación Inalámbrica 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16449" y="2975353"/>
            <a:ext cx="6383782" cy="2346133"/>
          </a:xfrm>
          <a:custGeom>
            <a:avLst/>
            <a:gdLst/>
            <a:ahLst/>
            <a:cxnLst/>
            <a:rect r="r" b="b" t="t" l="l"/>
            <a:pathLst>
              <a:path h="2346133" w="6383782">
                <a:moveTo>
                  <a:pt x="0" y="0"/>
                </a:moveTo>
                <a:lnTo>
                  <a:pt x="6383782" y="0"/>
                </a:lnTo>
                <a:lnTo>
                  <a:pt x="6383782" y="2346133"/>
                </a:lnTo>
                <a:lnTo>
                  <a:pt x="0" y="23461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36049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3467904" y="6649563"/>
            <a:ext cx="1779677" cy="673949"/>
            <a:chOff x="0" y="0"/>
            <a:chExt cx="632149" cy="23939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2149" cy="239390"/>
            </a:xfrm>
            <a:custGeom>
              <a:avLst/>
              <a:gdLst/>
              <a:ahLst/>
              <a:cxnLst/>
              <a:rect r="r" b="b" t="t" l="l"/>
              <a:pathLst>
                <a:path h="239390" w="632149">
                  <a:moveTo>
                    <a:pt x="119695" y="0"/>
                  </a:moveTo>
                  <a:lnTo>
                    <a:pt x="512454" y="0"/>
                  </a:lnTo>
                  <a:cubicBezTo>
                    <a:pt x="544200" y="0"/>
                    <a:pt x="574644" y="12611"/>
                    <a:pt x="597092" y="35058"/>
                  </a:cubicBezTo>
                  <a:cubicBezTo>
                    <a:pt x="619539" y="57505"/>
                    <a:pt x="632149" y="87950"/>
                    <a:pt x="632149" y="119695"/>
                  </a:cubicBezTo>
                  <a:lnTo>
                    <a:pt x="632149" y="119695"/>
                  </a:lnTo>
                  <a:cubicBezTo>
                    <a:pt x="632149" y="151440"/>
                    <a:pt x="619539" y="181885"/>
                    <a:pt x="597092" y="204332"/>
                  </a:cubicBezTo>
                  <a:cubicBezTo>
                    <a:pt x="574644" y="226779"/>
                    <a:pt x="544200" y="239390"/>
                    <a:pt x="512454" y="239390"/>
                  </a:cubicBezTo>
                  <a:lnTo>
                    <a:pt x="119695" y="239390"/>
                  </a:lnTo>
                  <a:cubicBezTo>
                    <a:pt x="87950" y="239390"/>
                    <a:pt x="57505" y="226779"/>
                    <a:pt x="35058" y="204332"/>
                  </a:cubicBezTo>
                  <a:cubicBezTo>
                    <a:pt x="12611" y="181885"/>
                    <a:pt x="0" y="151440"/>
                    <a:pt x="0" y="119695"/>
                  </a:cubicBezTo>
                  <a:lnTo>
                    <a:pt x="0" y="119695"/>
                  </a:lnTo>
                  <a:cubicBezTo>
                    <a:pt x="0" y="87950"/>
                    <a:pt x="12611" y="57505"/>
                    <a:pt x="35058" y="35058"/>
                  </a:cubicBezTo>
                  <a:cubicBezTo>
                    <a:pt x="57505" y="12611"/>
                    <a:pt x="87950" y="0"/>
                    <a:pt x="119695" y="0"/>
                  </a:cubicBezTo>
                  <a:close/>
                </a:path>
              </a:pathLst>
            </a:custGeom>
            <a:solidFill>
              <a:srgbClr val="039FF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632149" cy="2774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000000"/>
                  </a:solidFill>
                  <a:latin typeface="Now Bold"/>
                  <a:ea typeface="Now Bold"/>
                  <a:cs typeface="Now Bold"/>
                  <a:sym typeface="Now Bold"/>
                </a:rPr>
                <a:t>Wifi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65881" y="7477689"/>
            <a:ext cx="2202023" cy="727935"/>
            <a:chOff x="0" y="0"/>
            <a:chExt cx="782168" cy="25856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82168" cy="258566"/>
            </a:xfrm>
            <a:custGeom>
              <a:avLst/>
              <a:gdLst/>
              <a:ahLst/>
              <a:cxnLst/>
              <a:rect r="r" b="b" t="t" l="l"/>
              <a:pathLst>
                <a:path h="258566" w="782168">
                  <a:moveTo>
                    <a:pt x="129283" y="0"/>
                  </a:moveTo>
                  <a:lnTo>
                    <a:pt x="652886" y="0"/>
                  </a:lnTo>
                  <a:cubicBezTo>
                    <a:pt x="724287" y="0"/>
                    <a:pt x="782168" y="57882"/>
                    <a:pt x="782168" y="129283"/>
                  </a:cubicBezTo>
                  <a:lnTo>
                    <a:pt x="782168" y="129283"/>
                  </a:lnTo>
                  <a:cubicBezTo>
                    <a:pt x="782168" y="200684"/>
                    <a:pt x="724287" y="258566"/>
                    <a:pt x="652886" y="258566"/>
                  </a:cubicBezTo>
                  <a:lnTo>
                    <a:pt x="129283" y="258566"/>
                  </a:lnTo>
                  <a:cubicBezTo>
                    <a:pt x="57882" y="258566"/>
                    <a:pt x="0" y="200684"/>
                    <a:pt x="0" y="129283"/>
                  </a:cubicBezTo>
                  <a:lnTo>
                    <a:pt x="0" y="129283"/>
                  </a:lnTo>
                  <a:cubicBezTo>
                    <a:pt x="0" y="57882"/>
                    <a:pt x="57882" y="0"/>
                    <a:pt x="129283" y="0"/>
                  </a:cubicBez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782168" cy="2966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000000"/>
                  </a:solidFill>
                  <a:latin typeface="Now Bold"/>
                  <a:ea typeface="Now Bold"/>
                  <a:cs typeface="Now Bold"/>
                  <a:sym typeface="Now Bold"/>
                </a:rPr>
                <a:t>ESP32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689897" y="7477689"/>
            <a:ext cx="1732456" cy="727935"/>
            <a:chOff x="0" y="0"/>
            <a:chExt cx="1369847" cy="57557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69847" cy="575576"/>
            </a:xfrm>
            <a:custGeom>
              <a:avLst/>
              <a:gdLst/>
              <a:ahLst/>
              <a:cxnLst/>
              <a:rect r="r" b="b" t="t" l="l"/>
              <a:pathLst>
                <a:path h="575576" w="1369847">
                  <a:moveTo>
                    <a:pt x="1369847" y="287788"/>
                  </a:moveTo>
                  <a:lnTo>
                    <a:pt x="963447" y="0"/>
                  </a:lnTo>
                  <a:lnTo>
                    <a:pt x="963447" y="203200"/>
                  </a:lnTo>
                  <a:lnTo>
                    <a:pt x="0" y="203200"/>
                  </a:lnTo>
                  <a:lnTo>
                    <a:pt x="0" y="372376"/>
                  </a:lnTo>
                  <a:lnTo>
                    <a:pt x="963447" y="372376"/>
                  </a:lnTo>
                  <a:lnTo>
                    <a:pt x="963447" y="575576"/>
                  </a:lnTo>
                  <a:lnTo>
                    <a:pt x="1369847" y="287788"/>
                  </a:lnTo>
                  <a:close/>
                </a:path>
              </a:pathLst>
            </a:custGeom>
            <a:solidFill>
              <a:srgbClr val="FF751F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165100"/>
              <a:ext cx="1268247" cy="2072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366851" y="6751631"/>
            <a:ext cx="2218232" cy="2180050"/>
          </a:xfrm>
          <a:prstGeom prst="rect">
            <a:avLst/>
          </a:prstGeom>
        </p:spPr>
      </p:pic>
      <p:sp>
        <p:nvSpPr>
          <p:cNvPr name="Freeform 19" id="19"/>
          <p:cNvSpPr/>
          <p:nvPr/>
        </p:nvSpPr>
        <p:spPr>
          <a:xfrm flipH="false" flipV="false" rot="0">
            <a:off x="8658534" y="6936484"/>
            <a:ext cx="5650629" cy="2825315"/>
          </a:xfrm>
          <a:custGeom>
            <a:avLst/>
            <a:gdLst/>
            <a:ahLst/>
            <a:cxnLst/>
            <a:rect r="r" b="b" t="t" l="l"/>
            <a:pathLst>
              <a:path h="2825315" w="5650629">
                <a:moveTo>
                  <a:pt x="0" y="0"/>
                </a:moveTo>
                <a:lnTo>
                  <a:pt x="5650629" y="0"/>
                </a:lnTo>
                <a:lnTo>
                  <a:pt x="5650629" y="2825315"/>
                </a:lnTo>
                <a:lnTo>
                  <a:pt x="0" y="28253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48980" y="214632"/>
            <a:ext cx="13176513" cy="604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2"/>
              </a:lnSpc>
            </a:pPr>
            <a:r>
              <a:rPr lang="en-US" b="true" sz="4001" spc="1156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PROPUESTA SOLUCIÓN:NIVEL 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607822" y="3117053"/>
            <a:ext cx="10263922" cy="3532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51"/>
              </a:lnSpc>
            </a:pPr>
            <a:r>
              <a:rPr lang="en-US" sz="5036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Características:</a:t>
            </a:r>
          </a:p>
          <a:p>
            <a:pPr algn="ctr" marL="1087393" indent="-543696" lvl="1">
              <a:lnSpc>
                <a:spcPts val="7051"/>
              </a:lnSpc>
              <a:buFont typeface="Arial"/>
              <a:buChar char="•"/>
            </a:pPr>
            <a:r>
              <a:rPr lang="en-US" sz="503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Rápido</a:t>
            </a:r>
          </a:p>
          <a:p>
            <a:pPr algn="ctr" marL="1087393" indent="-543696" lvl="1">
              <a:lnSpc>
                <a:spcPts val="7051"/>
              </a:lnSpc>
              <a:buFont typeface="Arial"/>
              <a:buChar char="•"/>
            </a:pPr>
            <a:r>
              <a:rPr lang="en-US" sz="503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Constante</a:t>
            </a:r>
          </a:p>
          <a:p>
            <a:pPr algn="ctr" marL="1087393" indent="-543696" lvl="1">
              <a:lnSpc>
                <a:spcPts val="7051"/>
              </a:lnSpc>
              <a:buFont typeface="Arial"/>
              <a:buChar char="•"/>
            </a:pPr>
            <a:r>
              <a:rPr lang="en-US" sz="503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Liviano, header de sólo 8 bytes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518211"/>
            <a:ext cx="18582933" cy="7958328"/>
            <a:chOff x="0" y="0"/>
            <a:chExt cx="4894271" cy="20960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4271" cy="2096021"/>
            </a:xfrm>
            <a:custGeom>
              <a:avLst/>
              <a:gdLst/>
              <a:ahLst/>
              <a:cxnLst/>
              <a:rect r="r" b="b" t="t" l="l"/>
              <a:pathLst>
                <a:path h="2096021" w="4894271">
                  <a:moveTo>
                    <a:pt x="0" y="0"/>
                  </a:moveTo>
                  <a:lnTo>
                    <a:pt x="4894271" y="0"/>
                  </a:lnTo>
                  <a:lnTo>
                    <a:pt x="4894271" y="2096021"/>
                  </a:lnTo>
                  <a:lnTo>
                    <a:pt x="0" y="2096021"/>
                  </a:lnTo>
                  <a:close/>
                </a:path>
              </a:pathLst>
            </a:custGeom>
            <a:solidFill>
              <a:srgbClr val="F7030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94271" cy="2134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028700"/>
            <a:ext cx="18288000" cy="1613455"/>
            <a:chOff x="0" y="0"/>
            <a:chExt cx="4816593" cy="42494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424943"/>
            </a:xfrm>
            <a:custGeom>
              <a:avLst/>
              <a:gdLst/>
              <a:ahLst/>
              <a:cxnLst/>
              <a:rect r="r" b="b" t="t" l="l"/>
              <a:pathLst>
                <a:path h="42494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24943"/>
                  </a:lnTo>
                  <a:lnTo>
                    <a:pt x="0" y="424943"/>
                  </a:ln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4816593" cy="491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39"/>
                </a:lnSpc>
              </a:pPr>
              <a:r>
                <a:rPr lang="en-US" sz="30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Código en ESP32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7285197" y="2851705"/>
            <a:ext cx="10725312" cy="1719455"/>
          </a:xfrm>
          <a:custGeom>
            <a:avLst/>
            <a:gdLst/>
            <a:ahLst/>
            <a:cxnLst/>
            <a:rect r="r" b="b" t="t" l="l"/>
            <a:pathLst>
              <a:path h="1719455" w="10725312">
                <a:moveTo>
                  <a:pt x="0" y="0"/>
                </a:moveTo>
                <a:lnTo>
                  <a:pt x="10725312" y="0"/>
                </a:lnTo>
                <a:lnTo>
                  <a:pt x="10725312" y="1719455"/>
                </a:lnTo>
                <a:lnTo>
                  <a:pt x="0" y="17194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052553" y="4571160"/>
            <a:ext cx="6019464" cy="5421830"/>
          </a:xfrm>
          <a:custGeom>
            <a:avLst/>
            <a:gdLst/>
            <a:ahLst/>
            <a:cxnLst/>
            <a:rect r="r" b="b" t="t" l="l"/>
            <a:pathLst>
              <a:path h="5421830" w="6019464">
                <a:moveTo>
                  <a:pt x="0" y="0"/>
                </a:moveTo>
                <a:lnTo>
                  <a:pt x="6019464" y="0"/>
                </a:lnTo>
                <a:lnTo>
                  <a:pt x="6019464" y="5421830"/>
                </a:lnTo>
                <a:lnTo>
                  <a:pt x="0" y="54218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10139" y="6187679"/>
            <a:ext cx="8833861" cy="1203614"/>
          </a:xfrm>
          <a:custGeom>
            <a:avLst/>
            <a:gdLst/>
            <a:ahLst/>
            <a:cxnLst/>
            <a:rect r="r" b="b" t="t" l="l"/>
            <a:pathLst>
              <a:path h="1203614" w="8833861">
                <a:moveTo>
                  <a:pt x="0" y="0"/>
                </a:moveTo>
                <a:lnTo>
                  <a:pt x="8833861" y="0"/>
                </a:lnTo>
                <a:lnTo>
                  <a:pt x="8833861" y="1203614"/>
                </a:lnTo>
                <a:lnTo>
                  <a:pt x="0" y="12036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31340" y="2332459"/>
            <a:ext cx="4856970" cy="3855220"/>
          </a:xfrm>
          <a:custGeom>
            <a:avLst/>
            <a:gdLst/>
            <a:ahLst/>
            <a:cxnLst/>
            <a:rect r="r" b="b" t="t" l="l"/>
            <a:pathLst>
              <a:path h="3855220" w="4856970">
                <a:moveTo>
                  <a:pt x="0" y="0"/>
                </a:moveTo>
                <a:lnTo>
                  <a:pt x="4856970" y="0"/>
                </a:lnTo>
                <a:lnTo>
                  <a:pt x="4856970" y="3855220"/>
                </a:lnTo>
                <a:lnTo>
                  <a:pt x="0" y="38552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29390" y="7391293"/>
            <a:ext cx="7986213" cy="1557311"/>
          </a:xfrm>
          <a:custGeom>
            <a:avLst/>
            <a:gdLst/>
            <a:ahLst/>
            <a:cxnLst/>
            <a:rect r="r" b="b" t="t" l="l"/>
            <a:pathLst>
              <a:path h="1557311" w="7986213">
                <a:moveTo>
                  <a:pt x="0" y="0"/>
                </a:moveTo>
                <a:lnTo>
                  <a:pt x="7986212" y="0"/>
                </a:lnTo>
                <a:lnTo>
                  <a:pt x="7986212" y="1557311"/>
                </a:lnTo>
                <a:lnTo>
                  <a:pt x="0" y="15573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254940" y="8450598"/>
            <a:ext cx="4665426" cy="1615404"/>
          </a:xfrm>
          <a:custGeom>
            <a:avLst/>
            <a:gdLst/>
            <a:ahLst/>
            <a:cxnLst/>
            <a:rect r="r" b="b" t="t" l="l"/>
            <a:pathLst>
              <a:path h="1615404" w="4665426">
                <a:moveTo>
                  <a:pt x="0" y="0"/>
                </a:moveTo>
                <a:lnTo>
                  <a:pt x="4665425" y="0"/>
                </a:lnTo>
                <a:lnTo>
                  <a:pt x="4665425" y="1615404"/>
                </a:lnTo>
                <a:lnTo>
                  <a:pt x="0" y="16154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48980" y="214632"/>
            <a:ext cx="13176513" cy="604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2"/>
              </a:lnSpc>
            </a:pPr>
            <a:r>
              <a:rPr lang="en-US" b="true" sz="4001" spc="1156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PROPUESTA SOLUCIÓN:NIVEL 1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" y="2473760"/>
            <a:ext cx="18582933" cy="7958328"/>
            <a:chOff x="0" y="0"/>
            <a:chExt cx="4894271" cy="20960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4271" cy="2096021"/>
            </a:xfrm>
            <a:custGeom>
              <a:avLst/>
              <a:gdLst/>
              <a:ahLst/>
              <a:cxnLst/>
              <a:rect r="r" b="b" t="t" l="l"/>
              <a:pathLst>
                <a:path h="2096021" w="4894271">
                  <a:moveTo>
                    <a:pt x="0" y="0"/>
                  </a:moveTo>
                  <a:lnTo>
                    <a:pt x="4894271" y="0"/>
                  </a:lnTo>
                  <a:lnTo>
                    <a:pt x="4894271" y="2096021"/>
                  </a:lnTo>
                  <a:lnTo>
                    <a:pt x="0" y="2096021"/>
                  </a:lnTo>
                  <a:close/>
                </a:path>
              </a:pathLst>
            </a:custGeom>
            <a:solidFill>
              <a:srgbClr val="F7030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94271" cy="2134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028700"/>
            <a:ext cx="18288000" cy="1613455"/>
            <a:chOff x="0" y="0"/>
            <a:chExt cx="4816593" cy="42494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424943"/>
            </a:xfrm>
            <a:custGeom>
              <a:avLst/>
              <a:gdLst/>
              <a:ahLst/>
              <a:cxnLst/>
              <a:rect r="r" b="b" t="t" l="l"/>
              <a:pathLst>
                <a:path h="42494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24943"/>
                  </a:lnTo>
                  <a:lnTo>
                    <a:pt x="0" y="424943"/>
                  </a:ln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4816593" cy="491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39"/>
                </a:lnSpc>
              </a:pPr>
              <a:r>
                <a:rPr lang="en-US" sz="30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Código en ESP32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48980" y="2957425"/>
            <a:ext cx="10860999" cy="2971528"/>
          </a:xfrm>
          <a:custGeom>
            <a:avLst/>
            <a:gdLst/>
            <a:ahLst/>
            <a:cxnLst/>
            <a:rect r="r" b="b" t="t" l="l"/>
            <a:pathLst>
              <a:path h="2971528" w="10860999">
                <a:moveTo>
                  <a:pt x="0" y="0"/>
                </a:moveTo>
                <a:lnTo>
                  <a:pt x="10861000" y="0"/>
                </a:lnTo>
                <a:lnTo>
                  <a:pt x="10861000" y="2971528"/>
                </a:lnTo>
                <a:lnTo>
                  <a:pt x="0" y="29715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8980" y="7913995"/>
            <a:ext cx="11616817" cy="2259182"/>
          </a:xfrm>
          <a:custGeom>
            <a:avLst/>
            <a:gdLst/>
            <a:ahLst/>
            <a:cxnLst/>
            <a:rect r="r" b="b" t="t" l="l"/>
            <a:pathLst>
              <a:path h="2259182" w="11616817">
                <a:moveTo>
                  <a:pt x="0" y="0"/>
                </a:moveTo>
                <a:lnTo>
                  <a:pt x="11616817" y="0"/>
                </a:lnTo>
                <a:lnTo>
                  <a:pt x="11616817" y="2259182"/>
                </a:lnTo>
                <a:lnTo>
                  <a:pt x="0" y="22591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903902" y="3143491"/>
            <a:ext cx="6885280" cy="1531286"/>
          </a:xfrm>
          <a:custGeom>
            <a:avLst/>
            <a:gdLst/>
            <a:ahLst/>
            <a:cxnLst/>
            <a:rect r="r" b="b" t="t" l="l"/>
            <a:pathLst>
              <a:path h="1531286" w="6885280">
                <a:moveTo>
                  <a:pt x="0" y="0"/>
                </a:moveTo>
                <a:lnTo>
                  <a:pt x="6885280" y="0"/>
                </a:lnTo>
                <a:lnTo>
                  <a:pt x="6885280" y="1531286"/>
                </a:lnTo>
                <a:lnTo>
                  <a:pt x="0" y="15312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092135" y="5928953"/>
            <a:ext cx="7280600" cy="2329792"/>
          </a:xfrm>
          <a:custGeom>
            <a:avLst/>
            <a:gdLst/>
            <a:ahLst/>
            <a:cxnLst/>
            <a:rect r="r" b="b" t="t" l="l"/>
            <a:pathLst>
              <a:path h="2329792" w="7280600">
                <a:moveTo>
                  <a:pt x="0" y="0"/>
                </a:moveTo>
                <a:lnTo>
                  <a:pt x="7280601" y="0"/>
                </a:lnTo>
                <a:lnTo>
                  <a:pt x="7280601" y="2329792"/>
                </a:lnTo>
                <a:lnTo>
                  <a:pt x="0" y="23297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48980" y="214632"/>
            <a:ext cx="13176513" cy="604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2"/>
              </a:lnSpc>
            </a:pPr>
            <a:r>
              <a:rPr lang="en-US" b="true" sz="4001" spc="1156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PROPUESTA SOLUCIÓN:NIVEL 1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473760"/>
            <a:ext cx="18582933" cy="7958328"/>
            <a:chOff x="0" y="0"/>
            <a:chExt cx="4894271" cy="20960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4271" cy="2096021"/>
            </a:xfrm>
            <a:custGeom>
              <a:avLst/>
              <a:gdLst/>
              <a:ahLst/>
              <a:cxnLst/>
              <a:rect r="r" b="b" t="t" l="l"/>
              <a:pathLst>
                <a:path h="2096021" w="4894271">
                  <a:moveTo>
                    <a:pt x="0" y="0"/>
                  </a:moveTo>
                  <a:lnTo>
                    <a:pt x="4894271" y="0"/>
                  </a:lnTo>
                  <a:lnTo>
                    <a:pt x="4894271" y="2096021"/>
                  </a:lnTo>
                  <a:lnTo>
                    <a:pt x="0" y="2096021"/>
                  </a:lnTo>
                  <a:close/>
                </a:path>
              </a:pathLst>
            </a:custGeom>
            <a:solidFill>
              <a:srgbClr val="F7030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94271" cy="2134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028700"/>
            <a:ext cx="18288000" cy="1613455"/>
            <a:chOff x="0" y="0"/>
            <a:chExt cx="4816593" cy="42494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424943"/>
            </a:xfrm>
            <a:custGeom>
              <a:avLst/>
              <a:gdLst/>
              <a:ahLst/>
              <a:cxnLst/>
              <a:rect r="r" b="b" t="t" l="l"/>
              <a:pathLst>
                <a:path h="42494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24943"/>
                  </a:lnTo>
                  <a:lnTo>
                    <a:pt x="0" y="424943"/>
                  </a:ln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4816593" cy="491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39"/>
                </a:lnSpc>
              </a:pPr>
              <a:r>
                <a:rPr lang="en-US" sz="30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Código en ESP32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9050" y="2324996"/>
            <a:ext cx="8269613" cy="3655632"/>
          </a:xfrm>
          <a:custGeom>
            <a:avLst/>
            <a:gdLst/>
            <a:ahLst/>
            <a:cxnLst/>
            <a:rect r="r" b="b" t="t" l="l"/>
            <a:pathLst>
              <a:path h="3655632" w="8269613">
                <a:moveTo>
                  <a:pt x="0" y="0"/>
                </a:moveTo>
                <a:lnTo>
                  <a:pt x="8269613" y="0"/>
                </a:lnTo>
                <a:lnTo>
                  <a:pt x="8269613" y="3655632"/>
                </a:lnTo>
                <a:lnTo>
                  <a:pt x="0" y="36556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158163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935381" y="3174785"/>
            <a:ext cx="8550045" cy="6030785"/>
          </a:xfrm>
          <a:custGeom>
            <a:avLst/>
            <a:gdLst/>
            <a:ahLst/>
            <a:cxnLst/>
            <a:rect r="r" b="b" t="t" l="l"/>
            <a:pathLst>
              <a:path h="6030785" w="8550045">
                <a:moveTo>
                  <a:pt x="0" y="0"/>
                </a:moveTo>
                <a:lnTo>
                  <a:pt x="8550045" y="0"/>
                </a:lnTo>
                <a:lnTo>
                  <a:pt x="8550045" y="6030785"/>
                </a:lnTo>
                <a:lnTo>
                  <a:pt x="0" y="6030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1795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874780" y="6190178"/>
            <a:ext cx="6141753" cy="4007494"/>
          </a:xfrm>
          <a:custGeom>
            <a:avLst/>
            <a:gdLst/>
            <a:ahLst/>
            <a:cxnLst/>
            <a:rect r="r" b="b" t="t" l="l"/>
            <a:pathLst>
              <a:path h="4007494" w="6141753">
                <a:moveTo>
                  <a:pt x="0" y="0"/>
                </a:moveTo>
                <a:lnTo>
                  <a:pt x="6141753" y="0"/>
                </a:lnTo>
                <a:lnTo>
                  <a:pt x="6141753" y="4007493"/>
                </a:lnTo>
                <a:lnTo>
                  <a:pt x="0" y="40074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48980" y="214632"/>
            <a:ext cx="13176513" cy="604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2"/>
              </a:lnSpc>
            </a:pPr>
            <a:r>
              <a:rPr lang="en-US" b="true" sz="4001" spc="1156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PROPUESTA SOLUCIÓN:NIVEL 1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1066777" y="1546856"/>
            <a:ext cx="6766430" cy="1556279"/>
          </a:xfrm>
          <a:custGeom>
            <a:avLst/>
            <a:gdLst/>
            <a:ahLst/>
            <a:cxnLst/>
            <a:rect r="r" b="b" t="t" l="l"/>
            <a:pathLst>
              <a:path h="1556279" w="6766430">
                <a:moveTo>
                  <a:pt x="0" y="0"/>
                </a:moveTo>
                <a:lnTo>
                  <a:pt x="6766430" y="0"/>
                </a:lnTo>
                <a:lnTo>
                  <a:pt x="6766430" y="1556279"/>
                </a:lnTo>
                <a:lnTo>
                  <a:pt x="0" y="15562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473760"/>
            <a:ext cx="18582933" cy="7958328"/>
            <a:chOff x="0" y="0"/>
            <a:chExt cx="4894271" cy="20960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4271" cy="2096021"/>
            </a:xfrm>
            <a:custGeom>
              <a:avLst/>
              <a:gdLst/>
              <a:ahLst/>
              <a:cxnLst/>
              <a:rect r="r" b="b" t="t" l="l"/>
              <a:pathLst>
                <a:path h="2096021" w="4894271">
                  <a:moveTo>
                    <a:pt x="0" y="0"/>
                  </a:moveTo>
                  <a:lnTo>
                    <a:pt x="4894271" y="0"/>
                  </a:lnTo>
                  <a:lnTo>
                    <a:pt x="4894271" y="2096021"/>
                  </a:lnTo>
                  <a:lnTo>
                    <a:pt x="0" y="2096021"/>
                  </a:lnTo>
                  <a:close/>
                </a:path>
              </a:pathLst>
            </a:custGeom>
            <a:solidFill>
              <a:srgbClr val="F7030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94271" cy="2134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028700"/>
            <a:ext cx="18288000" cy="1613455"/>
            <a:chOff x="0" y="0"/>
            <a:chExt cx="4816593" cy="42494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424943"/>
            </a:xfrm>
            <a:custGeom>
              <a:avLst/>
              <a:gdLst/>
              <a:ahLst/>
              <a:cxnLst/>
              <a:rect r="r" b="b" t="t" l="l"/>
              <a:pathLst>
                <a:path h="42494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24943"/>
                  </a:lnTo>
                  <a:lnTo>
                    <a:pt x="0" y="424943"/>
                  </a:ln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4816593" cy="491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39"/>
                </a:lnSpc>
              </a:pPr>
              <a:r>
                <a:rPr lang="en-US" sz="30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Implementación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0" y="2851705"/>
            <a:ext cx="9402033" cy="7051525"/>
          </a:xfrm>
          <a:custGeom>
            <a:avLst/>
            <a:gdLst/>
            <a:ahLst/>
            <a:cxnLst/>
            <a:rect r="r" b="b" t="t" l="l"/>
            <a:pathLst>
              <a:path h="7051525" w="9402033">
                <a:moveTo>
                  <a:pt x="0" y="0"/>
                </a:moveTo>
                <a:lnTo>
                  <a:pt x="9402033" y="0"/>
                </a:lnTo>
                <a:lnTo>
                  <a:pt x="9402033" y="7051525"/>
                </a:lnTo>
                <a:lnTo>
                  <a:pt x="0" y="70515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809328" y="3467588"/>
            <a:ext cx="7960894" cy="5970671"/>
          </a:xfrm>
          <a:custGeom>
            <a:avLst/>
            <a:gdLst/>
            <a:ahLst/>
            <a:cxnLst/>
            <a:rect r="r" b="b" t="t" l="l"/>
            <a:pathLst>
              <a:path h="5970671" w="7960894">
                <a:moveTo>
                  <a:pt x="0" y="0"/>
                </a:moveTo>
                <a:lnTo>
                  <a:pt x="7960895" y="0"/>
                </a:lnTo>
                <a:lnTo>
                  <a:pt x="7960895" y="5970671"/>
                </a:lnTo>
                <a:lnTo>
                  <a:pt x="0" y="59706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48980" y="209870"/>
            <a:ext cx="13176513" cy="609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2"/>
              </a:lnSpc>
            </a:pPr>
            <a:r>
              <a:rPr lang="en-US" b="true" sz="4001" spc="1156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PROPUESTA SOLUCIÓN:NIVEL 2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473760"/>
            <a:ext cx="18582933" cy="7958328"/>
            <a:chOff x="0" y="0"/>
            <a:chExt cx="4894271" cy="20960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4271" cy="2096021"/>
            </a:xfrm>
            <a:custGeom>
              <a:avLst/>
              <a:gdLst/>
              <a:ahLst/>
              <a:cxnLst/>
              <a:rect r="r" b="b" t="t" l="l"/>
              <a:pathLst>
                <a:path h="2096021" w="4894271">
                  <a:moveTo>
                    <a:pt x="0" y="0"/>
                  </a:moveTo>
                  <a:lnTo>
                    <a:pt x="4894271" y="0"/>
                  </a:lnTo>
                  <a:lnTo>
                    <a:pt x="4894271" y="2096021"/>
                  </a:lnTo>
                  <a:lnTo>
                    <a:pt x="0" y="2096021"/>
                  </a:lnTo>
                  <a:close/>
                </a:path>
              </a:pathLst>
            </a:custGeom>
            <a:solidFill>
              <a:srgbClr val="F7030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94271" cy="2134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028700"/>
            <a:ext cx="18288000" cy="1613455"/>
            <a:chOff x="0" y="0"/>
            <a:chExt cx="4816593" cy="42494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424943"/>
            </a:xfrm>
            <a:custGeom>
              <a:avLst/>
              <a:gdLst/>
              <a:ahLst/>
              <a:cxnLst/>
              <a:rect r="r" b="b" t="t" l="l"/>
              <a:pathLst>
                <a:path h="42494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24943"/>
                  </a:lnTo>
                  <a:lnTo>
                    <a:pt x="0" y="424943"/>
                  </a:ln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4816593" cy="491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39"/>
                </a:lnSpc>
              </a:pPr>
              <a:r>
                <a:rPr lang="en-US" sz="3099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Interfaz con ESP32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374909" y="3038639"/>
            <a:ext cx="8056130" cy="5125080"/>
          </a:xfrm>
          <a:custGeom>
            <a:avLst/>
            <a:gdLst/>
            <a:ahLst/>
            <a:cxnLst/>
            <a:rect r="r" b="b" t="t" l="l"/>
            <a:pathLst>
              <a:path h="5125080" w="8056130">
                <a:moveTo>
                  <a:pt x="0" y="0"/>
                </a:moveTo>
                <a:lnTo>
                  <a:pt x="8056130" y="0"/>
                </a:lnTo>
                <a:lnTo>
                  <a:pt x="8056130" y="5125080"/>
                </a:lnTo>
                <a:lnTo>
                  <a:pt x="0" y="51250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90533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8980" y="209870"/>
            <a:ext cx="13176513" cy="609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2"/>
              </a:lnSpc>
            </a:pPr>
            <a:r>
              <a:rPr lang="en-US" b="true" sz="4001" spc="1156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PROPUESTA SOLUCIÓN:NIVEL 2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8808177" y="3666071"/>
            <a:ext cx="8762519" cy="5170722"/>
          </a:xfrm>
          <a:custGeom>
            <a:avLst/>
            <a:gdLst/>
            <a:ahLst/>
            <a:cxnLst/>
            <a:rect r="r" b="b" t="t" l="l"/>
            <a:pathLst>
              <a:path h="5170722" w="8762519">
                <a:moveTo>
                  <a:pt x="0" y="0"/>
                </a:moveTo>
                <a:lnTo>
                  <a:pt x="8762518" y="0"/>
                </a:lnTo>
                <a:lnTo>
                  <a:pt x="8762518" y="5170722"/>
                </a:lnTo>
                <a:lnTo>
                  <a:pt x="0" y="51707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05411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473760"/>
            <a:ext cx="18582933" cy="7958328"/>
            <a:chOff x="0" y="0"/>
            <a:chExt cx="4894271" cy="20960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4271" cy="2096021"/>
            </a:xfrm>
            <a:custGeom>
              <a:avLst/>
              <a:gdLst/>
              <a:ahLst/>
              <a:cxnLst/>
              <a:rect r="r" b="b" t="t" l="l"/>
              <a:pathLst>
                <a:path h="2096021" w="4894271">
                  <a:moveTo>
                    <a:pt x="0" y="0"/>
                  </a:moveTo>
                  <a:lnTo>
                    <a:pt x="4894271" y="0"/>
                  </a:lnTo>
                  <a:lnTo>
                    <a:pt x="4894271" y="2096021"/>
                  </a:lnTo>
                  <a:lnTo>
                    <a:pt x="0" y="2096021"/>
                  </a:lnTo>
                  <a:close/>
                </a:path>
              </a:pathLst>
            </a:custGeom>
            <a:solidFill>
              <a:srgbClr val="F7030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94271" cy="2134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1028700"/>
            <a:ext cx="18288000" cy="1645330"/>
            <a:chOff x="0" y="0"/>
            <a:chExt cx="4816593" cy="4333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433338"/>
            </a:xfrm>
            <a:custGeom>
              <a:avLst/>
              <a:gdLst/>
              <a:ahLst/>
              <a:cxnLst/>
              <a:rect r="r" b="b" t="t" l="l"/>
              <a:pathLst>
                <a:path h="43333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33338"/>
                  </a:lnTo>
                  <a:lnTo>
                    <a:pt x="0" y="433338"/>
                  </a:ln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4816593" cy="5000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3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18982" y="260027"/>
            <a:ext cx="13209970" cy="609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2"/>
              </a:lnSpc>
            </a:pPr>
            <a:r>
              <a:rPr lang="en-US" b="true" sz="4001" spc="1156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GRACIAS POR SU ATENCIÓN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DAG4hIDAEXg</dc:identifier>
  <dcterms:modified xsi:type="dcterms:W3CDTF">2011-08-01T06:04:30Z</dcterms:modified>
  <cp:revision>1</cp:revision>
  <dc:title>Proyecto: Convertidor DC/dc</dc:title>
</cp:coreProperties>
</file>