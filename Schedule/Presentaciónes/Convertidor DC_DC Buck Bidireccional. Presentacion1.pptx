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87" r:id="rId4"/>
    <p:sldId id="292" r:id="rId5"/>
    <p:sldId id="289" r:id="rId6"/>
    <p:sldId id="290" r:id="rId7"/>
    <p:sldId id="291" r:id="rId8"/>
    <p:sldId id="288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6" r:id="rId25"/>
    <p:sldId id="275" r:id="rId26"/>
    <p:sldId id="277" r:id="rId27"/>
    <p:sldId id="278" r:id="rId28"/>
    <p:sldId id="293" r:id="rId29"/>
    <p:sldId id="279" r:id="rId30"/>
    <p:sldId id="280" r:id="rId31"/>
    <p:sldId id="281" r:id="rId32"/>
    <p:sldId id="294" r:id="rId33"/>
    <p:sldId id="295" r:id="rId34"/>
    <p:sldId id="282" r:id="rId35"/>
    <p:sldId id="283" r:id="rId36"/>
    <p:sldId id="284" r:id="rId37"/>
    <p:sldId id="285" r:id="rId38"/>
    <p:sldId id="286" r:id="rId39"/>
  </p:sldIdLst>
  <p:sldSz cx="14630400" cy="8229600"/>
  <p:notesSz cx="8229600" cy="14630400"/>
  <p:embeddedFontLst>
    <p:embeddedFont>
      <p:font typeface="Dela Gothic One" panose="020B0604020202020204" charset="-128"/>
      <p:regular r:id="rId41"/>
    </p:embeddedFont>
    <p:embeddedFont>
      <p:font typeface="DM Sans" pitchFamily="2" charset="0"/>
      <p:regular r:id="rId42"/>
      <p:bold r:id="rId43"/>
      <p:italic r:id="rId44"/>
      <p:boldItalic r:id="rId45"/>
    </p:embeddedFont>
    <p:embeddedFont>
      <p:font typeface="Trade Gothic Next Light" panose="020B0403040303020004" pitchFamily="34" charset="0"/>
      <p:regular r:id="rId46"/>
      <p: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292D97-2BA8-1682-9404-C53661C0CF3F}" v="1" dt="2025-10-06T12:38:30.013"/>
    <p1510:client id="{3D326346-E25B-B47A-0B8A-C9BF246770AF}" v="6" dt="2025-10-06T01:42:45.424"/>
    <p1510:client id="{5F6956DA-6A08-E87A-77F8-5FE20BDDAA28}" v="167" dt="2025-10-07T03:57:30.191"/>
    <p1510:client id="{6FF3BCF0-69E2-1E2F-4CE5-4A95D65BAA2D}" v="28" dt="2025-10-06T02:47:46.410"/>
    <p1510:client id="{7B1DEA5B-6596-5187-C3F5-DD035DEDF952}" v="275" dt="2025-10-06T01:34:59.100"/>
    <p1510:client id="{8DD98237-1513-F835-C83E-EA34BCFE8CAD}" v="501" dt="2025-10-06T01:11:42.291"/>
    <p1510:client id="{AA24370D-2E74-69D2-AD69-ED63B15E3D78}" v="36" dt="2025-10-07T01:49:48.016"/>
    <p1510:client id="{AA661C6A-B7F7-3C26-133A-881B0DAB05E1}" v="217" dt="2025-10-05T18:34:15.887"/>
    <p1510:client id="{FB2BD8EB-A30F-ABFD-217B-B2B784ED8E00}" v="245" dt="2025-10-07T02:08:48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‹Nº›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Char char="•"/>
            </a:pPr>
            <a:r>
              <a:rPr lang="en-US" b="1"/>
              <a:t>Inductor</a:t>
            </a:r>
            <a:r>
              <a:rPr lang="en-US"/>
              <a:t>: </a:t>
            </a:r>
            <a:r>
              <a:rPr lang="en-US" err="1"/>
              <a:t>Componente</a:t>
            </a:r>
            <a:r>
              <a:rPr lang="en-US"/>
              <a:t> </a:t>
            </a:r>
            <a:r>
              <a:rPr lang="en-US" err="1"/>
              <a:t>pasivo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b="1" err="1"/>
              <a:t>almacena</a:t>
            </a:r>
            <a:r>
              <a:rPr lang="en-US" b="1"/>
              <a:t> </a:t>
            </a:r>
            <a:r>
              <a:rPr lang="en-US" b="1" err="1"/>
              <a:t>energía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un campo </a:t>
            </a:r>
            <a:r>
              <a:rPr lang="en-US" b="1" err="1"/>
              <a:t>magnético</a:t>
            </a:r>
            <a:r>
              <a:rPr lang="en-US"/>
              <a:t>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circula</a:t>
            </a:r>
            <a:r>
              <a:rPr lang="en-US"/>
              <a:t> </a:t>
            </a:r>
            <a:r>
              <a:rPr lang="en-US" err="1"/>
              <a:t>corriente</a:t>
            </a:r>
            <a:r>
              <a:rPr lang="en-US"/>
              <a:t> a </a:t>
            </a:r>
            <a:r>
              <a:rPr lang="en-US" err="1"/>
              <a:t>través</a:t>
            </a:r>
            <a:r>
              <a:rPr lang="en-US"/>
              <a:t> de </a:t>
            </a:r>
            <a:r>
              <a:rPr lang="en-US" err="1"/>
              <a:t>él</a:t>
            </a:r>
            <a:r>
              <a:rPr lang="en-US"/>
              <a:t>. En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convertidor</a:t>
            </a:r>
            <a:r>
              <a:rPr lang="en-US"/>
              <a:t>, es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b="1" err="1"/>
              <a:t>elemento</a:t>
            </a:r>
            <a:r>
              <a:rPr lang="en-US" b="1"/>
              <a:t> clave de </a:t>
            </a:r>
            <a:r>
              <a:rPr lang="en-US" b="1" err="1"/>
              <a:t>transferencia</a:t>
            </a:r>
            <a:r>
              <a:rPr lang="en-US" b="1"/>
              <a:t> de </a:t>
            </a:r>
            <a:r>
              <a:rPr lang="en-US" b="1" err="1"/>
              <a:t>energía</a:t>
            </a:r>
            <a:r>
              <a:rPr lang="en-US"/>
              <a:t>, </a:t>
            </a:r>
            <a:r>
              <a:rPr lang="en-US" err="1"/>
              <a:t>ya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acumula</a:t>
            </a:r>
            <a:r>
              <a:rPr lang="en-US"/>
              <a:t> y libera </a:t>
            </a:r>
            <a:r>
              <a:rPr lang="en-US" err="1"/>
              <a:t>energía</a:t>
            </a:r>
            <a:r>
              <a:rPr lang="en-US"/>
              <a:t> para </a:t>
            </a:r>
            <a:r>
              <a:rPr lang="en-US" err="1"/>
              <a:t>realizar</a:t>
            </a:r>
            <a:r>
              <a:rPr lang="en-US"/>
              <a:t> la </a:t>
            </a:r>
            <a:r>
              <a:rPr lang="en-US" err="1"/>
              <a:t>conversión</a:t>
            </a:r>
            <a:r>
              <a:rPr lang="en-US"/>
              <a:t> buck o boost.</a:t>
            </a:r>
            <a:endParaRPr lang="es-ES"/>
          </a:p>
          <a:p>
            <a:pPr>
              <a:buChar char="•"/>
            </a:pPr>
            <a:r>
              <a:rPr lang="en-US" b="1"/>
              <a:t>Capacitor</a:t>
            </a:r>
            <a:r>
              <a:rPr lang="en-US"/>
              <a:t>: </a:t>
            </a:r>
            <a:r>
              <a:rPr lang="en-US" err="1"/>
              <a:t>Componente</a:t>
            </a:r>
            <a:r>
              <a:rPr lang="en-US"/>
              <a:t> </a:t>
            </a:r>
            <a:r>
              <a:rPr lang="en-US" err="1"/>
              <a:t>pasivo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b="1" err="1"/>
              <a:t>almacena</a:t>
            </a:r>
            <a:r>
              <a:rPr lang="en-US" b="1"/>
              <a:t> </a:t>
            </a:r>
            <a:r>
              <a:rPr lang="en-US" b="1" err="1"/>
              <a:t>energía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un campo </a:t>
            </a:r>
            <a:r>
              <a:rPr lang="en-US" b="1" err="1"/>
              <a:t>eléctrico</a:t>
            </a:r>
            <a:r>
              <a:rPr lang="en-US"/>
              <a:t> entre dos </a:t>
            </a:r>
            <a:r>
              <a:rPr lang="en-US" err="1"/>
              <a:t>placas</a:t>
            </a:r>
            <a:r>
              <a:rPr lang="en-US"/>
              <a:t> </a:t>
            </a:r>
            <a:r>
              <a:rPr lang="en-US" err="1"/>
              <a:t>conductoras</a:t>
            </a:r>
            <a:r>
              <a:rPr lang="en-US"/>
              <a:t> </a:t>
            </a:r>
            <a:r>
              <a:rPr lang="en-US" err="1"/>
              <a:t>separadas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un </a:t>
            </a:r>
            <a:r>
              <a:rPr lang="en-US" err="1"/>
              <a:t>dieléctrico</a:t>
            </a:r>
            <a:r>
              <a:rPr lang="en-US"/>
              <a:t>. Se </a:t>
            </a:r>
            <a:r>
              <a:rPr lang="en-US" err="1"/>
              <a:t>usa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b="1" err="1"/>
              <a:t>filtro</a:t>
            </a:r>
            <a:r>
              <a:rPr lang="en-US" b="1"/>
              <a:t> de </a:t>
            </a:r>
            <a:r>
              <a:rPr lang="en-US" b="1" err="1"/>
              <a:t>salida</a:t>
            </a:r>
            <a:r>
              <a:rPr lang="en-US"/>
              <a:t> para </a:t>
            </a:r>
            <a:r>
              <a:rPr lang="en-US" err="1"/>
              <a:t>reducir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rizado</a:t>
            </a:r>
            <a:r>
              <a:rPr lang="en-US"/>
              <a:t> de </a:t>
            </a:r>
            <a:r>
              <a:rPr lang="en-US" err="1"/>
              <a:t>voltaje</a:t>
            </a:r>
            <a:r>
              <a:rPr lang="en-US"/>
              <a:t> y </a:t>
            </a:r>
            <a:r>
              <a:rPr lang="en-US" err="1"/>
              <a:t>entregar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tensión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estable</a:t>
            </a:r>
            <a:r>
              <a:rPr lang="en-US"/>
              <a:t>. El capacitor de </a:t>
            </a:r>
            <a:r>
              <a:rPr lang="en-US" err="1"/>
              <a:t>salida</a:t>
            </a:r>
            <a:r>
              <a:rPr lang="en-US"/>
              <a:t> </a:t>
            </a:r>
            <a:r>
              <a:rPr lang="en-US" err="1"/>
              <a:t>actúa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un </a:t>
            </a:r>
            <a:r>
              <a:rPr lang="en-US" err="1"/>
              <a:t>depósito</a:t>
            </a:r>
            <a:r>
              <a:rPr lang="en-US"/>
              <a:t> de carga: </a:t>
            </a:r>
            <a:r>
              <a:rPr lang="en-US" err="1"/>
              <a:t>absorbe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exceso</a:t>
            </a:r>
            <a:r>
              <a:rPr lang="en-US"/>
              <a:t> de </a:t>
            </a:r>
            <a:r>
              <a:rPr lang="en-US" err="1"/>
              <a:t>corriente</a:t>
            </a:r>
            <a:r>
              <a:rPr lang="en-US"/>
              <a:t>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inductor </a:t>
            </a:r>
            <a:r>
              <a:rPr lang="en-US" err="1"/>
              <a:t>entrega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de lo </a:t>
            </a:r>
            <a:r>
              <a:rPr lang="en-US" err="1"/>
              <a:t>que</a:t>
            </a:r>
            <a:r>
              <a:rPr lang="en-US"/>
              <a:t> la carga </a:t>
            </a:r>
            <a:r>
              <a:rPr lang="en-US" err="1"/>
              <a:t>necesita</a:t>
            </a:r>
            <a:r>
              <a:rPr lang="en-US"/>
              <a:t>, y se </a:t>
            </a:r>
            <a:r>
              <a:rPr lang="en-US" err="1"/>
              <a:t>descarga</a:t>
            </a:r>
            <a:r>
              <a:rPr lang="en-US"/>
              <a:t>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inductor </a:t>
            </a:r>
            <a:r>
              <a:rPr lang="en-US" err="1"/>
              <a:t>entrega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. De </a:t>
            </a:r>
            <a:r>
              <a:rPr lang="en-US" err="1"/>
              <a:t>esta</a:t>
            </a:r>
            <a:r>
              <a:rPr lang="en-US"/>
              <a:t> </a:t>
            </a:r>
            <a:r>
              <a:rPr lang="en-US" err="1"/>
              <a:t>manera</a:t>
            </a:r>
            <a:r>
              <a:rPr lang="en-US"/>
              <a:t> </a:t>
            </a:r>
            <a:r>
              <a:rPr lang="en-US" err="1"/>
              <a:t>compensa</a:t>
            </a:r>
            <a:r>
              <a:rPr lang="en-US"/>
              <a:t> las </a:t>
            </a:r>
            <a:r>
              <a:rPr lang="en-US" err="1"/>
              <a:t>variaciones</a:t>
            </a:r>
            <a:r>
              <a:rPr lang="en-US"/>
              <a:t> y </a:t>
            </a:r>
            <a:r>
              <a:rPr lang="en-US" err="1"/>
              <a:t>mantiene</a:t>
            </a:r>
            <a:r>
              <a:rPr lang="en-US"/>
              <a:t> un </a:t>
            </a:r>
            <a:r>
              <a:rPr lang="en-US" err="1"/>
              <a:t>voltaje</a:t>
            </a:r>
            <a:r>
              <a:rPr lang="en-US"/>
              <a:t> </a:t>
            </a:r>
            <a:r>
              <a:rPr lang="en-US" err="1"/>
              <a:t>casi</a:t>
            </a:r>
            <a:r>
              <a:rPr lang="en-US"/>
              <a:t> </a:t>
            </a:r>
            <a:r>
              <a:rPr lang="en-US" err="1"/>
              <a:t>constante</a:t>
            </a:r>
            <a:r>
              <a:rPr lang="en-US"/>
              <a:t>, </a:t>
            </a:r>
            <a:r>
              <a:rPr lang="en-US" err="1"/>
              <a:t>reduciendo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rizado</a:t>
            </a:r>
            <a:r>
              <a:rPr lang="en-US"/>
              <a:t> a un valor </a:t>
            </a:r>
            <a:r>
              <a:rPr lang="en-US" err="1"/>
              <a:t>pequeño</a:t>
            </a:r>
            <a:r>
              <a:rPr lang="en-US"/>
              <a:t>. </a:t>
            </a:r>
          </a:p>
          <a:p>
            <a:pPr>
              <a:buChar char="•"/>
            </a:pPr>
            <a:r>
              <a:rPr lang="en-US"/>
              <a:t>EJEMPLO: Imagina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voltaje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b="1" err="1"/>
              <a:t>nivel</a:t>
            </a:r>
            <a:r>
              <a:rPr lang="en-US" b="1"/>
              <a:t> de </a:t>
            </a:r>
            <a:r>
              <a:rPr lang="en-US" b="1" err="1"/>
              <a:t>agua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un </a:t>
            </a:r>
            <a:r>
              <a:rPr lang="en-US" err="1"/>
              <a:t>tanque</a:t>
            </a:r>
            <a:r>
              <a:rPr lang="en-US"/>
              <a:t>. El capacitor es </a:t>
            </a:r>
            <a:r>
              <a:rPr lang="en-US" err="1"/>
              <a:t>como</a:t>
            </a:r>
            <a:r>
              <a:rPr lang="en-US"/>
              <a:t> un </a:t>
            </a:r>
            <a:r>
              <a:rPr lang="en-US" err="1"/>
              <a:t>pequeño</a:t>
            </a:r>
            <a:r>
              <a:rPr lang="en-US"/>
              <a:t> </a:t>
            </a:r>
            <a:r>
              <a:rPr lang="en-US" b="1" err="1"/>
              <a:t>depósito</a:t>
            </a:r>
            <a:r>
              <a:rPr lang="en-US" b="1"/>
              <a:t> auxiliar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se </a:t>
            </a:r>
            <a:r>
              <a:rPr lang="en-US" err="1"/>
              <a:t>llena</a:t>
            </a:r>
            <a:r>
              <a:rPr lang="en-US"/>
              <a:t> y </a:t>
            </a:r>
            <a:r>
              <a:rPr lang="en-US" err="1"/>
              <a:t>vacía</a:t>
            </a:r>
            <a:r>
              <a:rPr lang="en-US"/>
              <a:t> </a:t>
            </a:r>
            <a:r>
              <a:rPr lang="en-US" err="1"/>
              <a:t>rápido</a:t>
            </a:r>
            <a:r>
              <a:rPr lang="en-US"/>
              <a:t> para </a:t>
            </a:r>
            <a:r>
              <a:rPr lang="en-US" err="1"/>
              <a:t>mantener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nivel</a:t>
            </a:r>
            <a:r>
              <a:rPr lang="en-US"/>
              <a:t> </a:t>
            </a:r>
            <a:r>
              <a:rPr lang="en-US" err="1"/>
              <a:t>estable</a:t>
            </a:r>
            <a:r>
              <a:rPr lang="en-US"/>
              <a:t> El </a:t>
            </a:r>
            <a:r>
              <a:rPr lang="en-US" err="1"/>
              <a:t>flujo</a:t>
            </a:r>
            <a:r>
              <a:rPr lang="en-US"/>
              <a:t> </a:t>
            </a:r>
            <a:r>
              <a:rPr lang="en-US" err="1"/>
              <a:t>promedio</a:t>
            </a:r>
            <a:r>
              <a:rPr lang="en-US"/>
              <a:t> de </a:t>
            </a:r>
            <a:r>
              <a:rPr lang="en-US" err="1"/>
              <a:t>agua</a:t>
            </a:r>
            <a:r>
              <a:rPr lang="en-US"/>
              <a:t> lo </a:t>
            </a:r>
            <a:r>
              <a:rPr lang="en-US" err="1"/>
              <a:t>maneja</a:t>
            </a:r>
            <a:r>
              <a:rPr lang="en-US"/>
              <a:t> la </a:t>
            </a:r>
            <a:r>
              <a:rPr lang="en-US" err="1"/>
              <a:t>tubería</a:t>
            </a:r>
            <a:r>
              <a:rPr lang="en-US"/>
              <a:t> </a:t>
            </a:r>
            <a:r>
              <a:rPr lang="en-US" err="1"/>
              <a:t>grande</a:t>
            </a:r>
            <a:r>
              <a:rPr lang="en-US"/>
              <a:t> (inductor), </a:t>
            </a:r>
            <a:r>
              <a:rPr lang="en-US" err="1"/>
              <a:t>pero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depósito</a:t>
            </a:r>
            <a:r>
              <a:rPr lang="en-US"/>
              <a:t> </a:t>
            </a:r>
            <a:r>
              <a:rPr lang="en-US" err="1"/>
              <a:t>corrige</a:t>
            </a:r>
            <a:r>
              <a:rPr lang="en-US"/>
              <a:t> las </a:t>
            </a:r>
            <a:r>
              <a:rPr lang="en-US" err="1"/>
              <a:t>variaciones</a:t>
            </a:r>
            <a:r>
              <a:rPr lang="en-US"/>
              <a:t> </a:t>
            </a:r>
            <a:r>
              <a:rPr lang="en-US" err="1"/>
              <a:t>instantánea</a:t>
            </a:r>
            <a:endParaRPr lang="en-US"/>
          </a:p>
          <a:p>
            <a:pPr marL="228600" indent="0"/>
            <a:endParaRPr lang="en-US"/>
          </a:p>
          <a:p>
            <a:pPr>
              <a:buChar char="•"/>
            </a:pPr>
            <a:r>
              <a:rPr lang="en-US" err="1"/>
              <a:t>Diodo</a:t>
            </a:r>
            <a:r>
              <a:rPr lang="en-US"/>
              <a:t>: Un </a:t>
            </a:r>
            <a:r>
              <a:rPr lang="en-US" err="1"/>
              <a:t>diodo</a:t>
            </a:r>
            <a:r>
              <a:rPr lang="en-US"/>
              <a:t> Schottky se </a:t>
            </a:r>
            <a:r>
              <a:rPr lang="en-US" err="1"/>
              <a:t>diferencia</a:t>
            </a:r>
            <a:r>
              <a:rPr lang="en-US"/>
              <a:t>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tener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caída</a:t>
            </a:r>
            <a:r>
              <a:rPr lang="en-US"/>
              <a:t> de </a:t>
            </a:r>
            <a:r>
              <a:rPr lang="en-US" err="1"/>
              <a:t>tensión</a:t>
            </a:r>
            <a:r>
              <a:rPr lang="en-US"/>
              <a:t> </a:t>
            </a:r>
            <a:r>
              <a:rPr lang="en-US" err="1"/>
              <a:t>directa</a:t>
            </a:r>
            <a:r>
              <a:rPr lang="en-US"/>
              <a:t> </a:t>
            </a:r>
            <a:r>
              <a:rPr lang="en-US" err="1"/>
              <a:t>mucho</a:t>
            </a:r>
            <a:r>
              <a:rPr lang="en-US"/>
              <a:t> </a:t>
            </a:r>
            <a:r>
              <a:rPr lang="en-US" err="1"/>
              <a:t>menor</a:t>
            </a:r>
            <a:r>
              <a:rPr lang="en-US"/>
              <a:t>, de 0.2 a 0.4 V, lo </a:t>
            </a:r>
            <a:r>
              <a:rPr lang="en-US" err="1"/>
              <a:t>que</a:t>
            </a:r>
            <a:r>
              <a:rPr lang="en-US"/>
              <a:t> reduce las </a:t>
            </a:r>
            <a:r>
              <a:rPr lang="en-US" err="1"/>
              <a:t>pérdidas</a:t>
            </a:r>
            <a:r>
              <a:rPr lang="en-US"/>
              <a:t> de </a:t>
            </a:r>
            <a:r>
              <a:rPr lang="en-US" err="1"/>
              <a:t>conducción</a:t>
            </a:r>
            <a:r>
              <a:rPr lang="en-US"/>
              <a:t>. </a:t>
            </a:r>
            <a:r>
              <a:rPr lang="en-US" err="1"/>
              <a:t>Además</a:t>
            </a:r>
            <a:r>
              <a:rPr lang="en-US"/>
              <a:t>, </a:t>
            </a:r>
            <a:r>
              <a:rPr lang="en-US" err="1"/>
              <a:t>prácticamente</a:t>
            </a:r>
            <a:r>
              <a:rPr lang="en-US"/>
              <a:t> no </a:t>
            </a:r>
            <a:r>
              <a:rPr lang="en-US" err="1"/>
              <a:t>tiene</a:t>
            </a:r>
            <a:r>
              <a:rPr lang="en-US"/>
              <a:t> </a:t>
            </a:r>
            <a:r>
              <a:rPr lang="en-US" err="1"/>
              <a:t>tiempo</a:t>
            </a:r>
            <a:r>
              <a:rPr lang="en-US"/>
              <a:t> de </a:t>
            </a:r>
            <a:r>
              <a:rPr lang="en-US" err="1"/>
              <a:t>recuperación</a:t>
            </a:r>
            <a:r>
              <a:rPr lang="en-US"/>
              <a:t> </a:t>
            </a:r>
            <a:r>
              <a:rPr lang="en-US" err="1"/>
              <a:t>inversa</a:t>
            </a:r>
            <a:r>
              <a:rPr lang="en-US"/>
              <a:t>, es </a:t>
            </a:r>
            <a:r>
              <a:rPr lang="en-US" err="1"/>
              <a:t>decir</a:t>
            </a:r>
            <a:r>
              <a:rPr lang="en-US"/>
              <a:t>, </a:t>
            </a:r>
            <a:r>
              <a:rPr lang="en-US" err="1"/>
              <a:t>puede</a:t>
            </a:r>
            <a:r>
              <a:rPr lang="en-US"/>
              <a:t> </a:t>
            </a:r>
            <a:r>
              <a:rPr lang="en-US" err="1"/>
              <a:t>apagarse</a:t>
            </a:r>
            <a:r>
              <a:rPr lang="en-US"/>
              <a:t> </a:t>
            </a:r>
            <a:r>
              <a:rPr lang="en-US" err="1"/>
              <a:t>instantáneamente</a:t>
            </a:r>
            <a:r>
              <a:rPr lang="en-US"/>
              <a:t>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pasa</a:t>
            </a:r>
            <a:r>
              <a:rPr lang="en-US"/>
              <a:t> de </a:t>
            </a:r>
            <a:r>
              <a:rPr lang="en-US" err="1"/>
              <a:t>estar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conducción</a:t>
            </a:r>
            <a:r>
              <a:rPr lang="en-US"/>
              <a:t> a </a:t>
            </a:r>
            <a:r>
              <a:rPr lang="en-US" err="1"/>
              <a:t>bloqueo</a:t>
            </a:r>
            <a:r>
              <a:rPr lang="en-US"/>
              <a:t>, </a:t>
            </a:r>
            <a:r>
              <a:rPr lang="en-US" err="1"/>
              <a:t>evitando</a:t>
            </a:r>
            <a:r>
              <a:rPr lang="en-US"/>
              <a:t> </a:t>
            </a:r>
            <a:r>
              <a:rPr lang="en-US" err="1"/>
              <a:t>corrientes</a:t>
            </a:r>
            <a:r>
              <a:rPr lang="en-US"/>
              <a:t> </a:t>
            </a:r>
            <a:r>
              <a:rPr lang="en-US" err="1"/>
              <a:t>inversas</a:t>
            </a:r>
            <a:r>
              <a:rPr lang="en-US"/>
              <a:t> no </a:t>
            </a:r>
            <a:r>
              <a:rPr lang="en-US" err="1"/>
              <a:t>deseadas</a:t>
            </a:r>
            <a:r>
              <a:rPr lang="en-US"/>
              <a:t>. </a:t>
            </a:r>
            <a:r>
              <a:rPr lang="en-US" err="1"/>
              <a:t>Estas</a:t>
            </a:r>
            <a:r>
              <a:rPr lang="en-US"/>
              <a:t> dos </a:t>
            </a:r>
            <a:r>
              <a:rPr lang="en-US" err="1"/>
              <a:t>características</a:t>
            </a:r>
            <a:r>
              <a:rPr lang="en-US"/>
              <a:t> lo </a:t>
            </a:r>
            <a:r>
              <a:rPr lang="en-US" err="1"/>
              <a:t>hacen</a:t>
            </a:r>
            <a:r>
              <a:rPr lang="en-US"/>
              <a:t> </a:t>
            </a:r>
            <a:r>
              <a:rPr lang="en-US" err="1"/>
              <a:t>especialmente</a:t>
            </a:r>
            <a:r>
              <a:rPr lang="en-US"/>
              <a:t> </a:t>
            </a:r>
            <a:r>
              <a:rPr lang="en-US" err="1"/>
              <a:t>eficiente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aplicaciones</a:t>
            </a:r>
            <a:r>
              <a:rPr lang="en-US"/>
              <a:t> de </a:t>
            </a:r>
            <a:r>
              <a:rPr lang="en-US" err="1"/>
              <a:t>alta</a:t>
            </a:r>
            <a:r>
              <a:rPr lang="en-US"/>
              <a:t> </a:t>
            </a:r>
            <a:r>
              <a:rPr lang="en-US" err="1"/>
              <a:t>frecuencia</a:t>
            </a:r>
            <a:r>
              <a:rPr lang="en-US"/>
              <a:t>,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nuestro</a:t>
            </a:r>
            <a:r>
              <a:rPr lang="en-US"/>
              <a:t> </a:t>
            </a:r>
            <a:r>
              <a:rPr lang="en-US" err="1"/>
              <a:t>convertidor</a:t>
            </a:r>
            <a:r>
              <a:rPr lang="en-US"/>
              <a:t> DC/DC.</a:t>
            </a:r>
            <a:endParaRPr lang="es-ES"/>
          </a:p>
          <a:p>
            <a:pPr>
              <a:buChar char="•"/>
            </a:pPr>
            <a:endParaRPr lang="en-US"/>
          </a:p>
          <a:p>
            <a:pPr>
              <a:buChar char="•"/>
            </a:pPr>
            <a:r>
              <a:rPr lang="en-US"/>
              <a:t>con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caída</a:t>
            </a:r>
            <a:r>
              <a:rPr lang="en-US"/>
              <a:t> de </a:t>
            </a:r>
            <a:r>
              <a:rPr lang="en-US" err="1"/>
              <a:t>tensión</a:t>
            </a:r>
            <a:r>
              <a:rPr lang="en-US"/>
              <a:t> </a:t>
            </a:r>
            <a:r>
              <a:rPr lang="en-US" err="1"/>
              <a:t>muy</a:t>
            </a:r>
            <a:r>
              <a:rPr lang="en-US"/>
              <a:t> baja </a:t>
            </a:r>
            <a:r>
              <a:rPr lang="en-US" err="1"/>
              <a:t>debido</a:t>
            </a:r>
            <a:r>
              <a:rPr lang="en-US"/>
              <a:t> a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estructura</a:t>
            </a:r>
            <a:r>
              <a:rPr lang="en-US"/>
              <a:t> de </a:t>
            </a:r>
            <a:r>
              <a:rPr lang="en-US" err="1"/>
              <a:t>unión</a:t>
            </a:r>
            <a:r>
              <a:rPr lang="en-US"/>
              <a:t> metal-semiconductor, lo </a:t>
            </a:r>
            <a:r>
              <a:rPr lang="en-US" err="1"/>
              <a:t>que</a:t>
            </a:r>
            <a:r>
              <a:rPr lang="en-US"/>
              <a:t> lo </a:t>
            </a:r>
            <a:r>
              <a:rPr lang="en-US" err="1"/>
              <a:t>hace</a:t>
            </a:r>
            <a:r>
              <a:rPr lang="en-US"/>
              <a:t> </a:t>
            </a:r>
            <a:r>
              <a:rPr lang="en-US" err="1"/>
              <a:t>adecuado</a:t>
            </a:r>
            <a:r>
              <a:rPr lang="en-US"/>
              <a:t> para </a:t>
            </a:r>
            <a:r>
              <a:rPr lang="en-US" err="1"/>
              <a:t>aplicaciones</a:t>
            </a:r>
            <a:r>
              <a:rPr lang="en-US"/>
              <a:t> de </a:t>
            </a:r>
            <a:r>
              <a:rPr lang="en-US" err="1"/>
              <a:t>alta</a:t>
            </a:r>
            <a:r>
              <a:rPr lang="en-US"/>
              <a:t> </a:t>
            </a:r>
            <a:r>
              <a:rPr lang="en-US" err="1"/>
              <a:t>velocidad</a:t>
            </a:r>
            <a:r>
              <a:rPr lang="en-US"/>
              <a:t> y baja </a:t>
            </a:r>
            <a:r>
              <a:rPr lang="en-US" err="1"/>
              <a:t>pérdida</a:t>
            </a:r>
            <a:r>
              <a:rPr lang="en-US"/>
              <a:t> de </a:t>
            </a:r>
            <a:r>
              <a:rPr lang="en-US" err="1"/>
              <a:t>energía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circuitos</a:t>
            </a:r>
            <a:r>
              <a:rPr lang="en-US"/>
              <a:t> </a:t>
            </a:r>
            <a:r>
              <a:rPr lang="en-US" err="1"/>
              <a:t>electrónicos</a:t>
            </a:r>
            <a:r>
              <a:rPr lang="en-US"/>
              <a:t>.</a:t>
            </a:r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6</a:t>
            </a:fld>
            <a:endParaRPr lang="en-US" sz="12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2802736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DRIVER: </a:t>
            </a:r>
            <a:r>
              <a:rPr lang="en-US"/>
              <a:t>El driver </a:t>
            </a:r>
            <a:r>
              <a:rPr lang="en-US" err="1"/>
              <a:t>garantiza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MOSFETs </a:t>
            </a:r>
            <a:r>
              <a:rPr lang="en-US" err="1"/>
              <a:t>trabajen</a:t>
            </a:r>
            <a:r>
              <a:rPr lang="en-US"/>
              <a:t> de forma </a:t>
            </a:r>
            <a:r>
              <a:rPr lang="en-US" err="1"/>
              <a:t>segura</a:t>
            </a:r>
            <a:r>
              <a:rPr lang="en-US"/>
              <a:t> y </a:t>
            </a:r>
            <a:r>
              <a:rPr lang="en-US" err="1"/>
              <a:t>eficiente</a:t>
            </a:r>
            <a:r>
              <a:rPr lang="en-US"/>
              <a:t> </a:t>
            </a:r>
            <a:r>
              <a:rPr lang="en-US" err="1"/>
              <a:t>porque</a:t>
            </a:r>
            <a:r>
              <a:rPr lang="en-US"/>
              <a:t> </a:t>
            </a:r>
            <a:r>
              <a:rPr lang="en-US" err="1"/>
              <a:t>entrega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voltaje</a:t>
            </a:r>
            <a:r>
              <a:rPr lang="en-US"/>
              <a:t> de </a:t>
            </a:r>
            <a:r>
              <a:rPr lang="en-US" err="1"/>
              <a:t>compuerta</a:t>
            </a:r>
            <a:r>
              <a:rPr lang="en-US"/>
              <a:t> </a:t>
            </a:r>
            <a:r>
              <a:rPr lang="en-US" err="1"/>
              <a:t>adecuado</a:t>
            </a:r>
            <a:r>
              <a:rPr lang="en-US"/>
              <a:t>, </a:t>
            </a:r>
            <a:r>
              <a:rPr lang="en-US" err="1"/>
              <a:t>permite</a:t>
            </a:r>
            <a:r>
              <a:rPr lang="en-US"/>
              <a:t> </a:t>
            </a:r>
            <a:r>
              <a:rPr lang="en-US" err="1"/>
              <a:t>manejar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MOSFET de alto </a:t>
            </a:r>
            <a:r>
              <a:rPr lang="en-US" err="1"/>
              <a:t>lado</a:t>
            </a:r>
            <a:r>
              <a:rPr lang="en-US"/>
              <a:t> </a:t>
            </a:r>
            <a:r>
              <a:rPr lang="en-US" err="1"/>
              <a:t>mediante</a:t>
            </a:r>
            <a:r>
              <a:rPr lang="en-US"/>
              <a:t> bootstrap, introduce dead-time para </a:t>
            </a:r>
            <a:r>
              <a:rPr lang="en-US" err="1"/>
              <a:t>evitar</a:t>
            </a:r>
            <a:r>
              <a:rPr lang="en-US"/>
              <a:t> </a:t>
            </a:r>
            <a:r>
              <a:rPr lang="en-US" err="1"/>
              <a:t>cortocircuitos</a:t>
            </a:r>
            <a:r>
              <a:rPr lang="en-US"/>
              <a:t>, y </a:t>
            </a:r>
            <a:r>
              <a:rPr lang="en-US" err="1"/>
              <a:t>conmuta</a:t>
            </a:r>
            <a:r>
              <a:rPr lang="en-US"/>
              <a:t> la </a:t>
            </a:r>
            <a:r>
              <a:rPr lang="en-US" err="1"/>
              <a:t>compuerta</a:t>
            </a:r>
            <a:r>
              <a:rPr lang="en-US"/>
              <a:t> con la </a:t>
            </a:r>
            <a:r>
              <a:rPr lang="en-US" err="1"/>
              <a:t>velocidad</a:t>
            </a:r>
            <a:r>
              <a:rPr lang="en-US"/>
              <a:t> </a:t>
            </a:r>
            <a:r>
              <a:rPr lang="en-US" err="1"/>
              <a:t>correcta</a:t>
            </a:r>
            <a:r>
              <a:rPr lang="en-US"/>
              <a:t>. De </a:t>
            </a:r>
            <a:r>
              <a:rPr lang="en-US" err="1"/>
              <a:t>esta</a:t>
            </a:r>
            <a:r>
              <a:rPr lang="en-US"/>
              <a:t> </a:t>
            </a:r>
            <a:r>
              <a:rPr lang="en-US" err="1"/>
              <a:t>manera</a:t>
            </a:r>
            <a:r>
              <a:rPr lang="en-US"/>
              <a:t> </a:t>
            </a:r>
            <a:r>
              <a:rPr lang="en-US" err="1"/>
              <a:t>evita</a:t>
            </a:r>
            <a:r>
              <a:rPr lang="en-US"/>
              <a:t> </a:t>
            </a:r>
            <a:r>
              <a:rPr lang="en-US" err="1"/>
              <a:t>pérdidas</a:t>
            </a:r>
            <a:r>
              <a:rPr lang="en-US"/>
              <a:t> </a:t>
            </a:r>
            <a:r>
              <a:rPr lang="en-US" err="1"/>
              <a:t>innecesarias</a:t>
            </a:r>
            <a:r>
              <a:rPr lang="en-US"/>
              <a:t>, </a:t>
            </a:r>
            <a:r>
              <a:rPr lang="en-US" err="1"/>
              <a:t>sobrecalentamientos</a:t>
            </a:r>
            <a:r>
              <a:rPr lang="en-US"/>
              <a:t> y </a:t>
            </a:r>
            <a:r>
              <a:rPr lang="en-US" err="1"/>
              <a:t>fallas</a:t>
            </a:r>
            <a:r>
              <a:rPr lang="en-US"/>
              <a:t>, </a:t>
            </a:r>
            <a:r>
              <a:rPr lang="en-US" err="1"/>
              <a:t>asegurando</a:t>
            </a:r>
            <a:r>
              <a:rPr lang="en-US"/>
              <a:t> la </a:t>
            </a:r>
            <a:r>
              <a:rPr lang="en-US" err="1"/>
              <a:t>eficiencia</a:t>
            </a:r>
            <a:r>
              <a:rPr lang="en-US"/>
              <a:t> y la </a:t>
            </a:r>
            <a:r>
              <a:rPr lang="en-US" err="1"/>
              <a:t>confiabilidad</a:t>
            </a:r>
            <a:r>
              <a:rPr lang="en-US"/>
              <a:t> del </a:t>
            </a:r>
            <a:r>
              <a:rPr lang="en-US" err="1"/>
              <a:t>convertidor</a:t>
            </a:r>
            <a:r>
              <a:rPr lang="en-US"/>
              <a:t>.</a:t>
            </a:r>
            <a:endParaRPr lang="en-US" b="1"/>
          </a:p>
          <a:p>
            <a:r>
              <a:rPr lang="en-US"/>
              <a:t>El driver es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conductor de un auto: </a:t>
            </a:r>
            <a:r>
              <a:rPr lang="en-US" err="1"/>
              <a:t>el</a:t>
            </a:r>
            <a:r>
              <a:rPr lang="en-US"/>
              <a:t> MOSFET </a:t>
            </a:r>
            <a:r>
              <a:rPr lang="en-US" err="1"/>
              <a:t>tiene</a:t>
            </a:r>
            <a:r>
              <a:rPr lang="en-US"/>
              <a:t> la </a:t>
            </a:r>
            <a:r>
              <a:rPr lang="en-US" err="1"/>
              <a:t>potencia</a:t>
            </a:r>
            <a:r>
              <a:rPr lang="en-US"/>
              <a:t>, </a:t>
            </a:r>
            <a:r>
              <a:rPr lang="en-US" err="1"/>
              <a:t>pero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driver decide </a:t>
            </a:r>
            <a:r>
              <a:rPr lang="en-US" err="1"/>
              <a:t>cuándo</a:t>
            </a:r>
            <a:r>
              <a:rPr lang="en-US"/>
              <a:t> </a:t>
            </a:r>
            <a:r>
              <a:rPr lang="en-US" err="1"/>
              <a:t>acelerar</a:t>
            </a:r>
            <a:r>
              <a:rPr lang="en-US"/>
              <a:t> y </a:t>
            </a:r>
            <a:r>
              <a:rPr lang="en-US" err="1"/>
              <a:t>cuándo</a:t>
            </a:r>
            <a:r>
              <a:rPr lang="en-US"/>
              <a:t> </a:t>
            </a:r>
            <a:r>
              <a:rPr lang="en-US" err="1"/>
              <a:t>frenar</a:t>
            </a:r>
            <a:r>
              <a:rPr lang="en-US"/>
              <a:t>. </a:t>
            </a:r>
            <a:r>
              <a:rPr lang="en-US" err="1"/>
              <a:t>Además</a:t>
            </a:r>
            <a:r>
              <a:rPr lang="en-US"/>
              <a:t>, </a:t>
            </a:r>
            <a:r>
              <a:rPr lang="en-US" err="1"/>
              <a:t>evita</a:t>
            </a:r>
            <a:r>
              <a:rPr lang="en-US"/>
              <a:t> </a:t>
            </a:r>
            <a:r>
              <a:rPr lang="en-US" err="1"/>
              <a:t>errores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apretar</a:t>
            </a:r>
            <a:r>
              <a:rPr lang="en-US"/>
              <a:t> dos </a:t>
            </a:r>
            <a:r>
              <a:rPr lang="en-US" err="1"/>
              <a:t>pedales</a:t>
            </a:r>
            <a:r>
              <a:rPr lang="en-US"/>
              <a:t> a la </a:t>
            </a:r>
            <a:r>
              <a:rPr lang="en-US" err="1"/>
              <a:t>vez</a:t>
            </a:r>
            <a:r>
              <a:rPr lang="en-US"/>
              <a:t> (dead-time), </a:t>
            </a:r>
            <a:r>
              <a:rPr lang="en-US" err="1"/>
              <a:t>aplica</a:t>
            </a:r>
            <a:r>
              <a:rPr lang="en-US"/>
              <a:t> la </a:t>
            </a:r>
            <a:r>
              <a:rPr lang="en-US" err="1"/>
              <a:t>fuerza</a:t>
            </a:r>
            <a:r>
              <a:rPr lang="en-US"/>
              <a:t> </a:t>
            </a:r>
            <a:r>
              <a:rPr lang="en-US" err="1"/>
              <a:t>justa</a:t>
            </a:r>
            <a:r>
              <a:rPr lang="en-US"/>
              <a:t> para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motor </a:t>
            </a:r>
            <a:r>
              <a:rPr lang="en-US" err="1"/>
              <a:t>rinda</a:t>
            </a:r>
            <a:r>
              <a:rPr lang="en-US"/>
              <a:t> (</a:t>
            </a:r>
            <a:r>
              <a:rPr lang="en-US" err="1"/>
              <a:t>Vgs</a:t>
            </a:r>
            <a:r>
              <a:rPr lang="en-US"/>
              <a:t> </a:t>
            </a:r>
            <a:r>
              <a:rPr lang="en-US" err="1"/>
              <a:t>correcto</a:t>
            </a:r>
            <a:r>
              <a:rPr lang="en-US"/>
              <a:t>) y </a:t>
            </a:r>
            <a:r>
              <a:rPr lang="en-US" err="1"/>
              <a:t>asegura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vehículo</a:t>
            </a:r>
            <a:r>
              <a:rPr lang="en-US"/>
              <a:t> </a:t>
            </a:r>
            <a:r>
              <a:rPr lang="en-US" err="1"/>
              <a:t>avance</a:t>
            </a:r>
            <a:r>
              <a:rPr lang="en-US"/>
              <a:t> de forma </a:t>
            </a:r>
            <a:r>
              <a:rPr lang="en-US" err="1"/>
              <a:t>eficiente</a:t>
            </a:r>
            <a:r>
              <a:rPr lang="en-US"/>
              <a:t> y </a:t>
            </a:r>
            <a:r>
              <a:rPr lang="en-US" err="1"/>
              <a:t>segura</a:t>
            </a:r>
            <a:r>
              <a:rPr lang="en-US"/>
              <a:t>.</a:t>
            </a:r>
          </a:p>
          <a:p>
            <a:r>
              <a:rPr lang="en-US" b="1" err="1"/>
              <a:t>Mosfet</a:t>
            </a:r>
            <a:r>
              <a:rPr lang="en-US" b="1"/>
              <a:t>: </a:t>
            </a:r>
            <a:r>
              <a:rPr lang="en-US" b="1">
                <a:solidFill>
                  <a:srgbClr val="000000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metal-oxide-semiconductor field-effect </a:t>
            </a:r>
            <a:r>
              <a:rPr lang="en-US" err="1">
                <a:solidFill>
                  <a:schemeClr val="tx1"/>
                </a:solidFill>
              </a:rPr>
              <a:t>transistor</a:t>
            </a:r>
            <a:r>
              <a:rPr lang="en-US" err="1">
                <a:solidFill>
                  <a:srgbClr val="EEF0FF"/>
                </a:solidFill>
              </a:rPr>
              <a:t>Metal</a:t>
            </a:r>
            <a:r>
              <a:rPr lang="en-US">
                <a:solidFill>
                  <a:srgbClr val="EEF0FF"/>
                </a:solidFill>
              </a:rPr>
              <a:t> Oxide Semiconductor Field-Effect Transistor</a:t>
            </a:r>
            <a:r>
              <a:rPr lang="en-US" b="1">
                <a:solidFill>
                  <a:srgbClr val="000000"/>
                </a:solidFill>
              </a:rPr>
              <a:t> </a:t>
            </a:r>
            <a:r>
              <a:rPr lang="en-US">
                <a:solidFill>
                  <a:srgbClr val="EEF0FF"/>
                </a:solidFill>
              </a:rPr>
              <a:t>Metal Oxide Semiconductor Field-Effect Transistor</a:t>
            </a:r>
            <a:endParaRPr lang="en-US" b="1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7</a:t>
            </a:fld>
            <a:endParaRPr lang="en-US" sz="12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155472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</a:t>
            </a:r>
            <a:r>
              <a:rPr lang="en-US" err="1"/>
              <a:t>circuito</a:t>
            </a:r>
            <a:r>
              <a:rPr lang="en-US"/>
              <a:t> bootstrap </a:t>
            </a:r>
            <a:r>
              <a:rPr lang="en-US" err="1"/>
              <a:t>permite</a:t>
            </a:r>
            <a:r>
              <a:rPr lang="en-US"/>
              <a:t> </a:t>
            </a:r>
            <a:r>
              <a:rPr lang="en-US" err="1"/>
              <a:t>generar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voltaje</a:t>
            </a:r>
            <a:r>
              <a:rPr lang="en-US"/>
              <a:t> </a:t>
            </a:r>
            <a:r>
              <a:rPr lang="en-US" err="1"/>
              <a:t>necesario</a:t>
            </a:r>
            <a:r>
              <a:rPr lang="en-US"/>
              <a:t> para </a:t>
            </a:r>
            <a:r>
              <a:rPr lang="en-US" err="1"/>
              <a:t>activar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MOSFET de alto </a:t>
            </a:r>
            <a:r>
              <a:rPr lang="en-US" err="1"/>
              <a:t>lado</a:t>
            </a:r>
            <a:r>
              <a:rPr lang="en-US"/>
              <a:t>, </a:t>
            </a:r>
            <a:r>
              <a:rPr lang="en-US" err="1"/>
              <a:t>ya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su</a:t>
            </a:r>
            <a:r>
              <a:rPr lang="en-US"/>
              <a:t> terminal source (VS) no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err="1"/>
              <a:t>fijo</a:t>
            </a:r>
            <a:r>
              <a:rPr lang="en-US"/>
              <a:t> a tierra, </a:t>
            </a:r>
            <a:r>
              <a:rPr lang="en-US" err="1"/>
              <a:t>sino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fluctúa</a:t>
            </a:r>
            <a:r>
              <a:rPr lang="en-US"/>
              <a:t> entre 0 V y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voltaje</a:t>
            </a:r>
            <a:r>
              <a:rPr lang="en-US"/>
              <a:t> de </a:t>
            </a:r>
            <a:r>
              <a:rPr lang="en-US" err="1"/>
              <a:t>salida</a:t>
            </a:r>
            <a:r>
              <a:rPr lang="en-US"/>
              <a:t>.</a:t>
            </a:r>
            <a:endParaRPr lang="es-ES"/>
          </a:p>
          <a:p>
            <a:r>
              <a:rPr lang="en-US"/>
              <a:t>El capacitor bootstrap se carga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MOSFET de bajo </a:t>
            </a:r>
            <a:r>
              <a:rPr lang="en-US" err="1"/>
              <a:t>lado</a:t>
            </a:r>
            <a:r>
              <a:rPr lang="en-US"/>
              <a:t> conduce, </a:t>
            </a:r>
            <a:r>
              <a:rPr lang="en-US" err="1"/>
              <a:t>acumulando</a:t>
            </a:r>
            <a:r>
              <a:rPr lang="en-US"/>
              <a:t> un </a:t>
            </a:r>
            <a:r>
              <a:rPr lang="en-US" err="1"/>
              <a:t>voltaje</a:t>
            </a:r>
            <a:r>
              <a:rPr lang="en-US"/>
              <a:t> </a:t>
            </a:r>
            <a:r>
              <a:rPr lang="en-US" err="1"/>
              <a:t>aproximadamente</a:t>
            </a:r>
            <a:r>
              <a:rPr lang="en-US"/>
              <a:t> </a:t>
            </a:r>
            <a:r>
              <a:rPr lang="en-US" err="1"/>
              <a:t>igual</a:t>
            </a:r>
            <a:r>
              <a:rPr lang="en-US"/>
              <a:t> a </a:t>
            </a:r>
            <a:r>
              <a:rPr lang="en-US" err="1"/>
              <a:t>Vcc</a:t>
            </a:r>
            <a:r>
              <a:rPr lang="en-US"/>
              <a:t>. Luego, </a:t>
            </a:r>
            <a:r>
              <a:rPr lang="en-US" err="1"/>
              <a:t>cuando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driver </a:t>
            </a:r>
            <a:r>
              <a:rPr lang="en-US" err="1"/>
              <a:t>necesita</a:t>
            </a:r>
            <a:r>
              <a:rPr lang="en-US"/>
              <a:t> </a:t>
            </a:r>
            <a:r>
              <a:rPr lang="en-US" err="1"/>
              <a:t>encender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MOSFET alto, ese capacitor se </a:t>
            </a:r>
            <a:r>
              <a:rPr lang="en-US" err="1"/>
              <a:t>usa</a:t>
            </a:r>
            <a:r>
              <a:rPr lang="en-US"/>
              <a:t> </a:t>
            </a:r>
            <a:r>
              <a:rPr lang="en-US" err="1"/>
              <a:t>como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fuente</a:t>
            </a:r>
            <a:r>
              <a:rPr lang="en-US"/>
              <a:t> temporal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eleva</a:t>
            </a:r>
            <a:r>
              <a:rPr lang="en-US"/>
              <a:t> la </a:t>
            </a:r>
            <a:r>
              <a:rPr lang="en-US" err="1"/>
              <a:t>compuerta</a:t>
            </a:r>
            <a:r>
              <a:rPr lang="en-US"/>
              <a:t> </a:t>
            </a:r>
            <a:r>
              <a:rPr lang="en-US" err="1"/>
              <a:t>unos</a:t>
            </a:r>
            <a:r>
              <a:rPr lang="en-US"/>
              <a:t> 10–12 V </a:t>
            </a:r>
            <a:r>
              <a:rPr lang="en-US" err="1"/>
              <a:t>por</a:t>
            </a:r>
            <a:r>
              <a:rPr lang="en-US"/>
              <a:t> </a:t>
            </a:r>
            <a:r>
              <a:rPr lang="en-US" err="1"/>
              <a:t>encima</a:t>
            </a:r>
            <a:r>
              <a:rPr lang="en-US"/>
              <a:t> del </a:t>
            </a:r>
            <a:r>
              <a:rPr lang="en-US" err="1"/>
              <a:t>nodo</a:t>
            </a:r>
            <a:r>
              <a:rPr lang="en-US"/>
              <a:t> VS, </a:t>
            </a:r>
            <a:r>
              <a:rPr lang="en-US" err="1"/>
              <a:t>permitiendo</a:t>
            </a:r>
            <a:r>
              <a:rPr lang="en-US"/>
              <a:t> </a:t>
            </a:r>
            <a:r>
              <a:rPr lang="en-US" err="1"/>
              <a:t>una</a:t>
            </a:r>
            <a:r>
              <a:rPr lang="en-US"/>
              <a:t> </a:t>
            </a:r>
            <a:r>
              <a:rPr lang="en-US" err="1"/>
              <a:t>conmutación</a:t>
            </a:r>
            <a:r>
              <a:rPr lang="en-US"/>
              <a:t> </a:t>
            </a:r>
            <a:r>
              <a:rPr lang="en-US" err="1"/>
              <a:t>correcta</a:t>
            </a:r>
            <a:r>
              <a:rPr lang="en-US"/>
              <a:t>.</a:t>
            </a:r>
            <a:endParaRPr lang="es-ES"/>
          </a:p>
          <a:p>
            <a:r>
              <a:rPr lang="en-US"/>
              <a:t>Si </a:t>
            </a:r>
            <a:r>
              <a:rPr lang="en-US" err="1"/>
              <a:t>el</a:t>
            </a:r>
            <a:r>
              <a:rPr lang="en-US"/>
              <a:t> capacitor bootstrap es </a:t>
            </a:r>
            <a:r>
              <a:rPr lang="en-US" err="1"/>
              <a:t>demasiado</a:t>
            </a:r>
            <a:r>
              <a:rPr lang="en-US"/>
              <a:t> </a:t>
            </a:r>
            <a:r>
              <a:rPr lang="en-US" err="1"/>
              <a:t>pequeño</a:t>
            </a:r>
            <a:r>
              <a:rPr lang="en-US"/>
              <a:t>, </a:t>
            </a:r>
            <a:r>
              <a:rPr lang="en-US" b="1"/>
              <a:t>no </a:t>
            </a:r>
            <a:r>
              <a:rPr lang="en-US" b="1" err="1"/>
              <a:t>podrá</a:t>
            </a:r>
            <a:r>
              <a:rPr lang="en-US" b="1"/>
              <a:t> </a:t>
            </a:r>
            <a:r>
              <a:rPr lang="en-US" b="1" err="1"/>
              <a:t>almacenar</a:t>
            </a:r>
            <a:r>
              <a:rPr lang="en-US" b="1"/>
              <a:t> </a:t>
            </a:r>
            <a:r>
              <a:rPr lang="en-US" b="1" err="1"/>
              <a:t>suficiente</a:t>
            </a:r>
            <a:r>
              <a:rPr lang="en-US" b="1"/>
              <a:t> carga</a:t>
            </a:r>
            <a:r>
              <a:rPr lang="en-US"/>
              <a:t>, y </a:t>
            </a:r>
            <a:r>
              <a:rPr lang="en-US" err="1"/>
              <a:t>durante</a:t>
            </a:r>
            <a:r>
              <a:rPr lang="en-US"/>
              <a:t> la </a:t>
            </a:r>
            <a:r>
              <a:rPr lang="en-US" err="1"/>
              <a:t>conmutación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voltaje</a:t>
            </a:r>
            <a:r>
              <a:rPr lang="en-US"/>
              <a:t> VB </a:t>
            </a:r>
            <a:r>
              <a:rPr lang="en-US" err="1"/>
              <a:t>caerá</a:t>
            </a:r>
            <a:r>
              <a:rPr lang="en-US"/>
              <a:t> antes de </a:t>
            </a:r>
            <a:r>
              <a:rPr lang="en-US" err="1"/>
              <a:t>tiempo</a:t>
            </a:r>
            <a:r>
              <a:rPr lang="en-US"/>
              <a:t>. Esto </a:t>
            </a:r>
            <a:r>
              <a:rPr lang="en-US" err="1"/>
              <a:t>impediría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MOSFET alto </a:t>
            </a:r>
            <a:r>
              <a:rPr lang="en-US" err="1"/>
              <a:t>alcance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Vgs</a:t>
            </a:r>
            <a:r>
              <a:rPr lang="en-US"/>
              <a:t> </a:t>
            </a:r>
            <a:r>
              <a:rPr lang="en-US" err="1"/>
              <a:t>necesario</a:t>
            </a:r>
            <a:r>
              <a:rPr lang="en-US"/>
              <a:t> para </a:t>
            </a:r>
            <a:r>
              <a:rPr lang="en-US" err="1"/>
              <a:t>saturarse</a:t>
            </a:r>
            <a:r>
              <a:rPr lang="en-US"/>
              <a:t>, </a:t>
            </a:r>
            <a:r>
              <a:rPr lang="en-US" err="1"/>
              <a:t>generando</a:t>
            </a:r>
            <a:r>
              <a:rPr lang="en-US"/>
              <a:t> </a:t>
            </a:r>
            <a:r>
              <a:rPr lang="en-US" err="1"/>
              <a:t>conmutaciones</a:t>
            </a:r>
            <a:r>
              <a:rPr lang="en-US"/>
              <a:t> </a:t>
            </a:r>
            <a:r>
              <a:rPr lang="en-US" err="1"/>
              <a:t>incompletas</a:t>
            </a:r>
            <a:r>
              <a:rPr lang="en-US"/>
              <a:t>, </a:t>
            </a:r>
            <a:r>
              <a:rPr lang="en-US" err="1"/>
              <a:t>pérdidas</a:t>
            </a:r>
            <a:r>
              <a:rPr lang="en-US"/>
              <a:t> y </a:t>
            </a:r>
            <a:r>
              <a:rPr lang="en-US" err="1"/>
              <a:t>posible</a:t>
            </a:r>
            <a:r>
              <a:rPr lang="en-US"/>
              <a:t> </a:t>
            </a:r>
            <a:r>
              <a:rPr lang="en-US" err="1"/>
              <a:t>sobrecalentamiento</a:t>
            </a:r>
            <a:r>
              <a:rPr lang="en-US"/>
              <a:t>.</a:t>
            </a:r>
          </a:p>
          <a:p>
            <a:r>
              <a:rPr lang="en-US"/>
              <a:t>El capacitor de bootstrap </a:t>
            </a:r>
            <a:r>
              <a:rPr lang="en-US" err="1"/>
              <a:t>debe</a:t>
            </a:r>
            <a:r>
              <a:rPr lang="en-US"/>
              <a:t> </a:t>
            </a:r>
            <a:r>
              <a:rPr lang="en-US" err="1"/>
              <a:t>tener</a:t>
            </a:r>
            <a:r>
              <a:rPr lang="en-US"/>
              <a:t> un valor </a:t>
            </a:r>
            <a:r>
              <a:rPr lang="en-US" err="1"/>
              <a:t>adecuado</a:t>
            </a:r>
            <a:r>
              <a:rPr lang="en-US"/>
              <a:t> para </a:t>
            </a:r>
            <a:r>
              <a:rPr lang="en-US" err="1"/>
              <a:t>garantizar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QH se </a:t>
            </a:r>
            <a:r>
              <a:rPr lang="en-US" err="1"/>
              <a:t>encienda</a:t>
            </a:r>
            <a:r>
              <a:rPr lang="en-US"/>
              <a:t> </a:t>
            </a:r>
            <a:r>
              <a:rPr lang="en-US" err="1"/>
              <a:t>correctamente</a:t>
            </a:r>
            <a:r>
              <a:rPr lang="en-US"/>
              <a:t> y sin </a:t>
            </a:r>
            <a:r>
              <a:rPr lang="en-US" err="1"/>
              <a:t>pérdidas</a:t>
            </a:r>
            <a:r>
              <a:rPr lang="en-US"/>
              <a:t> </a:t>
            </a:r>
            <a:r>
              <a:rPr lang="en-US" err="1"/>
              <a:t>excesivas</a:t>
            </a:r>
            <a:r>
              <a:rPr lang="en-US"/>
              <a:t>; </a:t>
            </a:r>
            <a:r>
              <a:rPr lang="en-US" err="1"/>
              <a:t>muy</a:t>
            </a:r>
            <a:r>
              <a:rPr lang="en-US"/>
              <a:t> </a:t>
            </a:r>
            <a:r>
              <a:rPr lang="en-US" err="1"/>
              <a:t>pequeño</a:t>
            </a:r>
            <a:r>
              <a:rPr lang="en-US"/>
              <a:t> no carga </a:t>
            </a:r>
            <a:r>
              <a:rPr lang="en-US" err="1"/>
              <a:t>suficiente</a:t>
            </a:r>
            <a:r>
              <a:rPr lang="en-US"/>
              <a:t>, y </a:t>
            </a:r>
            <a:r>
              <a:rPr lang="en-US" err="1"/>
              <a:t>muy</a:t>
            </a:r>
            <a:r>
              <a:rPr lang="en-US"/>
              <a:t> </a:t>
            </a:r>
            <a:r>
              <a:rPr lang="en-US" err="1"/>
              <a:t>grande</a:t>
            </a:r>
            <a:r>
              <a:rPr lang="en-US"/>
              <a:t> </a:t>
            </a:r>
            <a:r>
              <a:rPr lang="en-US" err="1"/>
              <a:t>provoca</a:t>
            </a:r>
            <a:r>
              <a:rPr lang="en-US"/>
              <a:t> </a:t>
            </a:r>
            <a:r>
              <a:rPr lang="en-US" err="1"/>
              <a:t>retardos</a:t>
            </a:r>
            <a:r>
              <a:rPr lang="en-US"/>
              <a:t> y mayor </a:t>
            </a:r>
            <a:r>
              <a:rPr lang="en-US" err="1"/>
              <a:t>disipación</a:t>
            </a:r>
          </a:p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8</a:t>
            </a:fld>
            <a:endParaRPr lang="en-US" sz="12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29305882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dirty="0"/>
              <a:t>Durante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apagado</a:t>
            </a:r>
            <a:r>
              <a:rPr lang="en-US" dirty="0"/>
              <a:t> del MOSFET alto, la </a:t>
            </a:r>
            <a:r>
              <a:rPr lang="en-US" dirty="0" err="1"/>
              <a:t>corriente</a:t>
            </a:r>
            <a:r>
              <a:rPr lang="en-US" dirty="0"/>
              <a:t> del inductor </a:t>
            </a:r>
            <a:r>
              <a:rPr lang="en-US" dirty="0" err="1"/>
              <a:t>sigue</a:t>
            </a:r>
            <a:r>
              <a:rPr lang="en-US" dirty="0"/>
              <a:t> </a:t>
            </a:r>
            <a:r>
              <a:rPr lang="en-US" dirty="0" err="1"/>
              <a:t>fluyendo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sentido</a:t>
            </a:r>
            <a:r>
              <a:rPr lang="en-US" dirty="0"/>
              <a:t>: </a:t>
            </a:r>
            <a:r>
              <a:rPr lang="en-US" dirty="0" err="1"/>
              <a:t>alimenta</a:t>
            </a:r>
            <a:r>
              <a:rPr lang="en-US" dirty="0"/>
              <a:t> </a:t>
            </a:r>
            <a:r>
              <a:rPr lang="en-US" dirty="0" err="1"/>
              <a:t>principalmente</a:t>
            </a:r>
            <a:r>
              <a:rPr lang="en-US" dirty="0"/>
              <a:t> a la carga y,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menor</a:t>
            </a:r>
            <a:r>
              <a:rPr lang="en-US" dirty="0"/>
              <a:t> </a:t>
            </a:r>
            <a:r>
              <a:rPr lang="en-US" dirty="0" err="1"/>
              <a:t>medida</a:t>
            </a:r>
            <a:r>
              <a:rPr lang="en-US" dirty="0"/>
              <a:t>, al capacitor </a:t>
            </a:r>
            <a:r>
              <a:rPr lang="en-US" dirty="0" err="1"/>
              <a:t>que</a:t>
            </a:r>
            <a:r>
              <a:rPr lang="en-US" dirty="0"/>
              <a:t> filtra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voltaje</a:t>
            </a:r>
            <a:r>
              <a:rPr lang="en-US" dirty="0"/>
              <a:t>. Esa </a:t>
            </a:r>
            <a:r>
              <a:rPr lang="en-US" dirty="0" err="1"/>
              <a:t>corriente</a:t>
            </a:r>
            <a:r>
              <a:rPr lang="en-US" dirty="0"/>
              <a:t> luego </a:t>
            </a:r>
            <a:r>
              <a:rPr lang="en-US" dirty="0" err="1"/>
              <a:t>retorna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MOSFET de bajo </a:t>
            </a:r>
            <a:r>
              <a:rPr lang="en-US" dirty="0" err="1"/>
              <a:t>lado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tierra, </a:t>
            </a:r>
            <a:r>
              <a:rPr lang="en-US" dirty="0" err="1"/>
              <a:t>cerrando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lazo</a:t>
            </a:r>
            <a:r>
              <a:rPr lang="en-US" dirty="0"/>
              <a:t>. El capacitor no </a:t>
            </a:r>
            <a:r>
              <a:rPr lang="en-US" dirty="0" err="1"/>
              <a:t>reemplaza</a:t>
            </a:r>
            <a:r>
              <a:rPr lang="en-US" dirty="0"/>
              <a:t> al inductor, solo </a:t>
            </a:r>
            <a:r>
              <a:rPr lang="en-US" dirty="0" err="1"/>
              <a:t>estabiliza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voltaje</a:t>
            </a:r>
            <a:r>
              <a:rPr lang="en-US" dirty="0"/>
              <a:t> de </a:t>
            </a:r>
            <a:r>
              <a:rPr lang="en-US" dirty="0" err="1"/>
              <a:t>salida</a:t>
            </a:r>
            <a:r>
              <a:rPr lang="en-US" dirty="0"/>
              <a:t> </a:t>
            </a:r>
            <a:r>
              <a:rPr lang="en-US" dirty="0" err="1"/>
              <a:t>absorbiendo</a:t>
            </a:r>
            <a:r>
              <a:rPr lang="en-US" dirty="0"/>
              <a:t> las </a:t>
            </a:r>
            <a:r>
              <a:rPr lang="en-US" dirty="0" err="1"/>
              <a:t>variaciones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polaridad</a:t>
            </a:r>
            <a:r>
              <a:rPr lang="en-US" dirty="0"/>
              <a:t> del </a:t>
            </a:r>
            <a:r>
              <a:rPr lang="en-US" dirty="0" err="1"/>
              <a:t>voltaje</a:t>
            </a:r>
            <a:r>
              <a:rPr lang="en-US" dirty="0"/>
              <a:t> del inductor se </a:t>
            </a:r>
            <a:r>
              <a:rPr lang="en-US" dirty="0" err="1"/>
              <a:t>invierte</a:t>
            </a:r>
            <a:r>
              <a:rPr lang="en-US" dirty="0"/>
              <a:t>(Estado 2 buck y boost) </a:t>
            </a:r>
            <a:r>
              <a:rPr lang="en-US" b="1" dirty="0"/>
              <a:t>no para </a:t>
            </a:r>
            <a:r>
              <a:rPr lang="en-US" b="1" dirty="0" err="1"/>
              <a:t>generar</a:t>
            </a:r>
            <a:r>
              <a:rPr lang="en-US" b="1" dirty="0"/>
              <a:t> </a:t>
            </a:r>
            <a:r>
              <a:rPr lang="en-US" b="1" dirty="0" err="1"/>
              <a:t>energía</a:t>
            </a:r>
            <a:r>
              <a:rPr lang="en-US" b="1" dirty="0"/>
              <a:t> </a:t>
            </a:r>
            <a:r>
              <a:rPr lang="en-US" b="1" dirty="0" err="1"/>
              <a:t>nueva</a:t>
            </a:r>
            <a:r>
              <a:rPr lang="en-US" dirty="0"/>
              <a:t>, </a:t>
            </a:r>
            <a:r>
              <a:rPr lang="en-US" dirty="0" err="1"/>
              <a:t>sino</a:t>
            </a:r>
            <a:r>
              <a:rPr lang="en-US" dirty="0"/>
              <a:t> para </a:t>
            </a:r>
            <a:r>
              <a:rPr lang="en-US" dirty="0" err="1"/>
              <a:t>que</a:t>
            </a:r>
            <a:r>
              <a:rPr lang="en-US" dirty="0"/>
              <a:t> la </a:t>
            </a:r>
            <a:r>
              <a:rPr lang="en-US" b="1" dirty="0" err="1"/>
              <a:t>corriente</a:t>
            </a:r>
            <a:r>
              <a:rPr lang="en-US" b="1" dirty="0"/>
              <a:t> del inductor </a:t>
            </a:r>
            <a:r>
              <a:rPr lang="en-US" b="1" dirty="0" err="1"/>
              <a:t>continúe</a:t>
            </a:r>
            <a:r>
              <a:rPr lang="en-US" b="1" dirty="0"/>
              <a:t> </a:t>
            </a:r>
            <a:r>
              <a:rPr lang="en-US" b="1" dirty="0" err="1"/>
              <a:t>fluyendo</a:t>
            </a:r>
            <a:r>
              <a:rPr lang="en-US" b="1" dirty="0"/>
              <a:t> </a:t>
            </a:r>
            <a:r>
              <a:rPr lang="en-US" b="1" dirty="0" err="1"/>
              <a:t>hacia</a:t>
            </a:r>
            <a:r>
              <a:rPr lang="en-US" b="1" dirty="0"/>
              <a:t> la carga y </a:t>
            </a:r>
            <a:r>
              <a:rPr lang="en-US" b="1" dirty="0" err="1"/>
              <a:t>el</a:t>
            </a:r>
            <a:r>
              <a:rPr lang="en-US" b="1" dirty="0"/>
              <a:t> capacitor</a:t>
            </a:r>
            <a:r>
              <a:rPr lang="en-US" dirty="0"/>
              <a:t>. Es la </a:t>
            </a:r>
            <a:r>
              <a:rPr lang="en-US" dirty="0" err="1"/>
              <a:t>propiedad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inductores</a:t>
            </a:r>
            <a:r>
              <a:rPr lang="en-US" dirty="0"/>
              <a:t>: la </a:t>
            </a:r>
            <a:r>
              <a:rPr lang="en-US" dirty="0" err="1"/>
              <a:t>corriente</a:t>
            </a:r>
            <a:r>
              <a:rPr lang="en-US" dirty="0"/>
              <a:t> no cambia </a:t>
            </a:r>
            <a:r>
              <a:rPr lang="en-US" dirty="0" err="1"/>
              <a:t>instantáneamente</a:t>
            </a:r>
            <a:r>
              <a:rPr lang="en-US" dirty="0"/>
              <a:t>, y </a:t>
            </a:r>
            <a:r>
              <a:rPr lang="en-US" dirty="0" err="1"/>
              <a:t>el</a:t>
            </a:r>
            <a:r>
              <a:rPr lang="en-US" dirty="0"/>
              <a:t> inductor genera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voltaje</a:t>
            </a:r>
            <a:r>
              <a:rPr lang="en-US" dirty="0"/>
              <a:t> </a:t>
            </a:r>
            <a:r>
              <a:rPr lang="en-US" dirty="0" err="1"/>
              <a:t>necesario</a:t>
            </a:r>
            <a:r>
              <a:rPr lang="en-US" dirty="0"/>
              <a:t> para </a:t>
            </a:r>
            <a:r>
              <a:rPr lang="en-US" dirty="0" err="1"/>
              <a:t>mantenerla</a:t>
            </a:r>
            <a:r>
              <a:rPr lang="en-US" dirty="0"/>
              <a:t>.</a:t>
            </a:r>
            <a:endParaRPr lang="es-ES" dirty="0"/>
          </a:p>
        </p:txBody>
      </p:sp>
      <p:sp>
        <p:nvSpPr>
          <p:cNvPr id="137" name="Google Shape;13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b="1"/>
              <a:t>D = 61%</a:t>
            </a:r>
            <a:r>
              <a:rPr lang="en-US"/>
              <a:t> </a:t>
            </a:r>
            <a:r>
              <a:rPr lang="en-US" err="1"/>
              <a:t>significa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MOSFET de paso </a:t>
            </a:r>
            <a:r>
              <a:rPr lang="en-US" err="1"/>
              <a:t>directo</a:t>
            </a:r>
            <a:r>
              <a:rPr lang="en-US"/>
              <a:t> </a:t>
            </a:r>
            <a:r>
              <a:rPr lang="en-US" err="1"/>
              <a:t>está</a:t>
            </a:r>
            <a:r>
              <a:rPr lang="en-US"/>
              <a:t> </a:t>
            </a:r>
            <a:r>
              <a:rPr lang="en-US" b="1" err="1"/>
              <a:t>conduciendo</a:t>
            </a:r>
            <a:r>
              <a:rPr lang="en-US" b="1"/>
              <a:t> 61% del </a:t>
            </a:r>
            <a:r>
              <a:rPr lang="en-US" b="1" err="1"/>
              <a:t>tiempo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cada</a:t>
            </a:r>
            <a:r>
              <a:rPr lang="en-US"/>
              <a:t> </a:t>
            </a:r>
            <a:r>
              <a:rPr lang="en-US" err="1"/>
              <a:t>ciclo</a:t>
            </a:r>
            <a:r>
              <a:rPr lang="en-US"/>
              <a:t> de </a:t>
            </a:r>
            <a:r>
              <a:rPr lang="en-US" err="1"/>
              <a:t>conmutación</a:t>
            </a:r>
            <a:r>
              <a:rPr lang="en-US"/>
              <a:t>.</a:t>
            </a:r>
            <a:endParaRPr lang="es-ES"/>
          </a:p>
          <a:p>
            <a:pPr marL="0" indent="0"/>
            <a:r>
              <a:rPr lang="en-US"/>
              <a:t>Durante ese </a:t>
            </a:r>
            <a:r>
              <a:rPr lang="en-US" err="1"/>
              <a:t>tiempo</a:t>
            </a:r>
            <a:r>
              <a:rPr lang="en-US"/>
              <a:t>, </a:t>
            </a:r>
            <a:r>
              <a:rPr lang="en-US" err="1"/>
              <a:t>el</a:t>
            </a:r>
            <a:r>
              <a:rPr lang="en-US"/>
              <a:t> inductor se </a:t>
            </a:r>
            <a:r>
              <a:rPr lang="en-US" b="1"/>
              <a:t>carga </a:t>
            </a:r>
            <a:r>
              <a:rPr lang="en-US" b="1" err="1"/>
              <a:t>desde</a:t>
            </a:r>
            <a:r>
              <a:rPr lang="en-US" b="1"/>
              <a:t> la </a:t>
            </a:r>
            <a:r>
              <a:rPr lang="en-US" b="1" err="1"/>
              <a:t>fuente</a:t>
            </a:r>
            <a:r>
              <a:rPr lang="en-US"/>
              <a:t>. El resto del </a:t>
            </a:r>
            <a:r>
              <a:rPr lang="en-US" err="1"/>
              <a:t>tiempo</a:t>
            </a:r>
            <a:r>
              <a:rPr lang="en-US"/>
              <a:t> (39%), </a:t>
            </a:r>
            <a:r>
              <a:rPr lang="en-US" err="1"/>
              <a:t>el</a:t>
            </a:r>
            <a:r>
              <a:rPr lang="en-US"/>
              <a:t> inductor se </a:t>
            </a:r>
            <a:r>
              <a:rPr lang="en-US" b="1" err="1"/>
              <a:t>descarga</a:t>
            </a:r>
            <a:r>
              <a:rPr lang="en-US" b="1"/>
              <a:t> a </a:t>
            </a:r>
            <a:r>
              <a:rPr lang="en-US" b="1" err="1"/>
              <a:t>través</a:t>
            </a:r>
            <a:r>
              <a:rPr lang="en-US" b="1"/>
              <a:t> del MOSFET </a:t>
            </a:r>
            <a:r>
              <a:rPr lang="en-US" b="1" err="1"/>
              <a:t>inverso</a:t>
            </a:r>
            <a:r>
              <a:rPr lang="en-US" b="1"/>
              <a:t> o </a:t>
            </a:r>
            <a:r>
              <a:rPr lang="en-US" b="1" err="1"/>
              <a:t>diodo</a:t>
            </a:r>
            <a:r>
              <a:rPr lang="en-US"/>
              <a:t>, </a:t>
            </a:r>
            <a:r>
              <a:rPr lang="en-US" err="1"/>
              <a:t>manteniendo</a:t>
            </a:r>
            <a:r>
              <a:rPr lang="en-US"/>
              <a:t> la </a:t>
            </a:r>
            <a:r>
              <a:rPr lang="en-US" err="1"/>
              <a:t>corriente</a:t>
            </a:r>
            <a:r>
              <a:rPr lang="en-US"/>
              <a:t> </a:t>
            </a:r>
            <a:r>
              <a:rPr lang="en-US" err="1"/>
              <a:t>hacia</a:t>
            </a:r>
            <a:r>
              <a:rPr lang="en-US"/>
              <a:t> la carga.</a:t>
            </a:r>
            <a:endParaRPr lang="es-ES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indent="-171450">
              <a:buChar char="•"/>
            </a:pPr>
            <a:r>
              <a:rPr lang="en-US"/>
              <a:t>Si </a:t>
            </a:r>
            <a:r>
              <a:rPr lang="en-US" err="1"/>
              <a:t>aumentas</a:t>
            </a:r>
            <a:r>
              <a:rPr lang="en-US"/>
              <a:t> la </a:t>
            </a:r>
            <a:r>
              <a:rPr lang="en-US" err="1"/>
              <a:t>inductancia</a:t>
            </a:r>
            <a:r>
              <a:rPr lang="en-US"/>
              <a:t> :</a:t>
            </a:r>
            <a:endParaRPr lang="es-ES"/>
          </a:p>
          <a:p>
            <a:pPr indent="0"/>
            <a:r>
              <a:rPr lang="en-US"/>
              <a:t>ΔIL∝1/</a:t>
            </a:r>
            <a:r>
              <a:rPr lang="en-US" err="1"/>
              <a:t>L⇒ripple</a:t>
            </a:r>
            <a:r>
              <a:rPr lang="en-US"/>
              <a:t> de </a:t>
            </a:r>
            <a:r>
              <a:rPr lang="en-US" err="1"/>
              <a:t>corriente</a:t>
            </a:r>
            <a:r>
              <a:rPr lang="en-US"/>
              <a:t> </a:t>
            </a:r>
            <a:r>
              <a:rPr lang="en-US" err="1"/>
              <a:t>disminuye</a:t>
            </a:r>
            <a:r>
              <a:rPr lang="en-US"/>
              <a:t> </a:t>
            </a:r>
          </a:p>
          <a:p>
            <a:pPr marL="171450" indent="-171450">
              <a:buChar char="•"/>
            </a:pPr>
            <a:r>
              <a:rPr lang="en-US"/>
              <a:t>La </a:t>
            </a:r>
            <a:r>
              <a:rPr lang="en-US" b="1" err="1"/>
              <a:t>corriente</a:t>
            </a:r>
            <a:r>
              <a:rPr lang="en-US" b="1"/>
              <a:t> del inductor </a:t>
            </a:r>
            <a:r>
              <a:rPr lang="en-US" b="1" err="1"/>
              <a:t>varía</a:t>
            </a:r>
            <a:r>
              <a:rPr lang="en-US" b="1"/>
              <a:t> </a:t>
            </a:r>
            <a:r>
              <a:rPr lang="en-US" b="1" err="1"/>
              <a:t>más</a:t>
            </a:r>
            <a:r>
              <a:rPr lang="en-US" b="1"/>
              <a:t> lentamente</a:t>
            </a:r>
            <a:r>
              <a:rPr lang="en-US"/>
              <a:t>, es </a:t>
            </a:r>
            <a:r>
              <a:rPr lang="en-US" err="1"/>
              <a:t>decir</a:t>
            </a:r>
            <a:r>
              <a:rPr lang="en-US"/>
              <a:t>, la forma de </a:t>
            </a:r>
            <a:r>
              <a:rPr lang="en-US" err="1"/>
              <a:t>onda</a:t>
            </a:r>
            <a:r>
              <a:rPr lang="en-US"/>
              <a:t> se </a:t>
            </a:r>
            <a:r>
              <a:rPr lang="en-US" err="1"/>
              <a:t>vuelve</a:t>
            </a:r>
            <a:r>
              <a:rPr lang="en-US"/>
              <a:t> </a:t>
            </a:r>
            <a:r>
              <a:rPr lang="en-US" b="1" err="1"/>
              <a:t>más</a:t>
            </a:r>
            <a:r>
              <a:rPr lang="en-US" b="1"/>
              <a:t> plana</a:t>
            </a:r>
            <a:r>
              <a:rPr lang="en-US"/>
              <a:t>, con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oscilación</a:t>
            </a:r>
            <a:r>
              <a:rPr lang="en-US"/>
              <a:t>.</a:t>
            </a:r>
          </a:p>
          <a:p>
            <a:pPr marL="171450" indent="-171450">
              <a:buChar char="•"/>
            </a:pPr>
            <a:r>
              <a:rPr lang="en-US" err="1"/>
              <a:t>Ventajas</a:t>
            </a:r>
            <a:r>
              <a:rPr lang="en-US"/>
              <a:t>:</a:t>
            </a:r>
          </a:p>
          <a:p>
            <a:pPr marL="171450" indent="-171450">
              <a:buChar char="•"/>
            </a:pPr>
            <a:r>
              <a:rPr lang="en-US"/>
              <a:t>Menor </a:t>
            </a:r>
            <a:r>
              <a:rPr lang="en-US" err="1"/>
              <a:t>rizado</a:t>
            </a:r>
            <a:r>
              <a:rPr lang="en-US"/>
              <a:t> → </a:t>
            </a:r>
            <a:r>
              <a:rPr lang="en-US" err="1"/>
              <a:t>menor</a:t>
            </a:r>
            <a:r>
              <a:rPr lang="en-US"/>
              <a:t> </a:t>
            </a:r>
            <a:r>
              <a:rPr lang="en-US" err="1"/>
              <a:t>estrés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MOSFETs y </a:t>
            </a:r>
            <a:r>
              <a:rPr lang="en-US" err="1"/>
              <a:t>condensadores</a:t>
            </a:r>
            <a:r>
              <a:rPr lang="en-US"/>
              <a:t>.</a:t>
            </a:r>
          </a:p>
          <a:p>
            <a:pPr marL="171450" indent="-171450">
              <a:buChar char="•"/>
            </a:pPr>
            <a:r>
              <a:rPr lang="en-US" err="1"/>
              <a:t>Desventajas</a:t>
            </a:r>
            <a:r>
              <a:rPr lang="en-US"/>
              <a:t>:</a:t>
            </a:r>
          </a:p>
          <a:p>
            <a:pPr marL="171450" indent="-171450">
              <a:buChar char="•"/>
            </a:pPr>
            <a:r>
              <a:rPr lang="en-US"/>
              <a:t>Inductor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grande</a:t>
            </a:r>
            <a:r>
              <a:rPr lang="en-US"/>
              <a:t> y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costoso</a:t>
            </a:r>
            <a:r>
              <a:rPr lang="en-US"/>
              <a:t>.</a:t>
            </a:r>
          </a:p>
          <a:p>
            <a:pPr marL="171450" indent="-171450">
              <a:buChar char="•"/>
            </a:pPr>
            <a:r>
              <a:rPr lang="en-US"/>
              <a:t>Respuesta </a:t>
            </a:r>
            <a:r>
              <a:rPr lang="en-US" err="1"/>
              <a:t>dinámica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lenta ante </a:t>
            </a:r>
            <a:r>
              <a:rPr lang="en-US" err="1"/>
              <a:t>cambios</a:t>
            </a:r>
            <a:r>
              <a:rPr lang="en-US"/>
              <a:t> de carga.</a:t>
            </a:r>
            <a:endParaRPr lang="es-ES"/>
          </a:p>
          <a:p>
            <a:pPr marL="0" indent="0"/>
            <a:r>
              <a:rPr lang="en-US"/>
              <a:t>El </a:t>
            </a:r>
            <a:r>
              <a:rPr lang="en-US" err="1"/>
              <a:t>rizado</a:t>
            </a:r>
            <a:r>
              <a:rPr lang="en-US"/>
              <a:t> de </a:t>
            </a:r>
            <a:r>
              <a:rPr lang="en-US" err="1"/>
              <a:t>voltaje</a:t>
            </a:r>
            <a:r>
              <a:rPr lang="en-US"/>
              <a:t> </a:t>
            </a:r>
            <a:r>
              <a:rPr lang="en-US" err="1"/>
              <a:t>aparece</a:t>
            </a:r>
            <a:r>
              <a:rPr lang="en-US"/>
              <a:t> </a:t>
            </a:r>
            <a:r>
              <a:rPr lang="en-US" err="1"/>
              <a:t>porque</a:t>
            </a:r>
            <a:r>
              <a:rPr lang="en-US"/>
              <a:t> la </a:t>
            </a:r>
            <a:r>
              <a:rPr lang="en-US" err="1"/>
              <a:t>corriente</a:t>
            </a:r>
            <a:r>
              <a:rPr lang="en-US"/>
              <a:t> del inductor no es </a:t>
            </a:r>
            <a:r>
              <a:rPr lang="en-US" err="1"/>
              <a:t>constante</a:t>
            </a:r>
            <a:r>
              <a:rPr lang="en-US"/>
              <a:t> y </a:t>
            </a:r>
            <a:r>
              <a:rPr lang="en-US" err="1"/>
              <a:t>el</a:t>
            </a:r>
            <a:r>
              <a:rPr lang="en-US"/>
              <a:t> capacitor </a:t>
            </a:r>
            <a:r>
              <a:rPr lang="en-US" err="1"/>
              <a:t>tiene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compensar</a:t>
            </a:r>
            <a:r>
              <a:rPr lang="en-US"/>
              <a:t> </a:t>
            </a:r>
            <a:r>
              <a:rPr lang="en-US" err="1"/>
              <a:t>esas</a:t>
            </a:r>
            <a:r>
              <a:rPr lang="en-US"/>
              <a:t> </a:t>
            </a:r>
            <a:r>
              <a:rPr lang="en-US" err="1"/>
              <a:t>variaciones</a:t>
            </a:r>
            <a:r>
              <a:rPr lang="en-US"/>
              <a:t>.</a:t>
            </a:r>
            <a:br>
              <a:rPr lang="en-US"/>
            </a:br>
            <a:r>
              <a:rPr lang="en-US"/>
              <a:t> Si </a:t>
            </a:r>
            <a:r>
              <a:rPr lang="en-US" err="1"/>
              <a:t>uso</a:t>
            </a:r>
            <a:r>
              <a:rPr lang="en-US"/>
              <a:t> un capacitor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grande</a:t>
            </a:r>
            <a:r>
              <a:rPr lang="en-US"/>
              <a:t> o </a:t>
            </a:r>
            <a:r>
              <a:rPr lang="en-US" err="1"/>
              <a:t>conmuto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rápido</a:t>
            </a:r>
            <a:r>
              <a:rPr lang="en-US"/>
              <a:t>, </a:t>
            </a:r>
            <a:r>
              <a:rPr lang="en-US" err="1"/>
              <a:t>el</a:t>
            </a:r>
            <a:r>
              <a:rPr lang="en-US"/>
              <a:t> capacitor </a:t>
            </a:r>
            <a:r>
              <a:rPr lang="en-US" err="1"/>
              <a:t>tiene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capacidad</a:t>
            </a:r>
            <a:r>
              <a:rPr lang="en-US"/>
              <a:t> de </a:t>
            </a:r>
            <a:r>
              <a:rPr lang="en-US" err="1"/>
              <a:t>respuesta</a:t>
            </a:r>
            <a:r>
              <a:rPr lang="en-US"/>
              <a:t> y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voltaje</a:t>
            </a:r>
            <a:r>
              <a:rPr lang="en-US"/>
              <a:t> se </a:t>
            </a:r>
            <a:r>
              <a:rPr lang="en-US" err="1"/>
              <a:t>mantiene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estable</a:t>
            </a:r>
            <a:r>
              <a:rPr lang="en-US"/>
              <a:t>.</a:t>
            </a:r>
            <a:br>
              <a:rPr lang="en-US"/>
            </a:br>
            <a:r>
              <a:rPr lang="en-US"/>
              <a:t> También,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inductor </a:t>
            </a:r>
            <a:r>
              <a:rPr lang="en-US" err="1"/>
              <a:t>tiene</a:t>
            </a:r>
            <a:r>
              <a:rPr lang="en-US"/>
              <a:t>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inductancia</a:t>
            </a:r>
            <a:r>
              <a:rPr lang="en-US"/>
              <a:t>, la </a:t>
            </a:r>
            <a:r>
              <a:rPr lang="en-US" err="1"/>
              <a:t>corriente</a:t>
            </a:r>
            <a:r>
              <a:rPr lang="en-US"/>
              <a:t> </a:t>
            </a:r>
            <a:r>
              <a:rPr lang="en-US" err="1"/>
              <a:t>varía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y </a:t>
            </a:r>
            <a:r>
              <a:rPr lang="en-US" err="1"/>
              <a:t>el</a:t>
            </a:r>
            <a:r>
              <a:rPr lang="en-US"/>
              <a:t> capacitor </a:t>
            </a:r>
            <a:r>
              <a:rPr lang="en-US" err="1"/>
              <a:t>sufre</a:t>
            </a:r>
            <a:r>
              <a:rPr lang="en-US"/>
              <a:t> </a:t>
            </a:r>
            <a:r>
              <a:rPr lang="en-US" err="1"/>
              <a:t>menos</a:t>
            </a:r>
            <a:r>
              <a:rPr lang="en-US"/>
              <a:t> </a:t>
            </a:r>
            <a:r>
              <a:rPr lang="en-US" err="1"/>
              <a:t>rizado</a:t>
            </a:r>
            <a:r>
              <a:rPr lang="en-US"/>
              <a:t>.</a:t>
            </a:r>
          </a:p>
          <a:p>
            <a:pPr marL="0" indent="0"/>
            <a:br>
              <a:rPr lang="en-US"/>
            </a:br>
            <a:r>
              <a:rPr lang="en-US" err="1"/>
              <a:t>Cuando</a:t>
            </a:r>
            <a:r>
              <a:rPr lang="en-US"/>
              <a:t> la </a:t>
            </a:r>
            <a:r>
              <a:rPr lang="en-US" err="1"/>
              <a:t>corriente</a:t>
            </a:r>
            <a:r>
              <a:rPr lang="en-US"/>
              <a:t> del inductor </a:t>
            </a:r>
            <a:r>
              <a:rPr lang="en-US" b="1" err="1"/>
              <a:t>excede</a:t>
            </a:r>
            <a:r>
              <a:rPr lang="en-US" b="1"/>
              <a:t> la </a:t>
            </a:r>
            <a:r>
              <a:rPr lang="en-US" b="1" err="1"/>
              <a:t>corriente</a:t>
            </a:r>
            <a:r>
              <a:rPr lang="en-US" b="1"/>
              <a:t> de la carga</a:t>
            </a:r>
            <a:r>
              <a:rPr lang="en-US"/>
              <a:t>, </a:t>
            </a:r>
            <a:r>
              <a:rPr lang="en-US" err="1"/>
              <a:t>el</a:t>
            </a:r>
            <a:r>
              <a:rPr lang="en-US"/>
              <a:t> capacitor se </a:t>
            </a:r>
            <a:r>
              <a:rPr lang="en-US" b="1"/>
              <a:t>carga</a:t>
            </a:r>
            <a:r>
              <a:rPr lang="en-US"/>
              <a:t>, </a:t>
            </a:r>
            <a:r>
              <a:rPr lang="en-US" err="1"/>
              <a:t>generando</a:t>
            </a:r>
            <a:r>
              <a:rPr lang="en-US"/>
              <a:t> un </a:t>
            </a:r>
            <a:r>
              <a:rPr lang="en-US" err="1"/>
              <a:t>pico</a:t>
            </a:r>
            <a:r>
              <a:rPr lang="en-US"/>
              <a:t> </a:t>
            </a:r>
            <a:r>
              <a:rPr lang="en-US" err="1"/>
              <a:t>positivo</a:t>
            </a:r>
            <a:r>
              <a:rPr lang="en-US"/>
              <a:t> de </a:t>
            </a:r>
            <a:r>
              <a:rPr lang="en-US" err="1"/>
              <a:t>corriente</a:t>
            </a:r>
            <a:r>
              <a:rPr lang="en-US"/>
              <a:t>.</a:t>
            </a:r>
          </a:p>
          <a:p>
            <a:pPr marL="0" indent="0"/>
            <a:r>
              <a:rPr lang="en-US" err="1"/>
              <a:t>Cuando</a:t>
            </a:r>
            <a:r>
              <a:rPr lang="en-US"/>
              <a:t> la </a:t>
            </a:r>
            <a:r>
              <a:rPr lang="en-US" err="1"/>
              <a:t>corriente</a:t>
            </a:r>
            <a:r>
              <a:rPr lang="en-US"/>
              <a:t> del inductor </a:t>
            </a:r>
            <a:r>
              <a:rPr lang="en-US" b="1"/>
              <a:t>es </a:t>
            </a:r>
            <a:r>
              <a:rPr lang="en-US" b="1" err="1"/>
              <a:t>menor</a:t>
            </a:r>
            <a:r>
              <a:rPr lang="en-US" b="1"/>
              <a:t> </a:t>
            </a:r>
            <a:r>
              <a:rPr lang="en-US" b="1" err="1"/>
              <a:t>que</a:t>
            </a:r>
            <a:r>
              <a:rPr lang="en-US" b="1"/>
              <a:t> la </a:t>
            </a:r>
            <a:r>
              <a:rPr lang="en-US" b="1" err="1"/>
              <a:t>corriente</a:t>
            </a:r>
            <a:r>
              <a:rPr lang="en-US" b="1"/>
              <a:t> de la carga</a:t>
            </a:r>
            <a:r>
              <a:rPr lang="en-US"/>
              <a:t>, </a:t>
            </a:r>
            <a:r>
              <a:rPr lang="en-US" err="1"/>
              <a:t>el</a:t>
            </a:r>
            <a:r>
              <a:rPr lang="en-US"/>
              <a:t> capacitor se </a:t>
            </a:r>
            <a:r>
              <a:rPr lang="en-US" b="1" err="1"/>
              <a:t>descarga</a:t>
            </a:r>
            <a:r>
              <a:rPr lang="en-US"/>
              <a:t>, </a:t>
            </a:r>
            <a:r>
              <a:rPr lang="en-US" err="1"/>
              <a:t>generando</a:t>
            </a:r>
            <a:r>
              <a:rPr lang="en-US"/>
              <a:t> un </a:t>
            </a:r>
            <a:r>
              <a:rPr lang="en-US" err="1"/>
              <a:t>pico</a:t>
            </a:r>
            <a:r>
              <a:rPr lang="en-US"/>
              <a:t> </a:t>
            </a:r>
            <a:r>
              <a:rPr lang="en-US" err="1"/>
              <a:t>negativo</a:t>
            </a:r>
            <a:r>
              <a:rPr lang="en-US"/>
              <a:t> de </a:t>
            </a:r>
            <a:r>
              <a:rPr lang="en-US" err="1"/>
              <a:t>corriente</a:t>
            </a:r>
            <a:r>
              <a:rPr lang="en-US"/>
              <a:t>.</a:t>
            </a:r>
            <a:br>
              <a:rPr lang="en-US"/>
            </a:br>
            <a:r>
              <a:rPr lang="en-US"/>
              <a:t>Esto produce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b="1" err="1"/>
              <a:t>picos</a:t>
            </a:r>
            <a:r>
              <a:rPr lang="en-US" b="1"/>
              <a:t> </a:t>
            </a:r>
            <a:r>
              <a:rPr lang="en-US" b="1" err="1"/>
              <a:t>alternantes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vemos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</a:t>
            </a:r>
            <a:r>
              <a:rPr lang="en-US" err="1"/>
              <a:t>corriente</a:t>
            </a:r>
            <a:r>
              <a:rPr lang="en-US"/>
              <a:t> del capacitor: </a:t>
            </a:r>
            <a:r>
              <a:rPr lang="en-US" b="1"/>
              <a:t>no </a:t>
            </a:r>
            <a:r>
              <a:rPr lang="en-US" b="1" err="1"/>
              <a:t>transporta</a:t>
            </a:r>
            <a:r>
              <a:rPr lang="en-US" b="1"/>
              <a:t> </a:t>
            </a:r>
            <a:r>
              <a:rPr lang="en-US" b="1" err="1"/>
              <a:t>toda</a:t>
            </a:r>
            <a:r>
              <a:rPr lang="en-US" b="1"/>
              <a:t> la </a:t>
            </a:r>
            <a:r>
              <a:rPr lang="en-US" b="1" err="1"/>
              <a:t>corriente</a:t>
            </a:r>
            <a:r>
              <a:rPr lang="en-US"/>
              <a:t>, solo la </a:t>
            </a:r>
            <a:r>
              <a:rPr lang="en-US" err="1"/>
              <a:t>diferencia</a:t>
            </a:r>
            <a:r>
              <a:rPr lang="en-US"/>
              <a:t> entre </a:t>
            </a:r>
            <a:r>
              <a:rPr lang="en-US" err="1"/>
              <a:t>el</a:t>
            </a:r>
            <a:r>
              <a:rPr lang="en-US"/>
              <a:t> inductor y la carga. La </a:t>
            </a:r>
            <a:r>
              <a:rPr lang="en-US" err="1"/>
              <a:t>corriente</a:t>
            </a:r>
            <a:r>
              <a:rPr lang="en-US"/>
              <a:t> </a:t>
            </a:r>
            <a:r>
              <a:rPr lang="en-US" err="1"/>
              <a:t>alternante</a:t>
            </a:r>
            <a:r>
              <a:rPr lang="en-US"/>
              <a:t> del capacitor genera </a:t>
            </a:r>
            <a:r>
              <a:rPr lang="en-US" err="1"/>
              <a:t>picos</a:t>
            </a:r>
            <a:r>
              <a:rPr lang="en-US"/>
              <a:t> de </a:t>
            </a:r>
            <a:r>
              <a:rPr lang="en-US" err="1"/>
              <a:t>tensión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la ESR. Por </a:t>
            </a:r>
            <a:r>
              <a:rPr lang="en-US" err="1"/>
              <a:t>eso</a:t>
            </a:r>
            <a:r>
              <a:rPr lang="en-US"/>
              <a:t>, </a:t>
            </a:r>
            <a:r>
              <a:rPr lang="en-US" err="1"/>
              <a:t>el</a:t>
            </a:r>
            <a:r>
              <a:rPr lang="en-US"/>
              <a:t> ESR </a:t>
            </a:r>
            <a:r>
              <a:rPr lang="en-US" err="1"/>
              <a:t>determina</a:t>
            </a:r>
            <a:r>
              <a:rPr lang="en-US"/>
              <a:t> </a:t>
            </a:r>
            <a:r>
              <a:rPr lang="en-US" err="1"/>
              <a:t>cuánto</a:t>
            </a:r>
            <a:r>
              <a:rPr lang="en-US"/>
              <a:t> del ripple se </a:t>
            </a:r>
            <a:r>
              <a:rPr lang="en-US" err="1"/>
              <a:t>refleja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la </a:t>
            </a:r>
            <a:r>
              <a:rPr lang="en-US" err="1"/>
              <a:t>salida</a:t>
            </a:r>
            <a:r>
              <a:rPr lang="en-US"/>
              <a:t>: un ESR bajo reduce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picos</a:t>
            </a:r>
            <a:r>
              <a:rPr lang="en-US"/>
              <a:t> de </a:t>
            </a:r>
            <a:r>
              <a:rPr lang="en-US" err="1"/>
              <a:t>tensión</a:t>
            </a:r>
            <a:r>
              <a:rPr lang="en-US"/>
              <a:t> y </a:t>
            </a:r>
            <a:r>
              <a:rPr lang="en-US" err="1"/>
              <a:t>estabiliza</a:t>
            </a:r>
            <a:r>
              <a:rPr lang="en-US"/>
              <a:t> </a:t>
            </a:r>
            <a:r>
              <a:rPr lang="en-US" err="1"/>
              <a:t>Vout</a:t>
            </a:r>
            <a:r>
              <a:rPr lang="en-US"/>
              <a:t>, </a:t>
            </a:r>
            <a:r>
              <a:rPr lang="en-US" err="1"/>
              <a:t>mientras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un ESR alto </a:t>
            </a:r>
            <a:r>
              <a:rPr lang="en-US" err="1"/>
              <a:t>amplifica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ripple, </a:t>
            </a:r>
            <a:r>
              <a:rPr lang="en-US" err="1"/>
              <a:t>aunque</a:t>
            </a:r>
            <a:r>
              <a:rPr lang="en-US"/>
              <a:t> la </a:t>
            </a:r>
            <a:r>
              <a:rPr lang="en-US" err="1"/>
              <a:t>corriente</a:t>
            </a:r>
            <a:r>
              <a:rPr lang="en-US"/>
              <a:t> del capacitor </a:t>
            </a:r>
            <a:r>
              <a:rPr lang="en-US" err="1"/>
              <a:t>siga</a:t>
            </a:r>
            <a:r>
              <a:rPr lang="en-US"/>
              <a:t> </a:t>
            </a:r>
            <a:r>
              <a:rPr lang="en-US" err="1"/>
              <a:t>siendo</a:t>
            </a:r>
            <a:r>
              <a:rPr lang="en-US"/>
              <a:t> la </a:t>
            </a:r>
            <a:r>
              <a:rPr lang="en-US" err="1"/>
              <a:t>misma</a:t>
            </a:r>
          </a:p>
          <a:p>
            <a:pPr marL="0" indent="0"/>
            <a:endParaRPr lang="en-US"/>
          </a:p>
          <a:p>
            <a:pPr marL="0" indent="0"/>
            <a:endParaRPr lang="es-ES"/>
          </a:p>
        </p:txBody>
      </p:sp>
      <p:sp>
        <p:nvSpPr>
          <p:cNvPr id="185" name="Google Shape;1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dirty="0"/>
              <a:t>La </a:t>
            </a:r>
            <a:r>
              <a:rPr lang="en-US" dirty="0" err="1"/>
              <a:t>capacitancia</a:t>
            </a:r>
            <a:r>
              <a:rPr lang="en-US" dirty="0"/>
              <a:t> interna gate–source (Cgs) se carga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driver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establecer</a:t>
            </a:r>
            <a:r>
              <a:rPr lang="en-US" dirty="0"/>
              <a:t> un </a:t>
            </a:r>
            <a:r>
              <a:rPr lang="en-US" dirty="0" err="1"/>
              <a:t>voltaje</a:t>
            </a:r>
            <a:r>
              <a:rPr lang="en-US" dirty="0"/>
              <a:t> entre gate y source (</a:t>
            </a:r>
            <a:r>
              <a:rPr lang="en-US" dirty="0" err="1"/>
              <a:t>Vgs</a:t>
            </a:r>
            <a:r>
              <a:rPr lang="en-US" dirty="0"/>
              <a:t>).</a:t>
            </a:r>
            <a:br>
              <a:rPr lang="en-US" dirty="0"/>
            </a:br>
            <a:r>
              <a:rPr lang="en-US" dirty="0"/>
              <a:t> Este </a:t>
            </a:r>
            <a:r>
              <a:rPr lang="en-US" dirty="0" err="1"/>
              <a:t>voltaje</a:t>
            </a:r>
            <a:r>
              <a:rPr lang="en-US" dirty="0"/>
              <a:t> genera un campo </a:t>
            </a:r>
            <a:r>
              <a:rPr lang="en-US" dirty="0" err="1"/>
              <a:t>eléctrico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modula</a:t>
            </a:r>
            <a:r>
              <a:rPr lang="en-US" dirty="0"/>
              <a:t> la </a:t>
            </a:r>
            <a:r>
              <a:rPr lang="en-US" dirty="0" err="1"/>
              <a:t>conductividad</a:t>
            </a:r>
            <a:r>
              <a:rPr lang="en-US" dirty="0"/>
              <a:t> del canal entre drain y source.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Vgs</a:t>
            </a:r>
            <a:r>
              <a:rPr lang="en-US" dirty="0"/>
              <a:t> </a:t>
            </a:r>
            <a:r>
              <a:rPr lang="en-US" dirty="0" err="1"/>
              <a:t>alcanza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nivel</a:t>
            </a:r>
            <a:r>
              <a:rPr lang="en-US" dirty="0"/>
              <a:t> </a:t>
            </a:r>
            <a:r>
              <a:rPr lang="en-US" dirty="0" err="1"/>
              <a:t>fijado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driver, </a:t>
            </a:r>
            <a:r>
              <a:rPr lang="en-US" dirty="0" err="1"/>
              <a:t>el</a:t>
            </a:r>
            <a:r>
              <a:rPr lang="en-US" dirty="0"/>
              <a:t> MOSFET </a:t>
            </a:r>
            <a:r>
              <a:rPr lang="en-US" dirty="0" err="1"/>
              <a:t>pasa</a:t>
            </a:r>
            <a:r>
              <a:rPr lang="en-US" dirty="0"/>
              <a:t> al </a:t>
            </a:r>
            <a:r>
              <a:rPr lang="en-US" dirty="0" err="1"/>
              <a:t>estado</a:t>
            </a:r>
            <a:r>
              <a:rPr lang="en-US" dirty="0"/>
              <a:t> de </a:t>
            </a:r>
            <a:r>
              <a:rPr lang="en-US" dirty="0" err="1"/>
              <a:t>conducción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 Por tanto, </a:t>
            </a:r>
            <a:r>
              <a:rPr lang="en-US" dirty="0" err="1"/>
              <a:t>el</a:t>
            </a:r>
            <a:r>
              <a:rPr lang="en-US" dirty="0"/>
              <a:t> driver carga la </a:t>
            </a:r>
            <a:r>
              <a:rPr lang="en-US" dirty="0" err="1"/>
              <a:t>capacitancia</a:t>
            </a:r>
            <a:r>
              <a:rPr lang="en-US" dirty="0"/>
              <a:t> del gate para </a:t>
            </a:r>
            <a:r>
              <a:rPr lang="en-US" dirty="0" err="1"/>
              <a:t>crear</a:t>
            </a:r>
            <a:r>
              <a:rPr lang="en-US" dirty="0"/>
              <a:t> y </a:t>
            </a:r>
            <a:r>
              <a:rPr lang="en-US" dirty="0" err="1"/>
              <a:t>mantener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voltaje</a:t>
            </a:r>
            <a:r>
              <a:rPr lang="en-US" dirty="0"/>
              <a:t> de </a:t>
            </a:r>
            <a:r>
              <a:rPr lang="en-US" dirty="0" err="1"/>
              <a:t>compuerta</a:t>
            </a:r>
            <a:r>
              <a:rPr lang="en-US" dirty="0"/>
              <a:t> </a:t>
            </a:r>
            <a:r>
              <a:rPr lang="en-US" dirty="0" err="1"/>
              <a:t>necesario</a:t>
            </a:r>
            <a:r>
              <a:rPr lang="en-US" dirty="0"/>
              <a:t> para </a:t>
            </a:r>
            <a:r>
              <a:rPr lang="en-US" dirty="0" err="1"/>
              <a:t>controlar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MOSFET.</a:t>
            </a:r>
            <a:endParaRPr lang="es-ES" dirty="0"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/>
              <a:t>Un </a:t>
            </a:r>
            <a:r>
              <a:rPr lang="en-US" err="1"/>
              <a:t>corto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capacitor </a:t>
            </a:r>
            <a:r>
              <a:rPr lang="en-US" err="1"/>
              <a:t>desvía</a:t>
            </a:r>
            <a:r>
              <a:rPr lang="en-US"/>
              <a:t> la </a:t>
            </a:r>
            <a:r>
              <a:rPr lang="en-US" err="1"/>
              <a:t>corriente</a:t>
            </a:r>
            <a:r>
              <a:rPr lang="en-US"/>
              <a:t> del inductor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hacia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MOSFETs, </a:t>
            </a:r>
            <a:r>
              <a:rPr lang="en-US" err="1"/>
              <a:t>provocando</a:t>
            </a:r>
            <a:r>
              <a:rPr lang="en-US"/>
              <a:t> </a:t>
            </a:r>
            <a:r>
              <a:rPr lang="en-US" err="1"/>
              <a:t>picos</a:t>
            </a:r>
            <a:r>
              <a:rPr lang="en-US"/>
              <a:t> de </a:t>
            </a:r>
            <a:r>
              <a:rPr lang="en-US" err="1"/>
              <a:t>corriente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pueden</a:t>
            </a:r>
            <a:r>
              <a:rPr lang="en-US"/>
              <a:t> </a:t>
            </a:r>
            <a:r>
              <a:rPr lang="en-US" err="1"/>
              <a:t>dañarlos</a:t>
            </a:r>
            <a:r>
              <a:rPr lang="en-US"/>
              <a:t> y </a:t>
            </a:r>
            <a:r>
              <a:rPr lang="en-US" err="1"/>
              <a:t>dejando</a:t>
            </a:r>
            <a:r>
              <a:rPr lang="en-US"/>
              <a:t> a la carga sin alimentación</a:t>
            </a:r>
            <a:br>
              <a:rPr lang="en-US"/>
            </a:br>
            <a:r>
              <a:rPr lang="en-US"/>
              <a:t>Un cambio abrupto de carga provoca que el capacitor absorba o suministre la diferencia de corriente hasta que el inductor se ajuste, amortiguando la variación de Vout pero generando picos de corriente temporales más grandes</a:t>
            </a:r>
            <a:endParaRPr lang="es-ES" err="1"/>
          </a:p>
        </p:txBody>
      </p:sp>
      <p:sp>
        <p:nvSpPr>
          <p:cNvPr id="268" name="Google Shape;26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s-ES" err="1"/>
              <a:t>DEltaB</a:t>
            </a:r>
            <a:r>
              <a:rPr lang="es-ES"/>
              <a:t>: </a:t>
            </a:r>
            <a:r>
              <a:rPr lang="es-ES" err="1"/>
              <a:t>variacion</a:t>
            </a:r>
            <a:r>
              <a:rPr lang="es-ES"/>
              <a:t> de flujo </a:t>
            </a:r>
            <a:r>
              <a:rPr lang="es-ES" err="1"/>
              <a:t>magnetico</a:t>
            </a:r>
            <a:r>
              <a:rPr lang="es-ES"/>
              <a:t> de </a:t>
            </a:r>
            <a:r>
              <a:rPr lang="es-ES" err="1"/>
              <a:t>conmutacion</a:t>
            </a:r>
            <a:endParaRPr lang="es-ES"/>
          </a:p>
          <a:p>
            <a:pPr marL="0" indent="0"/>
            <a:r>
              <a:rPr lang="es-ES"/>
              <a:t>Si sobrepasa el limite de </a:t>
            </a:r>
            <a:r>
              <a:rPr lang="es-ES" err="1"/>
              <a:t>saturacion</a:t>
            </a:r>
            <a:r>
              <a:rPr lang="es-ES"/>
              <a:t>, entonces se provocarán pérdida de inductancia, incremento rápido de corriente y posible daño al circuito.</a:t>
            </a:r>
          </a:p>
          <a:p>
            <a:pPr marL="0" indent="0"/>
            <a:r>
              <a:rPr lang="es-ES"/>
              <a:t>Al haber </a:t>
            </a:r>
            <a:r>
              <a:rPr lang="es-ES" err="1"/>
              <a:t>saturacion</a:t>
            </a:r>
            <a:r>
              <a:rPr lang="es-ES"/>
              <a:t>, el flujo </a:t>
            </a:r>
            <a:r>
              <a:rPr lang="es-ES" err="1"/>
              <a:t>magnetico</a:t>
            </a:r>
            <a:r>
              <a:rPr lang="es-ES"/>
              <a:t> ya no crece proporcionalmente a la inductancia, por lo que la inductancia cae y( para un </a:t>
            </a:r>
            <a:r>
              <a:rPr lang="es-ES" err="1"/>
              <a:t>mismovoltaje</a:t>
            </a:r>
            <a:r>
              <a:rPr lang="es-ES"/>
              <a:t> aplicado) la </a:t>
            </a:r>
            <a:r>
              <a:rPr lang="es-ES" err="1"/>
              <a:t>variacion</a:t>
            </a:r>
            <a:r>
              <a:rPr lang="es-ES"/>
              <a:t> de la corriente en el tiempo aumenta.</a:t>
            </a:r>
          </a:p>
          <a:p>
            <a:pPr marL="0" indent="0"/>
            <a:r>
              <a:rPr lang="es-ES"/>
              <a:t>La saturación del inductor reduce su inductancia efectiva, provocando un aumento rápido de la corriente y riesgo de daños en </a:t>
            </a:r>
            <a:r>
              <a:rPr lang="es-ES" err="1"/>
              <a:t>MOSFETs</a:t>
            </a:r>
            <a:r>
              <a:rPr lang="es-ES"/>
              <a:t> y aumento del </a:t>
            </a:r>
            <a:r>
              <a:rPr lang="es-ES" err="1"/>
              <a:t>ripple</a:t>
            </a:r>
            <a:r>
              <a:rPr lang="es-ES"/>
              <a:t> de salida.</a:t>
            </a:r>
          </a:p>
        </p:txBody>
      </p:sp>
      <p:sp>
        <p:nvSpPr>
          <p:cNvPr id="131" name="Google Shape;13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/>
            <a:r>
              <a:rPr lang="en-US" err="1"/>
              <a:t>Seleccionamos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MOSFET IRFZ44N </a:t>
            </a:r>
            <a:r>
              <a:rPr lang="en-US" err="1"/>
              <a:t>porque</a:t>
            </a:r>
            <a:r>
              <a:rPr lang="en-US"/>
              <a:t> </a:t>
            </a:r>
            <a:r>
              <a:rPr lang="en-US" err="1"/>
              <a:t>soporta</a:t>
            </a:r>
            <a:r>
              <a:rPr lang="en-US"/>
              <a:t> </a:t>
            </a:r>
            <a:r>
              <a:rPr lang="en-US" err="1"/>
              <a:t>tensiones</a:t>
            </a:r>
            <a:r>
              <a:rPr lang="en-US"/>
              <a:t> de hasta 55 V, </a:t>
            </a:r>
            <a:r>
              <a:rPr lang="en-US" err="1"/>
              <a:t>más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suficiente</a:t>
            </a:r>
            <a:r>
              <a:rPr lang="en-US"/>
              <a:t> para </a:t>
            </a:r>
            <a:r>
              <a:rPr lang="en-US" err="1"/>
              <a:t>nuestras</a:t>
            </a:r>
            <a:r>
              <a:rPr lang="en-US"/>
              <a:t> </a:t>
            </a:r>
            <a:r>
              <a:rPr lang="en-US" err="1"/>
              <a:t>condiciones</a:t>
            </a:r>
            <a:r>
              <a:rPr lang="en-US"/>
              <a:t> de </a:t>
            </a:r>
            <a:r>
              <a:rPr lang="en-US" err="1"/>
              <a:t>operación</a:t>
            </a:r>
            <a:r>
              <a:rPr lang="en-US"/>
              <a:t> (23 V y 27 V). </a:t>
            </a:r>
            <a:r>
              <a:rPr lang="en-US" err="1"/>
              <a:t>Además</a:t>
            </a:r>
            <a:r>
              <a:rPr lang="en-US"/>
              <a:t>, </a:t>
            </a:r>
            <a:r>
              <a:rPr lang="en-US" err="1"/>
              <a:t>entrega</a:t>
            </a:r>
            <a:r>
              <a:rPr lang="en-US"/>
              <a:t> un </a:t>
            </a:r>
            <a:r>
              <a:rPr lang="en-US" err="1"/>
              <a:t>margen</a:t>
            </a:r>
            <a:r>
              <a:rPr lang="en-US"/>
              <a:t> de </a:t>
            </a:r>
            <a:r>
              <a:rPr lang="en-US" err="1"/>
              <a:t>corriente</a:t>
            </a:r>
            <a:r>
              <a:rPr lang="en-US"/>
              <a:t> </a:t>
            </a:r>
            <a:r>
              <a:rPr lang="en-US" err="1"/>
              <a:t>muy</a:t>
            </a:r>
            <a:r>
              <a:rPr lang="en-US"/>
              <a:t> superior a la </a:t>
            </a:r>
            <a:r>
              <a:rPr lang="en-US" err="1"/>
              <a:t>requerida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nuestro</a:t>
            </a:r>
            <a:r>
              <a:rPr lang="en-US"/>
              <a:t> </a:t>
            </a:r>
            <a:r>
              <a:rPr lang="en-US" err="1"/>
              <a:t>convertidor</a:t>
            </a:r>
            <a:r>
              <a:rPr lang="en-US"/>
              <a:t> de 5 W, con un </a:t>
            </a:r>
            <a:r>
              <a:rPr lang="en-US" err="1"/>
              <a:t>Rds</a:t>
            </a:r>
            <a:r>
              <a:rPr lang="en-US"/>
              <a:t>(on) bajo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mejora</a:t>
            </a:r>
            <a:r>
              <a:rPr lang="en-US"/>
              <a:t> la </a:t>
            </a:r>
            <a:r>
              <a:rPr lang="en-US" err="1"/>
              <a:t>eficiencia</a:t>
            </a:r>
            <a:r>
              <a:rPr lang="en-US"/>
              <a:t>. Es un </a:t>
            </a:r>
            <a:r>
              <a:rPr lang="en-US" err="1"/>
              <a:t>componente</a:t>
            </a:r>
            <a:r>
              <a:rPr lang="en-US"/>
              <a:t> </a:t>
            </a:r>
            <a:r>
              <a:rPr lang="en-US" err="1"/>
              <a:t>ampliamente</a:t>
            </a:r>
            <a:r>
              <a:rPr lang="en-US"/>
              <a:t> disponible, </a:t>
            </a:r>
            <a:r>
              <a:rPr lang="en-US" err="1"/>
              <a:t>económico</a:t>
            </a:r>
            <a:r>
              <a:rPr lang="en-US"/>
              <a:t> y compatible con la </a:t>
            </a:r>
            <a:r>
              <a:rPr lang="en-US" err="1"/>
              <a:t>frecuencia</a:t>
            </a:r>
            <a:r>
              <a:rPr lang="en-US"/>
              <a:t> de </a:t>
            </a:r>
            <a:r>
              <a:rPr lang="en-US" err="1"/>
              <a:t>conmutación</a:t>
            </a:r>
            <a:r>
              <a:rPr lang="en-US"/>
              <a:t> de 60 kHz, lo </a:t>
            </a:r>
            <a:r>
              <a:rPr lang="en-US" err="1"/>
              <a:t>que</a:t>
            </a:r>
            <a:r>
              <a:rPr lang="en-US"/>
              <a:t> lo </a:t>
            </a:r>
            <a:r>
              <a:rPr lang="en-US" err="1"/>
              <a:t>hace</a:t>
            </a:r>
            <a:r>
              <a:rPr lang="en-US"/>
              <a:t> ideal para </a:t>
            </a:r>
            <a:r>
              <a:rPr lang="en-US" err="1"/>
              <a:t>nuestro</a:t>
            </a:r>
            <a:r>
              <a:rPr lang="en-US"/>
              <a:t> </a:t>
            </a:r>
            <a:r>
              <a:rPr lang="en-US" err="1"/>
              <a:t>prototipo</a:t>
            </a:r>
            <a:r>
              <a:rPr lang="en-US"/>
              <a:t>.</a:t>
            </a:r>
            <a:endParaRPr lang="es-ES"/>
          </a:p>
        </p:txBody>
      </p:sp>
      <p:sp>
        <p:nvSpPr>
          <p:cNvPr id="256" name="Google Shape;25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Elegimos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IR2184 </a:t>
            </a:r>
            <a:r>
              <a:rPr lang="en-US" err="1"/>
              <a:t>porque</a:t>
            </a:r>
            <a:r>
              <a:rPr lang="en-US"/>
              <a:t> </a:t>
            </a:r>
            <a:r>
              <a:rPr lang="en-US" err="1"/>
              <a:t>nos</a:t>
            </a:r>
            <a:r>
              <a:rPr lang="en-US"/>
              <a:t> </a:t>
            </a:r>
            <a:r>
              <a:rPr lang="en-US" err="1"/>
              <a:t>permite</a:t>
            </a:r>
            <a:r>
              <a:rPr lang="en-US"/>
              <a:t> </a:t>
            </a:r>
            <a:r>
              <a:rPr lang="en-US" err="1"/>
              <a:t>controlar</a:t>
            </a:r>
            <a:r>
              <a:rPr lang="en-US"/>
              <a:t> ambos MOSFETs del </a:t>
            </a:r>
            <a:r>
              <a:rPr lang="en-US" err="1"/>
              <a:t>convertidor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configuración</a:t>
            </a:r>
            <a:r>
              <a:rPr lang="en-US"/>
              <a:t> half-bridge. Este driver </a:t>
            </a:r>
            <a:r>
              <a:rPr lang="en-US" err="1"/>
              <a:t>incorpora</a:t>
            </a:r>
            <a:r>
              <a:rPr lang="en-US"/>
              <a:t> un </a:t>
            </a:r>
            <a:r>
              <a:rPr lang="en-US" err="1"/>
              <a:t>circuito</a:t>
            </a:r>
            <a:r>
              <a:rPr lang="en-US"/>
              <a:t> bootstrap para </a:t>
            </a:r>
            <a:r>
              <a:rPr lang="en-US" err="1"/>
              <a:t>manejar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MOSFET de alto </a:t>
            </a:r>
            <a:r>
              <a:rPr lang="en-US" err="1"/>
              <a:t>lado</a:t>
            </a:r>
            <a:r>
              <a:rPr lang="en-US"/>
              <a:t>, dead-time </a:t>
            </a:r>
            <a:r>
              <a:rPr lang="en-US" err="1"/>
              <a:t>integrado</a:t>
            </a:r>
            <a:r>
              <a:rPr lang="en-US"/>
              <a:t> para </a:t>
            </a:r>
            <a:r>
              <a:rPr lang="en-US" err="1"/>
              <a:t>evitar</a:t>
            </a:r>
            <a:r>
              <a:rPr lang="en-US"/>
              <a:t> </a:t>
            </a:r>
            <a:r>
              <a:rPr lang="en-US" err="1"/>
              <a:t>cortocircuitos</a:t>
            </a:r>
            <a:r>
              <a:rPr lang="en-US"/>
              <a:t>, y es </a:t>
            </a:r>
            <a:r>
              <a:rPr lang="en-US" err="1"/>
              <a:t>totalmente</a:t>
            </a:r>
            <a:r>
              <a:rPr lang="en-US"/>
              <a:t> compatible con </a:t>
            </a:r>
            <a:r>
              <a:rPr lang="en-US" err="1"/>
              <a:t>señales</a:t>
            </a:r>
            <a:r>
              <a:rPr lang="en-US"/>
              <a:t> PWM </a:t>
            </a:r>
            <a:r>
              <a:rPr lang="en-US" err="1"/>
              <a:t>estándar</a:t>
            </a:r>
            <a:r>
              <a:rPr lang="en-US"/>
              <a:t>. De </a:t>
            </a:r>
            <a:r>
              <a:rPr lang="en-US" err="1"/>
              <a:t>esta</a:t>
            </a:r>
            <a:r>
              <a:rPr lang="en-US"/>
              <a:t> forma </a:t>
            </a:r>
            <a:r>
              <a:rPr lang="en-US" err="1"/>
              <a:t>simplifica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</a:t>
            </a:r>
            <a:r>
              <a:rPr lang="en-US" err="1"/>
              <a:t>diseño</a:t>
            </a:r>
            <a:r>
              <a:rPr lang="en-US"/>
              <a:t>, </a:t>
            </a:r>
            <a:r>
              <a:rPr lang="en-US" err="1"/>
              <a:t>asegura</a:t>
            </a:r>
            <a:r>
              <a:rPr lang="en-US"/>
              <a:t> un </a:t>
            </a:r>
            <a:r>
              <a:rPr lang="en-US" err="1"/>
              <a:t>funcionamiento</a:t>
            </a:r>
            <a:r>
              <a:rPr lang="en-US"/>
              <a:t> </a:t>
            </a:r>
            <a:r>
              <a:rPr lang="en-US" err="1"/>
              <a:t>robusto</a:t>
            </a:r>
            <a:r>
              <a:rPr lang="en-US"/>
              <a:t> y </a:t>
            </a:r>
            <a:r>
              <a:rPr lang="en-US" err="1"/>
              <a:t>cumple</a:t>
            </a:r>
            <a:r>
              <a:rPr lang="en-US"/>
              <a:t> con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requerimientos</a:t>
            </a:r>
            <a:r>
              <a:rPr lang="en-US"/>
              <a:t> de </a:t>
            </a:r>
            <a:r>
              <a:rPr lang="en-US" err="1"/>
              <a:t>nuestro</a:t>
            </a:r>
            <a:r>
              <a:rPr lang="en-US"/>
              <a:t> </a:t>
            </a:r>
            <a:r>
              <a:rPr lang="en-US" err="1"/>
              <a:t>convertidor</a:t>
            </a:r>
            <a:r>
              <a:rPr lang="en-US"/>
              <a:t> </a:t>
            </a:r>
            <a:r>
              <a:rPr lang="en-US" err="1"/>
              <a:t>bidireccional</a:t>
            </a:r>
            <a:r>
              <a:rPr lang="en-US"/>
              <a:t>.</a:t>
            </a:r>
          </a:p>
          <a:p>
            <a:r>
              <a:rPr lang="en-US"/>
              <a:t>Un </a:t>
            </a:r>
            <a:r>
              <a:rPr lang="en-US" err="1"/>
              <a:t>retardo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driver </a:t>
            </a:r>
            <a:r>
              <a:rPr lang="en-US" err="1"/>
              <a:t>provoca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MOSFETs no </a:t>
            </a:r>
            <a:r>
              <a:rPr lang="en-US" err="1"/>
              <a:t>conmuten</a:t>
            </a:r>
            <a:r>
              <a:rPr lang="en-US"/>
              <a:t> </a:t>
            </a:r>
            <a:r>
              <a:rPr lang="en-US" err="1"/>
              <a:t>exactamente</a:t>
            </a:r>
            <a:r>
              <a:rPr lang="en-US"/>
              <a:t> a </a:t>
            </a:r>
            <a:r>
              <a:rPr lang="en-US" err="1"/>
              <a:t>tiempo</a:t>
            </a:r>
            <a:r>
              <a:rPr lang="en-US"/>
              <a:t>, </a:t>
            </a:r>
            <a:r>
              <a:rPr lang="en-US" err="1"/>
              <a:t>alterando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picos</a:t>
            </a:r>
            <a:r>
              <a:rPr lang="en-US"/>
              <a:t> de </a:t>
            </a:r>
            <a:r>
              <a:rPr lang="en-US" err="1"/>
              <a:t>corriente</a:t>
            </a:r>
            <a:r>
              <a:rPr lang="en-US"/>
              <a:t> del inductor. Como </a:t>
            </a:r>
            <a:r>
              <a:rPr lang="en-US" err="1"/>
              <a:t>el</a:t>
            </a:r>
            <a:r>
              <a:rPr lang="en-US"/>
              <a:t> capacitor de </a:t>
            </a:r>
            <a:r>
              <a:rPr lang="en-US" err="1"/>
              <a:t>salida</a:t>
            </a:r>
            <a:r>
              <a:rPr lang="en-US"/>
              <a:t> </a:t>
            </a:r>
            <a:r>
              <a:rPr lang="en-US" err="1"/>
              <a:t>compensa</a:t>
            </a:r>
            <a:r>
              <a:rPr lang="en-US"/>
              <a:t> </a:t>
            </a:r>
            <a:r>
              <a:rPr lang="en-US" err="1"/>
              <a:t>estas</a:t>
            </a:r>
            <a:r>
              <a:rPr lang="en-US"/>
              <a:t> </a:t>
            </a:r>
            <a:r>
              <a:rPr lang="en-US" err="1"/>
              <a:t>diferencias</a:t>
            </a:r>
            <a:r>
              <a:rPr lang="en-US"/>
              <a:t>, sus </a:t>
            </a:r>
            <a:r>
              <a:rPr lang="en-US" err="1"/>
              <a:t>picos</a:t>
            </a:r>
            <a:r>
              <a:rPr lang="en-US"/>
              <a:t> también se </a:t>
            </a:r>
            <a:r>
              <a:rPr lang="en-US" err="1"/>
              <a:t>ven</a:t>
            </a:r>
            <a:r>
              <a:rPr lang="en-US"/>
              <a:t> </a:t>
            </a:r>
            <a:r>
              <a:rPr lang="en-US" err="1"/>
              <a:t>afectados</a:t>
            </a:r>
            <a:r>
              <a:rPr lang="en-US"/>
              <a:t>, </a:t>
            </a:r>
            <a:r>
              <a:rPr lang="en-US" err="1"/>
              <a:t>aumentando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ripple y </a:t>
            </a:r>
            <a:r>
              <a:rPr lang="en-US" err="1"/>
              <a:t>afectando</a:t>
            </a:r>
            <a:r>
              <a:rPr lang="en-US"/>
              <a:t> la </a:t>
            </a:r>
            <a:r>
              <a:rPr lang="en-US" err="1"/>
              <a:t>estabilidad</a:t>
            </a:r>
            <a:r>
              <a:rPr lang="en-US"/>
              <a:t> de </a:t>
            </a:r>
            <a:r>
              <a:rPr lang="en-US" err="1"/>
              <a:t>Vout</a:t>
            </a:r>
            <a:r>
              <a:rPr lang="en-US"/>
              <a:t>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29</a:t>
            </a:fld>
            <a:endParaRPr lang="en-US" sz="12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36931774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 prevenir armonicos de la red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31</a:t>
            </a:fld>
            <a:endParaRPr lang="en-US" sz="12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15310379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capacitor de salida debe colocarse lo más cerca posible del inductor y de los MOSFETs porque, durante la conmutación, por ese lazo circulan corrientes de alta frecuencia y alto valor instantáneo.</a:t>
            </a:r>
            <a:endParaRPr lang="es-ES"/>
          </a:p>
          <a:p>
            <a:r>
              <a:rPr lang="en-US"/>
              <a:t>Si </a:t>
            </a:r>
            <a:r>
              <a:rPr lang="en-US" err="1"/>
              <a:t>el</a:t>
            </a:r>
            <a:r>
              <a:rPr lang="en-US"/>
              <a:t> capacitor está lejos, las pistas del circuito </a:t>
            </a:r>
            <a:r>
              <a:rPr lang="en-US" err="1"/>
              <a:t>impreso</a:t>
            </a:r>
            <a:r>
              <a:rPr lang="en-US"/>
              <a:t> </a:t>
            </a:r>
            <a:r>
              <a:rPr lang="en-US" err="1"/>
              <a:t>introducen</a:t>
            </a:r>
            <a:r>
              <a:rPr lang="en-US"/>
              <a:t> </a:t>
            </a:r>
            <a:r>
              <a:rPr lang="en-US" b="1" err="1"/>
              <a:t>resistencia</a:t>
            </a:r>
            <a:r>
              <a:rPr lang="en-US" b="1"/>
              <a:t> (R)</a:t>
            </a:r>
            <a:r>
              <a:rPr lang="en-US"/>
              <a:t> y </a:t>
            </a:r>
            <a:r>
              <a:rPr lang="en-US" b="1" err="1"/>
              <a:t>autoinductancia</a:t>
            </a:r>
            <a:r>
              <a:rPr lang="en-US" b="1"/>
              <a:t> (L)</a:t>
            </a:r>
            <a:r>
              <a:rPr lang="en-US"/>
              <a:t> </a:t>
            </a:r>
            <a:r>
              <a:rPr lang="en-US" err="1"/>
              <a:t>parásitas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generan</a:t>
            </a:r>
            <a:r>
              <a:rPr lang="en-US"/>
              <a:t> </a:t>
            </a:r>
            <a:r>
              <a:rPr lang="en-US" err="1"/>
              <a:t>caídas</a:t>
            </a:r>
            <a:r>
              <a:rPr lang="en-US"/>
              <a:t> de </a:t>
            </a:r>
            <a:r>
              <a:rPr lang="en-US" err="1"/>
              <a:t>tensión</a:t>
            </a:r>
            <a:r>
              <a:rPr lang="en-US"/>
              <a:t> y </a:t>
            </a:r>
            <a:r>
              <a:rPr lang="en-US" err="1"/>
              <a:t>picos</a:t>
            </a:r>
            <a:r>
              <a:rPr lang="en-US"/>
              <a:t> de </a:t>
            </a:r>
            <a:r>
              <a:rPr lang="en-US" err="1"/>
              <a:t>ruido</a:t>
            </a:r>
            <a:r>
              <a:rPr lang="en-US"/>
              <a:t> (EMI).</a:t>
            </a:r>
            <a:endParaRPr lang="es-ES"/>
          </a:p>
          <a:p>
            <a:r>
              <a:rPr lang="en-US"/>
              <a:t>Al </a:t>
            </a:r>
            <a:r>
              <a:rPr lang="en-US" err="1"/>
              <a:t>mantener</a:t>
            </a:r>
            <a:r>
              <a:rPr lang="en-US"/>
              <a:t> </a:t>
            </a:r>
            <a:r>
              <a:rPr lang="en-US" err="1"/>
              <a:t>el</a:t>
            </a:r>
            <a:r>
              <a:rPr lang="en-US"/>
              <a:t> capacitor muy próximo al inductor y a los MOSFETs, se reduce la longitud del lazo de corriente, se minimizan las pérdidas por impedancia parásita y se mejora la estabilidad del voltaje de salida, reduciendo el rizado y el ruido.</a:t>
            </a:r>
            <a:endParaRPr lang="es-ES"/>
          </a:p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37</a:t>
            </a:fld>
            <a:endParaRPr lang="en-US" sz="1200" b="0" i="0" u="none" strike="noStrike" cap="none"/>
          </a:p>
        </p:txBody>
      </p:sp>
    </p:spTree>
    <p:extLst>
      <p:ext uri="{BB962C8B-B14F-4D97-AF65-F5344CB8AC3E}">
        <p14:creationId xmlns:p14="http://schemas.microsoft.com/office/powerpoint/2010/main" val="2465452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bg>
      <p:bgPr>
        <a:solidFill>
          <a:srgbClr val="000000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/>
              <a:t>n</a:t>
            </a:r>
            <a:endParaRPr/>
          </a:p>
        </p:txBody>
      </p:sp>
      <p:pic>
        <p:nvPicPr>
          <p:cNvPr id="13" name="Google Shape;13;p2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bg>
      <p:bgPr>
        <a:solidFill>
          <a:srgbClr val="000000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bg>
      <p:bgPr>
        <a:solidFill>
          <a:srgbClr val="00000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bg>
      <p:bgPr>
        <a:solidFill>
          <a:srgbClr val="000000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bg>
      <p:bgPr>
        <a:solidFill>
          <a:srgbClr val="00000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bg>
      <p:bgPr>
        <a:solidFill>
          <a:srgbClr val="000000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bg>
      <p:bgPr>
        <a:solidFill>
          <a:srgbClr val="000000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8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bg>
      <p:bgPr>
        <a:solidFill>
          <a:srgbClr val="00000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9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bg>
      <p:bgPr>
        <a:solidFill>
          <a:srgbClr val="000000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10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bg>
      <p:bgPr>
        <a:solidFill>
          <a:srgbClr val="000000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1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74901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png"/><Relationship Id="rId5" Type="http://schemas.openxmlformats.org/officeDocument/2006/relationships/image" Target="../media/image66.png"/><Relationship Id="rId10" Type="http://schemas.openxmlformats.org/officeDocument/2006/relationships/image" Target="../media/image76.png"/><Relationship Id="rId4" Type="http://schemas.openxmlformats.org/officeDocument/2006/relationships/image" Target="../media/image72.png"/><Relationship Id="rId9" Type="http://schemas.openxmlformats.org/officeDocument/2006/relationships/image" Target="../media/image7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google.com/url?sa=t&amp;rct=j&amp;q=&amp;esrc=s&amp;source=web&amp;cd=&amp;ved=2ahUKEwiuho33tvSPAxXQH7kGHS_vAWQQFnoECBYQAQ&amp;url=https%3A%2F%2Flc.fie.umich.mx%2F~jorgeahb%2FPagina%2Fmaterias%2FPIES%2Fkupdf.com_electronica-de-potencia-1ra-edicion-daniel-w-hart.pdf&amp;usg=AOvVaw12H7jpJB96UqhKoR2voyG8&amp;opi=89978449" TargetMode="External"/><Relationship Id="rId5" Type="http://schemas.openxmlformats.org/officeDocument/2006/relationships/hyperlink" Target="https://www.ti.com/lit/an/slva630a/slva630a.pdf" TargetMode="External"/><Relationship Id="rId4" Type="http://schemas.openxmlformats.org/officeDocument/2006/relationships/hyperlink" Target="https://www.analog.com/en/resources/technical-articles/selecting-the-right-inductor-current-ripple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4i2FRZ8gXc&amp;t=86s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7.jpeg"/><Relationship Id="rId4" Type="http://schemas.openxmlformats.org/officeDocument/2006/relationships/image" Target="../media/image10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0.jpeg"/><Relationship Id="rId4" Type="http://schemas.openxmlformats.org/officeDocument/2006/relationships/image" Target="../media/image10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hyperlink" Target="https://www.digikey.com/en/resources/conversion-calculators/conversion-calculator-pcb-trace-width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44709" y="1558528"/>
            <a:ext cx="7627382" cy="1524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900"/>
              <a:buFont typeface="Dela Gothic One"/>
              <a:buNone/>
            </a:pPr>
            <a:r>
              <a:rPr lang="en-US" sz="39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Convertidor DC/DC Buck Bidireccional</a:t>
            </a:r>
            <a:endParaRPr sz="3900" b="0" i="0" u="none" strike="noStrike" cap="none"/>
          </a:p>
        </p:txBody>
      </p:sp>
      <p:sp>
        <p:nvSpPr>
          <p:cNvPr id="58" name="Google Shape;58;p13"/>
          <p:cNvSpPr/>
          <p:nvPr/>
        </p:nvSpPr>
        <p:spPr>
          <a:xfrm>
            <a:off x="6244709" y="3089910"/>
            <a:ext cx="2494359" cy="31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lang="en-US" sz="19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Grupo 2</a:t>
            </a:r>
            <a:endParaRPr sz="1950" b="0" i="0" u="none" strike="noStrike" cap="none"/>
          </a:p>
        </p:txBody>
      </p:sp>
      <p:sp>
        <p:nvSpPr>
          <p:cNvPr id="59" name="Google Shape;59;p13"/>
          <p:cNvSpPr/>
          <p:nvPr/>
        </p:nvSpPr>
        <p:spPr>
          <a:xfrm>
            <a:off x="6244709" y="3685937"/>
            <a:ext cx="7627382" cy="30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lang="en-US" sz="1450" b="1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Integrantes:</a:t>
            </a:r>
            <a:endParaRPr sz="1450" b="0" i="0" u="none" strike="noStrike" cap="none"/>
          </a:p>
        </p:txBody>
      </p:sp>
      <p:sp>
        <p:nvSpPr>
          <p:cNvPr id="60" name="Google Shape;60;p13"/>
          <p:cNvSpPr/>
          <p:nvPr/>
        </p:nvSpPr>
        <p:spPr>
          <a:xfrm>
            <a:off x="6244709" y="4202430"/>
            <a:ext cx="7627382" cy="30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•"/>
            </a:pPr>
            <a:r>
              <a:rPr lang="en-US" sz="14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Agustín Torres Bobadilla</a:t>
            </a:r>
            <a:endParaRPr sz="1450" b="0" i="0" u="none" strike="noStrike" cap="none"/>
          </a:p>
        </p:txBody>
      </p:sp>
      <p:sp>
        <p:nvSpPr>
          <p:cNvPr id="61" name="Google Shape;61;p13"/>
          <p:cNvSpPr/>
          <p:nvPr/>
        </p:nvSpPr>
        <p:spPr>
          <a:xfrm>
            <a:off x="6244709" y="4572000"/>
            <a:ext cx="7627382" cy="30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•"/>
            </a:pPr>
            <a:r>
              <a:rPr lang="en-US" sz="14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Gian Lucas Barbagelata</a:t>
            </a:r>
            <a:endParaRPr sz="1450" b="0" i="0" u="none" strike="noStrike" cap="none"/>
          </a:p>
        </p:txBody>
      </p:sp>
      <p:sp>
        <p:nvSpPr>
          <p:cNvPr id="62" name="Google Shape;62;p13"/>
          <p:cNvSpPr/>
          <p:nvPr/>
        </p:nvSpPr>
        <p:spPr>
          <a:xfrm>
            <a:off x="6244709" y="4941570"/>
            <a:ext cx="7627382" cy="30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Char char="•"/>
            </a:pPr>
            <a:r>
              <a:rPr lang="en-US" sz="14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Ignacio Cerda Torres</a:t>
            </a:r>
            <a:endParaRPr sz="1450" b="0" i="0" u="none" strike="noStrike" cap="none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1B0D0D09-317A-E27E-914B-896A69A52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32202" y="7774744"/>
            <a:ext cx="1998784" cy="459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758309" y="1300043"/>
            <a:ext cx="12698373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900"/>
              <a:buFont typeface="Dela Gothic One"/>
              <a:buNone/>
            </a:pPr>
            <a:r>
              <a:rPr lang="en-US" sz="39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Especificaciones Técnicas del Convertidor</a:t>
            </a:r>
            <a:endParaRPr sz="3900" b="0" i="0" u="none" strike="noStrike" cap="none"/>
          </a:p>
        </p:txBody>
      </p:sp>
      <p:sp>
        <p:nvSpPr>
          <p:cNvPr id="70" name="Google Shape;70;p14"/>
          <p:cNvSpPr/>
          <p:nvPr/>
        </p:nvSpPr>
        <p:spPr>
          <a:xfrm>
            <a:off x="758309" y="2302669"/>
            <a:ext cx="13113782" cy="60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68"/>
              </a:lnSpc>
              <a:buClr>
                <a:srgbClr val="FFE5E5"/>
              </a:buClr>
              <a:buSzPts val="1450"/>
            </a:pPr>
            <a:endParaRPr lang="en-US" sz="160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CBE68E3-0F20-E207-BC2E-F35B7FD0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4703" y="7733001"/>
            <a:ext cx="1948295" cy="494434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AE2D9587-1A4A-EE2C-7661-03BDB6FB1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237395"/>
              </p:ext>
            </p:extLst>
          </p:nvPr>
        </p:nvGraphicFramePr>
        <p:xfrm>
          <a:off x="2491331" y="3576810"/>
          <a:ext cx="9229723" cy="35945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35569">
                  <a:extLst>
                    <a:ext uri="{9D8B030D-6E8A-4147-A177-3AD203B41FA5}">
                      <a16:colId xmlns:a16="http://schemas.microsoft.com/office/drawing/2014/main" val="1355809474"/>
                    </a:ext>
                  </a:extLst>
                </a:gridCol>
                <a:gridCol w="2917580">
                  <a:extLst>
                    <a:ext uri="{9D8B030D-6E8A-4147-A177-3AD203B41FA5}">
                      <a16:colId xmlns:a16="http://schemas.microsoft.com/office/drawing/2014/main" val="2878312511"/>
                    </a:ext>
                  </a:extLst>
                </a:gridCol>
                <a:gridCol w="3076574">
                  <a:extLst>
                    <a:ext uri="{9D8B030D-6E8A-4147-A177-3AD203B41FA5}">
                      <a16:colId xmlns:a16="http://schemas.microsoft.com/office/drawing/2014/main" val="1539031677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/>
                          <a:latin typeface="DM Sans"/>
                        </a:rPr>
                        <a:t>Parámetro</a:t>
                      </a:r>
                      <a:endParaRPr lang="es-ES" b="1">
                        <a:solidFill>
                          <a:srgbClr val="FFFFFF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/>
                          <a:latin typeface="DM Sans"/>
                        </a:rPr>
                        <a:t>Caso Buck</a:t>
                      </a:r>
                      <a:endParaRPr lang="es-ES" b="1">
                        <a:solidFill>
                          <a:srgbClr val="FFFFFF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/>
                          <a:latin typeface="DM Sans"/>
                        </a:rPr>
                        <a:t>Caso </a:t>
                      </a:r>
                      <a:r>
                        <a:rPr lang="es-ES" sz="1800" b="1" err="1">
                          <a:solidFill>
                            <a:srgbClr val="FFFFFF"/>
                          </a:solidFill>
                          <a:effectLst/>
                          <a:latin typeface="DM Sans"/>
                        </a:rPr>
                        <a:t>Boost</a:t>
                      </a:r>
                      <a:endParaRPr lang="es-ES" b="1" err="1">
                        <a:solidFill>
                          <a:srgbClr val="FFFFFF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9353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Voltaje Continuo Mínimo de Entrada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23[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Vdc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12[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Vdc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25622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Voltaje Continuo Máximo de Salida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14[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Vdc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27[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Vdc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457105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Frecuencia de conmutación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60KHz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60KHz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381852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Potencia Máxima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5[W]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5[W]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27012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Tipo de switch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MOSFET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MOSFET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804799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F73AE8E0-0191-4BDE-0C5C-AD3992DECD16}"/>
              </a:ext>
            </a:extLst>
          </p:cNvPr>
          <p:cNvSpPr txBox="1"/>
          <p:nvPr/>
        </p:nvSpPr>
        <p:spPr>
          <a:xfrm>
            <a:off x="760838" y="2295276"/>
            <a:ext cx="1257991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solidFill>
                  <a:schemeClr val="bg1"/>
                </a:solidFill>
                <a:latin typeface="DM Sans"/>
              </a:rPr>
              <a:t>Se desea un aumento y/o disminución de voltaje continuo de entrada hacia alguna carga que se desee.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DD596FBF-37C1-22AB-3FD4-CCD35B3A7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7158" y="7694222"/>
            <a:ext cx="1907344" cy="536184"/>
          </a:xfrm>
          <a:prstGeom prst="rect">
            <a:avLst/>
          </a:prstGeom>
        </p:spPr>
      </p:pic>
      <p:sp>
        <p:nvSpPr>
          <p:cNvPr id="5" name="Google Shape;69;p14">
            <a:extLst>
              <a:ext uri="{FF2B5EF4-FFF2-40B4-BE49-F238E27FC236}">
                <a16:creationId xmlns:a16="http://schemas.microsoft.com/office/drawing/2014/main" id="{D843A071-FA5F-1739-40CE-227E24F703B2}"/>
              </a:ext>
            </a:extLst>
          </p:cNvPr>
          <p:cNvSpPr/>
          <p:nvPr/>
        </p:nvSpPr>
        <p:spPr>
          <a:xfrm>
            <a:off x="465011" y="471907"/>
            <a:ext cx="12698373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641"/>
              </a:lnSpc>
            </a:pP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</a:rPr>
              <a:t>Esquematico</a:t>
            </a: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</a:rPr>
              <a:t> de </a:t>
            </a: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</a:rPr>
              <a:t>solución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674BBC7-B43C-1DBD-1697-55AC215F777A}"/>
              </a:ext>
            </a:extLst>
          </p:cNvPr>
          <p:cNvSpPr/>
          <p:nvPr/>
        </p:nvSpPr>
        <p:spPr>
          <a:xfrm>
            <a:off x="9468987" y="1655568"/>
            <a:ext cx="2150488" cy="963921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s-ES" sz="1800">
              <a:latin typeface="DM Sans"/>
              <a:cs typeface="Arial"/>
            </a:endParaRPr>
          </a:p>
          <a:p>
            <a:pPr algn="ctr"/>
            <a:r>
              <a:rPr lang="es-ES" sz="1800">
                <a:latin typeface="DM Sans"/>
                <a:cs typeface="Arial"/>
              </a:rPr>
              <a:t>Voltaje de Entrada Continuo.</a:t>
            </a:r>
            <a:endParaRPr lang="es-ES"/>
          </a:p>
          <a:p>
            <a:pPr algn="ctr"/>
            <a:endParaRPr lang="es-ES" sz="1800">
              <a:latin typeface="DM Sans"/>
              <a:cs typeface="Arial"/>
            </a:endParaRPr>
          </a:p>
        </p:txBody>
      </p:sp>
      <p:sp>
        <p:nvSpPr>
          <p:cNvPr id="9" name="Flecha: a la derecha con muesca 8">
            <a:extLst>
              <a:ext uri="{FF2B5EF4-FFF2-40B4-BE49-F238E27FC236}">
                <a16:creationId xmlns:a16="http://schemas.microsoft.com/office/drawing/2014/main" id="{59550026-3F21-40F8-DEA2-161374DB9869}"/>
              </a:ext>
            </a:extLst>
          </p:cNvPr>
          <p:cNvSpPr/>
          <p:nvPr/>
        </p:nvSpPr>
        <p:spPr>
          <a:xfrm rot="5400000">
            <a:off x="9593444" y="3050837"/>
            <a:ext cx="1231928" cy="383334"/>
          </a:xfrm>
          <a:prstGeom prst="notchedRightArrow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6F1D573-5430-7417-594E-516607471739}"/>
              </a:ext>
            </a:extLst>
          </p:cNvPr>
          <p:cNvSpPr/>
          <p:nvPr/>
        </p:nvSpPr>
        <p:spPr>
          <a:xfrm>
            <a:off x="9468987" y="3850129"/>
            <a:ext cx="2137425" cy="937795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800">
                <a:latin typeface="DM Sans"/>
                <a:cs typeface="Arial"/>
              </a:rPr>
              <a:t>Circuito </a:t>
            </a:r>
            <a:r>
              <a:rPr lang="es-ES" sz="1800" err="1">
                <a:latin typeface="DM Sans"/>
                <a:cs typeface="Arial"/>
              </a:rPr>
              <a:t>Electrico</a:t>
            </a:r>
            <a:r>
              <a:rPr lang="es-ES" sz="1800">
                <a:latin typeface="DM Sans"/>
                <a:cs typeface="Arial"/>
              </a:rPr>
              <a:t> Conmutado</a:t>
            </a:r>
            <a:endParaRPr lang="es-ES"/>
          </a:p>
        </p:txBody>
      </p:sp>
      <p:sp>
        <p:nvSpPr>
          <p:cNvPr id="7" name="Flecha: a la derecha con muesca 6">
            <a:extLst>
              <a:ext uri="{FF2B5EF4-FFF2-40B4-BE49-F238E27FC236}">
                <a16:creationId xmlns:a16="http://schemas.microsoft.com/office/drawing/2014/main" id="{32DF12D2-565B-C2C4-B1AD-8D3A67DAE289}"/>
              </a:ext>
            </a:extLst>
          </p:cNvPr>
          <p:cNvSpPr/>
          <p:nvPr/>
        </p:nvSpPr>
        <p:spPr>
          <a:xfrm>
            <a:off x="8221844" y="4135053"/>
            <a:ext cx="1231928" cy="383334"/>
          </a:xfrm>
          <a:prstGeom prst="notchedRightArrow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Flecha: a la derecha con muesca 7">
            <a:extLst>
              <a:ext uri="{FF2B5EF4-FFF2-40B4-BE49-F238E27FC236}">
                <a16:creationId xmlns:a16="http://schemas.microsoft.com/office/drawing/2014/main" id="{7EC473E6-0D7B-0FCC-0B48-9D5ECB3A1EFA}"/>
              </a:ext>
            </a:extLst>
          </p:cNvPr>
          <p:cNvSpPr/>
          <p:nvPr/>
        </p:nvSpPr>
        <p:spPr>
          <a:xfrm rot="16200000">
            <a:off x="10115957" y="3050836"/>
            <a:ext cx="1231928" cy="383334"/>
          </a:xfrm>
          <a:prstGeom prst="notchedRightArrow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Flecha: a la derecha con muesca 9">
            <a:extLst>
              <a:ext uri="{FF2B5EF4-FFF2-40B4-BE49-F238E27FC236}">
                <a16:creationId xmlns:a16="http://schemas.microsoft.com/office/drawing/2014/main" id="{B35AB26F-B6CC-169E-D40A-A57A7679BACA}"/>
              </a:ext>
            </a:extLst>
          </p:cNvPr>
          <p:cNvSpPr/>
          <p:nvPr/>
        </p:nvSpPr>
        <p:spPr>
          <a:xfrm rot="5400000">
            <a:off x="9593444" y="5219271"/>
            <a:ext cx="1231928" cy="383334"/>
          </a:xfrm>
          <a:prstGeom prst="notchedRightArrow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lecha: a la derecha con muesca 10">
            <a:extLst>
              <a:ext uri="{FF2B5EF4-FFF2-40B4-BE49-F238E27FC236}">
                <a16:creationId xmlns:a16="http://schemas.microsoft.com/office/drawing/2014/main" id="{387D7418-7A93-2932-19F8-479613DC0114}"/>
              </a:ext>
            </a:extLst>
          </p:cNvPr>
          <p:cNvSpPr/>
          <p:nvPr/>
        </p:nvSpPr>
        <p:spPr>
          <a:xfrm rot="-5400000">
            <a:off x="10115958" y="5219271"/>
            <a:ext cx="1231928" cy="383334"/>
          </a:xfrm>
          <a:prstGeom prst="notchedRightArrow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3660DB9-E9D8-AFC9-4BE3-79E051549F37}"/>
              </a:ext>
            </a:extLst>
          </p:cNvPr>
          <p:cNvSpPr/>
          <p:nvPr/>
        </p:nvSpPr>
        <p:spPr>
          <a:xfrm>
            <a:off x="9482049" y="6018563"/>
            <a:ext cx="2137425" cy="937795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800">
                <a:latin typeface="DM Sans"/>
                <a:cs typeface="Arial"/>
              </a:rPr>
              <a:t>Carga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3C16D9D-96BE-3584-44F5-D8AE00CE5E5A}"/>
              </a:ext>
            </a:extLst>
          </p:cNvPr>
          <p:cNvSpPr/>
          <p:nvPr/>
        </p:nvSpPr>
        <p:spPr>
          <a:xfrm>
            <a:off x="6085706" y="3850128"/>
            <a:ext cx="2137425" cy="937795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800">
                <a:latin typeface="DM Sans"/>
                <a:cs typeface="Arial"/>
              </a:rPr>
              <a:t>Control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3679AE3-8615-AE00-DEE6-2C2339C0559F}"/>
              </a:ext>
            </a:extLst>
          </p:cNvPr>
          <p:cNvSpPr txBox="1"/>
          <p:nvPr/>
        </p:nvSpPr>
        <p:spPr>
          <a:xfrm>
            <a:off x="461889" y="2253729"/>
            <a:ext cx="3644537" cy="9848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L" sz="1600" b="1">
                <a:solidFill>
                  <a:schemeClr val="bg1"/>
                </a:solidFill>
                <a:latin typeface="DM Sans"/>
              </a:rPr>
              <a:t>VOLTAJE DE ENTRADA: </a:t>
            </a:r>
            <a:endParaRPr lang="es-ES" sz="1600" b="1">
              <a:solidFill>
                <a:schemeClr val="bg1"/>
              </a:solidFill>
              <a:latin typeface="DM Sans"/>
            </a:endParaRPr>
          </a:p>
          <a:p>
            <a:endParaRPr lang="es-CL" b="1">
              <a:solidFill>
                <a:schemeClr val="bg1"/>
              </a:solidFill>
              <a:latin typeface="DM Sans"/>
            </a:endParaRPr>
          </a:p>
          <a:p>
            <a:r>
              <a:rPr lang="es-CL">
                <a:solidFill>
                  <a:schemeClr val="bg1"/>
                </a:solidFill>
                <a:latin typeface="DM Sans"/>
              </a:rPr>
              <a:t>Fuente de energía en corriente continua (12 </a:t>
            </a:r>
            <a:r>
              <a:rPr lang="es-CL" err="1">
                <a:solidFill>
                  <a:schemeClr val="bg1"/>
                </a:solidFill>
                <a:latin typeface="DM Sans"/>
              </a:rPr>
              <a:t>Vdc</a:t>
            </a:r>
            <a:r>
              <a:rPr lang="es-CL">
                <a:solidFill>
                  <a:schemeClr val="bg1"/>
                </a:solidFill>
                <a:latin typeface="DM Sans"/>
              </a:rPr>
              <a:t> o 23 </a:t>
            </a:r>
            <a:r>
              <a:rPr lang="es-CL" err="1">
                <a:solidFill>
                  <a:schemeClr val="bg1"/>
                </a:solidFill>
                <a:latin typeface="DM Sans"/>
              </a:rPr>
              <a:t>Vdc</a:t>
            </a:r>
            <a:r>
              <a:rPr lang="es-CL">
                <a:solidFill>
                  <a:schemeClr val="bg1"/>
                </a:solidFill>
                <a:latin typeface="DM Sans"/>
              </a:rPr>
              <a:t>) que alimenta el sistema</a:t>
            </a:r>
            <a:endParaRPr lang="es-ES">
              <a:solidFill>
                <a:schemeClr val="bg1"/>
              </a:solidFill>
              <a:latin typeface="DM San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53C0AF-6E6B-9D4E-FC97-967438FC9434}"/>
              </a:ext>
            </a:extLst>
          </p:cNvPr>
          <p:cNvSpPr txBox="1"/>
          <p:nvPr/>
        </p:nvSpPr>
        <p:spPr>
          <a:xfrm>
            <a:off x="462726" y="3775165"/>
            <a:ext cx="3630469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>
                <a:solidFill>
                  <a:schemeClr val="bg1"/>
                </a:solidFill>
                <a:latin typeface="DM Sans"/>
              </a:rPr>
              <a:t>CIRCUITO ELECTRICO CONMUTADO: </a:t>
            </a:r>
          </a:p>
          <a:p>
            <a:endParaRPr lang="es-ES" sz="1600" b="1">
              <a:solidFill>
                <a:schemeClr val="bg1"/>
              </a:solidFill>
              <a:latin typeface="DM Sans"/>
            </a:endParaRPr>
          </a:p>
          <a:p>
            <a:r>
              <a:rPr lang="es-ES">
                <a:solidFill>
                  <a:schemeClr val="bg1"/>
                </a:solidFill>
                <a:latin typeface="DM Sans"/>
              </a:rPr>
              <a:t>Permite </a:t>
            </a:r>
            <a:r>
              <a:rPr lang="es-ES">
                <a:solidFill>
                  <a:schemeClr val="bg1"/>
                </a:solidFill>
              </a:rPr>
              <a:t> </a:t>
            </a:r>
            <a:r>
              <a:rPr lang="es-ES">
                <a:solidFill>
                  <a:schemeClr val="bg1"/>
                </a:solidFill>
                <a:latin typeface="DM Sans"/>
              </a:rPr>
              <a:t>aumentar o disminuir el voltaje según el modo de operación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739F6D8-36AE-98B4-DAF4-EF20A06D6D92}"/>
              </a:ext>
            </a:extLst>
          </p:cNvPr>
          <p:cNvSpPr txBox="1"/>
          <p:nvPr/>
        </p:nvSpPr>
        <p:spPr>
          <a:xfrm>
            <a:off x="464233" y="5227152"/>
            <a:ext cx="497996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>
                <a:solidFill>
                  <a:schemeClr val="bg1"/>
                </a:solidFill>
                <a:latin typeface="DM Sans"/>
              </a:rPr>
              <a:t>CONTROL:</a:t>
            </a:r>
          </a:p>
          <a:p>
            <a:pPr algn="l"/>
            <a:endParaRPr lang="es-ES" sz="1600" b="1">
              <a:solidFill>
                <a:schemeClr val="bg1"/>
              </a:solidFill>
              <a:latin typeface="DM Sans"/>
            </a:endParaRPr>
          </a:p>
          <a:p>
            <a:r>
              <a:rPr lang="es-ES" sz="1600">
                <a:solidFill>
                  <a:schemeClr val="bg1"/>
                </a:solidFill>
                <a:latin typeface="DM Sans"/>
              </a:rPr>
              <a:t>Define el modo de operación (Reductor o Elevador) y asegura un funcionamiento estable </a:t>
            </a:r>
            <a:endParaRPr lang="es-ES">
              <a:solidFill>
                <a:schemeClr val="bg1"/>
              </a:solidFill>
              <a:latin typeface="DM San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01C4307-B5C8-5C19-E8E8-F27D557CF109}"/>
              </a:ext>
            </a:extLst>
          </p:cNvPr>
          <p:cNvSpPr txBox="1"/>
          <p:nvPr/>
        </p:nvSpPr>
        <p:spPr>
          <a:xfrm>
            <a:off x="462726" y="6535447"/>
            <a:ext cx="427306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600" b="1">
                <a:solidFill>
                  <a:schemeClr val="bg1"/>
                </a:solidFill>
                <a:latin typeface="DM Sans"/>
              </a:rPr>
              <a:t>CARGA:</a:t>
            </a:r>
          </a:p>
          <a:p>
            <a:br>
              <a:rPr lang="es-ES" sz="1600" b="1">
                <a:solidFill>
                  <a:schemeClr val="bg1"/>
                </a:solidFill>
                <a:latin typeface="DM Sans"/>
              </a:rPr>
            </a:br>
            <a:r>
              <a:rPr lang="es-ES" sz="1600">
                <a:solidFill>
                  <a:schemeClr val="bg1"/>
                </a:solidFill>
              </a:rPr>
              <a:t>Elemento que recibe la energía regulada</a:t>
            </a:r>
            <a:endParaRPr lang="es-ES" sz="1600" b="1">
              <a:solidFill>
                <a:schemeClr val="bg1"/>
              </a:solidFill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1916121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Tabla&#10;&#10;El contenido generado por IA puede ser incorrecto.">
            <a:extLst>
              <a:ext uri="{FF2B5EF4-FFF2-40B4-BE49-F238E27FC236}">
                <a16:creationId xmlns:a16="http://schemas.microsoft.com/office/drawing/2014/main" id="{E033BA81-1D19-6908-CC79-2BEF4C9F1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601" y="3104470"/>
            <a:ext cx="10448925" cy="254317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D90A2EE-FB33-50F4-8743-A717D04B5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91655" y="7559177"/>
            <a:ext cx="1944188" cy="674642"/>
          </a:xfrm>
          <a:prstGeom prst="rect">
            <a:avLst/>
          </a:prstGeom>
        </p:spPr>
      </p:pic>
      <p:sp>
        <p:nvSpPr>
          <p:cNvPr id="6" name="Google Shape;69;p14">
            <a:extLst>
              <a:ext uri="{FF2B5EF4-FFF2-40B4-BE49-F238E27FC236}">
                <a16:creationId xmlns:a16="http://schemas.microsoft.com/office/drawing/2014/main" id="{8F70C45C-10C5-3F0D-B8B8-5947C2202F92}"/>
              </a:ext>
            </a:extLst>
          </p:cNvPr>
          <p:cNvSpPr/>
          <p:nvPr/>
        </p:nvSpPr>
        <p:spPr>
          <a:xfrm>
            <a:off x="465011" y="471907"/>
            <a:ext cx="12698373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641"/>
              </a:lnSpc>
            </a:pP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</a:rPr>
              <a:t>Nivel  1: </a:t>
            </a: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</a:rPr>
              <a:t>Protoripado</a:t>
            </a: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</a:rPr>
              <a:t> </a:t>
            </a: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</a:rPr>
              <a:t>Convertidor</a:t>
            </a: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</a:rPr>
              <a:t> DC/DC Buck </a:t>
            </a: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</a:rPr>
              <a:t>Bidireccional</a:t>
            </a:r>
            <a:endParaRPr lang="en-US" sz="3900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</p:spTree>
    <p:extLst>
      <p:ext uri="{BB962C8B-B14F-4D97-AF65-F5344CB8AC3E}">
        <p14:creationId xmlns:p14="http://schemas.microsoft.com/office/powerpoint/2010/main" val="2948661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38C1465-D015-9351-1047-CA40C650A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296" y="7481350"/>
            <a:ext cx="1965384" cy="754630"/>
          </a:xfrm>
          <a:prstGeom prst="rect">
            <a:avLst/>
          </a:prstGeom>
        </p:spPr>
      </p:pic>
      <p:sp>
        <p:nvSpPr>
          <p:cNvPr id="4" name="Google Shape;69;p14">
            <a:extLst>
              <a:ext uri="{FF2B5EF4-FFF2-40B4-BE49-F238E27FC236}">
                <a16:creationId xmlns:a16="http://schemas.microsoft.com/office/drawing/2014/main" id="{404B019E-3C9B-C60F-815B-4EFFED153FBB}"/>
              </a:ext>
            </a:extLst>
          </p:cNvPr>
          <p:cNvSpPr/>
          <p:nvPr/>
        </p:nvSpPr>
        <p:spPr>
          <a:xfrm>
            <a:off x="465011" y="471907"/>
            <a:ext cx="12698373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641"/>
              </a:lnSpc>
            </a:pP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Componentes a </a:t>
            </a: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Utilizar</a:t>
            </a:r>
            <a:endParaRPr lang="en-US" sz="3900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F6093B2-ADD9-B26F-8212-58090A0911C9}"/>
              </a:ext>
            </a:extLst>
          </p:cNvPr>
          <p:cNvSpPr txBox="1"/>
          <p:nvPr/>
        </p:nvSpPr>
        <p:spPr>
          <a:xfrm>
            <a:off x="617254" y="2056072"/>
            <a:ext cx="4604846" cy="22775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chemeClr val="bg1"/>
                </a:solidFill>
                <a:latin typeface="DM Sans"/>
              </a:rPr>
              <a:t>Componentes Pasivos:</a:t>
            </a:r>
          </a:p>
          <a:p>
            <a:endParaRPr lang="es-ES" sz="2000" b="1">
              <a:solidFill>
                <a:schemeClr val="bg1"/>
              </a:solidFill>
              <a:latin typeface="DM Sans"/>
            </a:endParaRPr>
          </a:p>
          <a:p>
            <a:pPr marL="342900" indent="-342900">
              <a:buChar char="•"/>
            </a:pPr>
            <a:r>
              <a:rPr lang="es-ES" sz="2000">
                <a:solidFill>
                  <a:schemeClr val="bg1"/>
                </a:solidFill>
                <a:latin typeface="DM Sans"/>
              </a:rPr>
              <a:t>Inductor</a:t>
            </a:r>
          </a:p>
          <a:p>
            <a:pPr marL="342900" indent="-342900">
              <a:buChar char="•"/>
            </a:pPr>
            <a:r>
              <a:rPr lang="es-ES" sz="2000">
                <a:solidFill>
                  <a:schemeClr val="bg1"/>
                </a:solidFill>
                <a:latin typeface="DM Sans"/>
              </a:rPr>
              <a:t>Capacitores</a:t>
            </a:r>
          </a:p>
          <a:p>
            <a:pPr marL="342900" indent="-342900">
              <a:buChar char="•"/>
            </a:pPr>
            <a:r>
              <a:rPr lang="es-ES" sz="2000">
                <a:solidFill>
                  <a:schemeClr val="bg1"/>
                </a:solidFill>
                <a:latin typeface="DM Sans"/>
              </a:rPr>
              <a:t>Resistencias</a:t>
            </a:r>
          </a:p>
          <a:p>
            <a:pPr marL="342900" indent="-342900">
              <a:buChar char="•"/>
            </a:pPr>
            <a:r>
              <a:rPr lang="es-ES" sz="2000">
                <a:solidFill>
                  <a:schemeClr val="bg1"/>
                </a:solidFill>
                <a:latin typeface="DM Sans"/>
              </a:rPr>
              <a:t>Diodos</a:t>
            </a:r>
          </a:p>
          <a:p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DAEBBC-4DB3-963C-E1BB-E6C836D6399F}"/>
              </a:ext>
            </a:extLst>
          </p:cNvPr>
          <p:cNvSpPr txBox="1"/>
          <p:nvPr/>
        </p:nvSpPr>
        <p:spPr>
          <a:xfrm>
            <a:off x="7317987" y="2056071"/>
            <a:ext cx="5842803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chemeClr val="bg1"/>
                </a:solidFill>
                <a:latin typeface="DM Sans"/>
              </a:rPr>
              <a:t>Componentes Activos:</a:t>
            </a:r>
          </a:p>
          <a:p>
            <a:endParaRPr lang="es-ES" sz="2800" b="1">
              <a:solidFill>
                <a:schemeClr val="bg1"/>
              </a:solidFill>
              <a:latin typeface="DM Sans"/>
            </a:endParaRPr>
          </a:p>
          <a:p>
            <a:pPr marL="342900" indent="-342900">
              <a:buChar char="•"/>
            </a:pPr>
            <a:r>
              <a:rPr lang="es-ES" sz="2000" err="1">
                <a:solidFill>
                  <a:schemeClr val="bg1"/>
                </a:solidFill>
                <a:latin typeface="DM Sans"/>
              </a:rPr>
              <a:t>Mosfets</a:t>
            </a:r>
            <a:endParaRPr lang="es-ES" sz="2000">
              <a:solidFill>
                <a:schemeClr val="bg1"/>
              </a:solidFill>
              <a:latin typeface="DM Sans"/>
            </a:endParaRPr>
          </a:p>
          <a:p>
            <a:pPr marL="342900" indent="-342900">
              <a:buChar char="•"/>
            </a:pPr>
            <a:r>
              <a:rPr lang="es-ES" sz="2000">
                <a:solidFill>
                  <a:schemeClr val="bg1"/>
                </a:solidFill>
                <a:latin typeface="DM Sans"/>
              </a:rPr>
              <a:t>Driver</a:t>
            </a:r>
          </a:p>
          <a:p>
            <a:pPr marL="342900" indent="-342900">
              <a:buChar char="•"/>
            </a:pPr>
            <a:endParaRPr lang="es-ES" sz="2000">
              <a:solidFill>
                <a:schemeClr val="bg1"/>
              </a:solidFill>
              <a:latin typeface="DM Sans"/>
            </a:endParaRPr>
          </a:p>
          <a:p>
            <a:pPr marL="342900" indent="-342900">
              <a:buChar char="•"/>
            </a:pPr>
            <a:endParaRPr lang="es-ES" sz="2000" b="1">
              <a:solidFill>
                <a:schemeClr val="bg1"/>
              </a:solidFill>
              <a:latin typeface="DM Sans"/>
            </a:endParaRPr>
          </a:p>
          <a:p>
            <a:endParaRPr lang="es-ES"/>
          </a:p>
        </p:txBody>
      </p:sp>
      <p:pic>
        <p:nvPicPr>
          <p:cNvPr id="9" name="Imagen 8" descr="Comprensión de los componentes pasivos: resistencias, inductores y  condensadores">
            <a:extLst>
              <a:ext uri="{FF2B5EF4-FFF2-40B4-BE49-F238E27FC236}">
                <a16:creationId xmlns:a16="http://schemas.microsoft.com/office/drawing/2014/main" id="{E7A6B9A1-3248-CC03-6871-E36AE6F38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34" y="4899514"/>
            <a:ext cx="3559126" cy="2904099"/>
          </a:xfrm>
          <a:prstGeom prst="rect">
            <a:avLst/>
          </a:prstGeom>
        </p:spPr>
      </p:pic>
      <p:pic>
        <p:nvPicPr>
          <p:cNvPr id="10" name="Imagen 9" descr="MOSFET Canal N Modelo IRF740 TO220">
            <a:extLst>
              <a:ext uri="{FF2B5EF4-FFF2-40B4-BE49-F238E27FC236}">
                <a16:creationId xmlns:a16="http://schemas.microsoft.com/office/drawing/2014/main" id="{52352255-3884-1FA1-1874-3235A736B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634" y="4895557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3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3334EA1-F3D4-7196-EAC4-6B219D782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64500" y="7731003"/>
            <a:ext cx="2658940" cy="504825"/>
          </a:xfrm>
          <a:prstGeom prst="rect">
            <a:avLst/>
          </a:prstGeom>
        </p:spPr>
      </p:pic>
      <p:sp>
        <p:nvSpPr>
          <p:cNvPr id="5" name="Google Shape;69;p14">
            <a:extLst>
              <a:ext uri="{FF2B5EF4-FFF2-40B4-BE49-F238E27FC236}">
                <a16:creationId xmlns:a16="http://schemas.microsoft.com/office/drawing/2014/main" id="{0ED1AA75-BDB8-157A-6BC8-A3D33DBEE382}"/>
              </a:ext>
            </a:extLst>
          </p:cNvPr>
          <p:cNvSpPr/>
          <p:nvPr/>
        </p:nvSpPr>
        <p:spPr>
          <a:xfrm>
            <a:off x="465011" y="471907"/>
            <a:ext cx="12698373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641"/>
              </a:lnSpc>
            </a:pP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Componentes  </a:t>
            </a: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Pasivos</a:t>
            </a:r>
            <a:endParaRPr lang="en-US" sz="3900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3BE15-AF1F-479E-FB04-3DBE19D73D7A}"/>
              </a:ext>
            </a:extLst>
          </p:cNvPr>
          <p:cNvSpPr txBox="1"/>
          <p:nvPr/>
        </p:nvSpPr>
        <p:spPr>
          <a:xfrm>
            <a:off x="797442" y="205740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DM Sans"/>
              </a:rPr>
              <a:t>Inductor:</a:t>
            </a:r>
            <a:r>
              <a:rPr lang="en-US" sz="2800">
                <a:latin typeface="DM Sans"/>
              </a:rPr>
              <a:t>​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65C96-2E9B-91F0-1B4A-466005AF08AB}"/>
              </a:ext>
            </a:extLst>
          </p:cNvPr>
          <p:cNvSpPr txBox="1"/>
          <p:nvPr/>
        </p:nvSpPr>
        <p:spPr>
          <a:xfrm>
            <a:off x="4930773" y="205740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DM Sans"/>
              </a:rPr>
              <a:t>Capacitor:</a:t>
            </a:r>
            <a:r>
              <a:rPr lang="en-US" sz="2800">
                <a:latin typeface="DM Sans"/>
              </a:rPr>
              <a:t>​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338FF0-8DD4-F9F4-2283-1989C406158D}"/>
              </a:ext>
            </a:extLst>
          </p:cNvPr>
          <p:cNvSpPr txBox="1"/>
          <p:nvPr/>
        </p:nvSpPr>
        <p:spPr>
          <a:xfrm>
            <a:off x="8059783" y="205740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DM Sans"/>
              </a:rPr>
              <a:t>Resistencia</a:t>
            </a:r>
            <a:r>
              <a:rPr lang="es-ES" sz="2800" b="1" baseline="0">
                <a:solidFill>
                  <a:srgbClr val="FFFFFF"/>
                </a:solidFill>
                <a:latin typeface="DM Sans"/>
              </a:rPr>
              <a:t>:</a:t>
            </a:r>
            <a:r>
              <a:rPr lang="en-US" sz="2800" baseline="0">
                <a:latin typeface="DM Sans"/>
              </a:rPr>
              <a:t>​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4759C1-3F62-9124-2188-84095E1C1D7A}"/>
              </a:ext>
            </a:extLst>
          </p:cNvPr>
          <p:cNvSpPr txBox="1"/>
          <p:nvPr/>
        </p:nvSpPr>
        <p:spPr>
          <a:xfrm>
            <a:off x="11791507" y="2057400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DM Sans"/>
              </a:rPr>
              <a:t>Diodo:</a:t>
            </a:r>
            <a:r>
              <a:rPr lang="en-US" sz="2800">
                <a:latin typeface="DM Sans"/>
              </a:rPr>
              <a:t>​</a:t>
            </a:r>
            <a:endParaRPr lang="en-US"/>
          </a:p>
        </p:txBody>
      </p:sp>
      <p:pic>
        <p:nvPicPr>
          <p:cNvPr id="10" name="Imagen 9" descr="Diodo Schottky 1A 1N581X - Electrónica DIY Guatemala">
            <a:extLst>
              <a:ext uri="{FF2B5EF4-FFF2-40B4-BE49-F238E27FC236}">
                <a16:creationId xmlns:a16="http://schemas.microsoft.com/office/drawing/2014/main" id="{0980A06E-F2FB-37B2-F172-344E14A58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1405" y="3775030"/>
            <a:ext cx="1759132" cy="1959702"/>
          </a:xfrm>
          <a:prstGeom prst="rect">
            <a:avLst/>
          </a:prstGeom>
        </p:spPr>
      </p:pic>
      <p:pic>
        <p:nvPicPr>
          <p:cNvPr id="15" name="Imagen 14" descr="Capacitors | Free SVG">
            <a:extLst>
              <a:ext uri="{FF2B5EF4-FFF2-40B4-BE49-F238E27FC236}">
                <a16:creationId xmlns:a16="http://schemas.microsoft.com/office/drawing/2014/main" id="{2CA9BA0B-D53E-1448-1C85-9B0A9B9F9D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461657"/>
            <a:ext cx="2743200" cy="2743200"/>
          </a:xfrm>
          <a:prstGeom prst="rect">
            <a:avLst/>
          </a:prstGeom>
        </p:spPr>
      </p:pic>
      <p:pic>
        <p:nvPicPr>
          <p:cNvPr id="18" name="Imagen 17" descr="Icono De Resistencia PNG Imágenes Y Dibujos Con Fondo Transparente Gratis -  Pngtree">
            <a:extLst>
              <a:ext uri="{FF2B5EF4-FFF2-40B4-BE49-F238E27FC236}">
                <a16:creationId xmlns:a16="http://schemas.microsoft.com/office/drawing/2014/main" id="{1379BC4E-EC4A-0AB6-E5AD-8E782C136C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228" y="3944982"/>
            <a:ext cx="1763486" cy="1776549"/>
          </a:xfrm>
          <a:prstGeom prst="rect">
            <a:avLst/>
          </a:prstGeom>
        </p:spPr>
      </p:pic>
      <p:pic>
        <p:nvPicPr>
          <p:cNvPr id="20" name="Imagen 19" descr="Icono de Inductor Generic Outline Color | Freepik">
            <a:extLst>
              <a:ext uri="{FF2B5EF4-FFF2-40B4-BE49-F238E27FC236}">
                <a16:creationId xmlns:a16="http://schemas.microsoft.com/office/drawing/2014/main" id="{7AAF087F-8DFF-0C9A-5A01-7824660C3D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723" y="3471997"/>
            <a:ext cx="2722518" cy="273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79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2B171EF-EE14-F7B1-CC2D-EB8DCF4C4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4568" y="7654416"/>
            <a:ext cx="2390775" cy="581025"/>
          </a:xfrm>
          <a:prstGeom prst="rect">
            <a:avLst/>
          </a:prstGeom>
        </p:spPr>
      </p:pic>
      <p:sp>
        <p:nvSpPr>
          <p:cNvPr id="4" name="Google Shape;69;p14">
            <a:extLst>
              <a:ext uri="{FF2B5EF4-FFF2-40B4-BE49-F238E27FC236}">
                <a16:creationId xmlns:a16="http://schemas.microsoft.com/office/drawing/2014/main" id="{9764B763-CCC1-B827-558C-99D40535F54E}"/>
              </a:ext>
            </a:extLst>
          </p:cNvPr>
          <p:cNvSpPr/>
          <p:nvPr/>
        </p:nvSpPr>
        <p:spPr>
          <a:xfrm>
            <a:off x="465011" y="471907"/>
            <a:ext cx="12698373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641"/>
              </a:lnSpc>
            </a:pP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Componentes  Activos</a:t>
            </a:r>
            <a:endParaRPr lang="en-US" sz="3900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B5FA70-6CA0-C505-8F22-0964CEA86ED7}"/>
              </a:ext>
            </a:extLst>
          </p:cNvPr>
          <p:cNvSpPr txBox="1"/>
          <p:nvPr/>
        </p:nvSpPr>
        <p:spPr>
          <a:xfrm>
            <a:off x="1932117" y="2131426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err="1">
                <a:solidFill>
                  <a:srgbClr val="FFFFFF"/>
                </a:solidFill>
                <a:latin typeface="DM Sans"/>
              </a:rPr>
              <a:t>Mosfet</a:t>
            </a:r>
            <a:r>
              <a:rPr lang="es-ES" sz="2800" b="1">
                <a:solidFill>
                  <a:srgbClr val="FFFFFF"/>
                </a:solidFill>
                <a:latin typeface="DM Sans"/>
              </a:rPr>
              <a:t>:</a:t>
            </a:r>
            <a:r>
              <a:rPr lang="en-US" sz="2800">
                <a:latin typeface="DM Sans"/>
              </a:rPr>
              <a:t>​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870EC-3D2A-1B89-B0F8-A263E51D8F4D}"/>
              </a:ext>
            </a:extLst>
          </p:cNvPr>
          <p:cNvSpPr txBox="1"/>
          <p:nvPr/>
        </p:nvSpPr>
        <p:spPr>
          <a:xfrm>
            <a:off x="8435832" y="2262829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>
                <a:solidFill>
                  <a:srgbClr val="FFFFFF"/>
                </a:solidFill>
                <a:latin typeface="DM Sans"/>
              </a:rPr>
              <a:t>Driver:</a:t>
            </a:r>
            <a:r>
              <a:rPr lang="en-US" sz="2800">
                <a:latin typeface="DM Sans"/>
              </a:rPr>
              <a:t>​</a:t>
            </a:r>
            <a:endParaRPr lang="en-US"/>
          </a:p>
        </p:txBody>
      </p:sp>
      <p:pic>
        <p:nvPicPr>
          <p:cNvPr id="18" name="Imagen 9" descr="MOSFET Canal N Modelo IRF740 TO220">
            <a:extLst>
              <a:ext uri="{FF2B5EF4-FFF2-40B4-BE49-F238E27FC236}">
                <a16:creationId xmlns:a16="http://schemas.microsoft.com/office/drawing/2014/main" id="{2DC31C68-4FD8-5EF0-82C3-E02BECB8E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0174" y="3204579"/>
            <a:ext cx="2073349" cy="207334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66E862E-E2B6-8C85-2B51-FD465066E7CE}"/>
              </a:ext>
            </a:extLst>
          </p:cNvPr>
          <p:cNvSpPr txBox="1"/>
          <p:nvPr/>
        </p:nvSpPr>
        <p:spPr>
          <a:xfrm>
            <a:off x="8211635" y="5965997"/>
            <a:ext cx="27432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 err="1">
                <a:solidFill>
                  <a:srgbClr val="FFFFFF"/>
                </a:solidFill>
                <a:latin typeface="DM Sans"/>
              </a:rPr>
              <a:t>Actua</a:t>
            </a:r>
            <a:r>
              <a:rPr lang="es-ES" sz="2000">
                <a:solidFill>
                  <a:srgbClr val="FFFFFF"/>
                </a:solidFill>
                <a:latin typeface="DM Sans"/>
              </a:rPr>
              <a:t> para manejar ambos </a:t>
            </a:r>
            <a:r>
              <a:rPr lang="es-ES" sz="2000" err="1">
                <a:solidFill>
                  <a:srgbClr val="FFFFFF"/>
                </a:solidFill>
                <a:latin typeface="DM Sans"/>
              </a:rPr>
              <a:t>mosfets</a:t>
            </a:r>
            <a:r>
              <a:rPr lang="es-ES" sz="2000">
                <a:solidFill>
                  <a:srgbClr val="FFFFFF"/>
                </a:solidFill>
                <a:latin typeface="DM Sans"/>
              </a:rPr>
              <a:t> del circuito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96A3F0-9E6F-FAEE-26F8-EE5742F1774A}"/>
              </a:ext>
            </a:extLst>
          </p:cNvPr>
          <p:cNvSpPr txBox="1"/>
          <p:nvPr/>
        </p:nvSpPr>
        <p:spPr>
          <a:xfrm>
            <a:off x="1623773" y="5842189"/>
            <a:ext cx="2743200" cy="9350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75"/>
              </a:lnSpc>
            </a:pPr>
            <a:r>
              <a:rPr lang="es-ES" sz="2000" err="1">
                <a:solidFill>
                  <a:srgbClr val="FFFFFF"/>
                </a:solidFill>
                <a:latin typeface="DM Sans"/>
                <a:cs typeface="Segoe UI"/>
              </a:rPr>
              <a:t>Actua</a:t>
            </a:r>
            <a:r>
              <a:rPr lang="es-ES" sz="2000">
                <a:solidFill>
                  <a:srgbClr val="FFFFFF"/>
                </a:solidFill>
                <a:latin typeface="DM Sans"/>
                <a:cs typeface="Segoe UI"/>
              </a:rPr>
              <a:t> como switch que puede conmutar muy </a:t>
            </a:r>
            <a:r>
              <a:rPr lang="es-ES" sz="2000" err="1">
                <a:solidFill>
                  <a:srgbClr val="FFFFFF"/>
                </a:solidFill>
                <a:latin typeface="DM Sans"/>
                <a:cs typeface="Segoe UI"/>
              </a:rPr>
              <a:t>rapidamente</a:t>
            </a:r>
            <a:r>
              <a:rPr lang="es-ES" sz="2000">
                <a:solidFill>
                  <a:srgbClr val="FFFFFF"/>
                </a:solidFill>
                <a:latin typeface="DM Sans"/>
                <a:cs typeface="Segoe UI"/>
              </a:rPr>
              <a:t> en nuestro circuito</a:t>
            </a:r>
            <a:endParaRPr lang="en-US" sz="2000">
              <a:latin typeface="DM Sans"/>
              <a:cs typeface="Segoe U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2C8861-E1D9-D644-AABC-1ABA77A55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9677" y="3323595"/>
            <a:ext cx="3106229" cy="230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44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4183AFA-81C1-BC74-E337-5AE41C0BD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4721" y="7601767"/>
            <a:ext cx="1904183" cy="628650"/>
          </a:xfrm>
          <a:prstGeom prst="rect">
            <a:avLst/>
          </a:prstGeom>
        </p:spPr>
      </p:pic>
      <p:sp>
        <p:nvSpPr>
          <p:cNvPr id="4" name="Google Shape;69;p14">
            <a:extLst>
              <a:ext uri="{FF2B5EF4-FFF2-40B4-BE49-F238E27FC236}">
                <a16:creationId xmlns:a16="http://schemas.microsoft.com/office/drawing/2014/main" id="{D2195C01-4225-175D-C822-DB796363AC7F}"/>
              </a:ext>
            </a:extLst>
          </p:cNvPr>
          <p:cNvSpPr/>
          <p:nvPr/>
        </p:nvSpPr>
        <p:spPr>
          <a:xfrm>
            <a:off x="465011" y="471907"/>
            <a:ext cx="12698373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641"/>
              </a:lnSpc>
            </a:pP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Propuesta</a:t>
            </a: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a lo </a:t>
            </a: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requerido</a:t>
            </a:r>
            <a:endParaRPr lang="en-US" sz="3900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9AAB173-70DC-4B91-E90D-4C1697F1AABE}"/>
              </a:ext>
            </a:extLst>
          </p:cNvPr>
          <p:cNvSpPr txBox="1"/>
          <p:nvPr/>
        </p:nvSpPr>
        <p:spPr>
          <a:xfrm>
            <a:off x="485383" y="1941534"/>
            <a:ext cx="721812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s-ES" sz="2000">
              <a:solidFill>
                <a:schemeClr val="bg1"/>
              </a:solidFill>
              <a:latin typeface="DM Sans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9D18C5D-A862-E6C3-EA4E-8FEC9BA191CE}"/>
              </a:ext>
            </a:extLst>
          </p:cNvPr>
          <p:cNvSpPr txBox="1"/>
          <p:nvPr/>
        </p:nvSpPr>
        <p:spPr>
          <a:xfrm>
            <a:off x="469637" y="1491849"/>
            <a:ext cx="1031625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000">
                <a:solidFill>
                  <a:schemeClr val="bg1"/>
                </a:solidFill>
                <a:latin typeface="DM Sans"/>
              </a:rPr>
              <a:t>En este caso se seleccionó un </a:t>
            </a:r>
            <a:r>
              <a:rPr lang="es-ES" sz="2000" b="1">
                <a:solidFill>
                  <a:schemeClr val="bg1"/>
                </a:solidFill>
                <a:latin typeface="DM Sans"/>
              </a:rPr>
              <a:t>Convertidor DC/DC Buck Bidireccional</a:t>
            </a:r>
          </a:p>
        </p:txBody>
      </p:sp>
      <p:pic>
        <p:nvPicPr>
          <p:cNvPr id="5" name="Imagen 4" descr="Diagrama, Esquemático&#10;&#10;El contenido generado por IA puede ser incorrecto.">
            <a:extLst>
              <a:ext uri="{FF2B5EF4-FFF2-40B4-BE49-F238E27FC236}">
                <a16:creationId xmlns:a16="http://schemas.microsoft.com/office/drawing/2014/main" id="{969AF2F3-E2F5-5838-78AD-0DACC2E9E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813" y="2645637"/>
            <a:ext cx="11215823" cy="398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36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810560" y="295531"/>
            <a:ext cx="12016009" cy="623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641"/>
              </a:lnSpc>
              <a:buClr>
                <a:srgbClr val="FAEBEB"/>
              </a:buClr>
              <a:buSzPts val="3900"/>
            </a:pPr>
            <a:r>
              <a:rPr lang="en-US" sz="39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Principio de </a:t>
            </a:r>
            <a:r>
              <a:rPr lang="en-US" sz="39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Funcionamiento</a:t>
            </a:r>
            <a:r>
              <a:rPr lang="en-US" sz="39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del </a:t>
            </a:r>
            <a:r>
              <a:rPr lang="en-US" sz="3900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Convertidor</a:t>
            </a:r>
            <a:endParaRPr sz="3900" b="0" i="0" u="none" strike="noStrike" cap="none" err="1"/>
          </a:p>
        </p:txBody>
      </p:sp>
      <p:sp>
        <p:nvSpPr>
          <p:cNvPr id="103" name="Google Shape;103;p15"/>
          <p:cNvSpPr/>
          <p:nvPr/>
        </p:nvSpPr>
        <p:spPr>
          <a:xfrm>
            <a:off x="758309" y="1899047"/>
            <a:ext cx="13113782" cy="60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endParaRPr lang="en-US" sz="145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809834" y="2786755"/>
            <a:ext cx="3235404" cy="31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950"/>
              <a:buFont typeface="Dela Gothic One"/>
              <a:buNone/>
            </a:pPr>
            <a:r>
              <a:rPr lang="en-US" sz="19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Modo Buck (Reductor)</a:t>
            </a:r>
            <a:endParaRPr sz="1950" b="0" i="0" u="none" strike="noStrike" cap="none"/>
          </a:p>
        </p:txBody>
      </p:sp>
      <p:sp>
        <p:nvSpPr>
          <p:cNvPr id="106" name="Google Shape;106;p15"/>
          <p:cNvSpPr/>
          <p:nvPr/>
        </p:nvSpPr>
        <p:spPr>
          <a:xfrm>
            <a:off x="757583" y="3460359"/>
            <a:ext cx="6177796" cy="909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68"/>
              </a:lnSpc>
              <a:buClr>
                <a:srgbClr val="FFE5E5"/>
              </a:buClr>
              <a:buSzPts val="1450"/>
            </a:pP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Convierte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DC 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 entrada alto a un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DC 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salida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más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bajo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Por medio de </a:t>
            </a:r>
            <a:r>
              <a:rPr lang="en-US" sz="16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elementos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activos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y </a:t>
            </a:r>
            <a:r>
              <a:rPr lang="en-US" sz="16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pasivos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b="0" i="0" u="none" strike="noStrike" cap="none" err="1"/>
          </a:p>
        </p:txBody>
      </p:sp>
      <p:pic>
        <p:nvPicPr>
          <p:cNvPr id="107" name="Google Shape;107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1890656"/>
            <a:ext cx="6556891" cy="75830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7504748" y="2890272"/>
            <a:ext cx="3325178" cy="311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950"/>
              <a:buFont typeface="Dela Gothic One"/>
              <a:buNone/>
            </a:pPr>
            <a:r>
              <a:rPr lang="en-US" sz="19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Modo Boost (Elevador)</a:t>
            </a:r>
            <a:endParaRPr sz="1950" b="0" i="0" u="none" strike="noStrike" cap="none"/>
          </a:p>
        </p:txBody>
      </p:sp>
      <p:sp>
        <p:nvSpPr>
          <p:cNvPr id="109" name="Google Shape;109;p15"/>
          <p:cNvSpPr/>
          <p:nvPr/>
        </p:nvSpPr>
        <p:spPr>
          <a:xfrm>
            <a:off x="7504748" y="3315682"/>
            <a:ext cx="6155494" cy="145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2068"/>
              </a:lnSpc>
              <a:buClr>
                <a:srgbClr val="FFE5E5"/>
              </a:buClr>
              <a:buSzPts val="1450"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Eleva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DC de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entrada a un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nivel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superior 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16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DC a 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salida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 </a:t>
            </a:r>
            <a:endParaRPr lang="en-US" sz="1600" b="0" i="0" u="none" strike="noStrike" cap="none" err="1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810559" y="5338379"/>
            <a:ext cx="13074594" cy="148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6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450"/>
              <a:buFont typeface="DM Sans"/>
              <a:buNone/>
            </a:pP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n-US" sz="1800" b="1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bidireccionalidad</a:t>
            </a:r>
            <a:r>
              <a:rPr lang="en-US" sz="1800" b="1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logra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mediante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uso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MOSFETs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como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interruptores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controlables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pueden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conducir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ambas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direcciones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permitiendo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convertidor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opere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dinámicamente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según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las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condiciones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la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aplicación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 b="0" i="0" u="none" strike="noStrike" cap="non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44D2901-4731-46BB-2598-A72D58AF1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4703" y="7733001"/>
            <a:ext cx="1948295" cy="494434"/>
          </a:xfrm>
          <a:prstGeom prst="rect">
            <a:avLst/>
          </a:prstGeom>
        </p:spPr>
      </p:pic>
      <p:pic>
        <p:nvPicPr>
          <p:cNvPr id="2" name="Google Shape;107;p15" descr="preencoded.png">
            <a:extLst>
              <a:ext uri="{FF2B5EF4-FFF2-40B4-BE49-F238E27FC236}">
                <a16:creationId xmlns:a16="http://schemas.microsoft.com/office/drawing/2014/main" id="{435C5381-6424-6FCD-7C40-67226DE3C9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613953" y="1890655"/>
            <a:ext cx="6556891" cy="7583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lecha: a la izquierda y derecha 4">
            <a:extLst>
              <a:ext uri="{FF2B5EF4-FFF2-40B4-BE49-F238E27FC236}">
                <a16:creationId xmlns:a16="http://schemas.microsoft.com/office/drawing/2014/main" id="{70564F7A-7ED0-E194-BE0D-9D99C5470F53}"/>
              </a:ext>
            </a:extLst>
          </p:cNvPr>
          <p:cNvSpPr/>
          <p:nvPr/>
        </p:nvSpPr>
        <p:spPr>
          <a:xfrm>
            <a:off x="4955344" y="6946927"/>
            <a:ext cx="3552092" cy="509953"/>
          </a:xfrm>
          <a:prstGeom prst="leftRightArrow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758309" y="726043"/>
            <a:ext cx="10517793" cy="548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3500"/>
              <a:buFont typeface="Dela Gothic One"/>
              <a:buNone/>
            </a:pPr>
            <a:r>
              <a:rPr lang="en-US" sz="35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Obtención de Valores Teóricos</a:t>
            </a:r>
            <a:endParaRPr sz="3500" b="0" i="0" u="none" strike="noStrike" cap="none"/>
          </a:p>
        </p:txBody>
      </p:sp>
      <p:sp>
        <p:nvSpPr>
          <p:cNvPr id="120" name="Google Shape;120;p16"/>
          <p:cNvSpPr/>
          <p:nvPr/>
        </p:nvSpPr>
        <p:spPr>
          <a:xfrm>
            <a:off x="758309" y="1628418"/>
            <a:ext cx="13113782" cy="682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0606"/>
              </a:lnSpc>
              <a:buClr>
                <a:srgbClr val="FFE5E5"/>
              </a:buClr>
              <a:buSzPts val="1650"/>
            </a:pPr>
            <a:r>
              <a:rPr lang="en-US" sz="16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Para </a:t>
            </a:r>
            <a:r>
              <a:rPr lang="en-US" sz="165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165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análisis</a:t>
            </a:r>
            <a:r>
              <a:rPr lang="en-US" sz="16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sz="165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convertidor</a:t>
            </a:r>
            <a:r>
              <a:rPr lang="en-US" sz="165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se </a:t>
            </a:r>
            <a:r>
              <a:rPr lang="en-US" sz="165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consideraron</a:t>
            </a:r>
            <a:r>
              <a:rPr lang="en-US" sz="16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las </a:t>
            </a:r>
            <a:r>
              <a:rPr lang="en-US" sz="16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siguientes</a:t>
            </a:r>
            <a:r>
              <a:rPr lang="en-US" sz="16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suposiciones</a:t>
            </a:r>
            <a:r>
              <a:rPr lang="en-US" sz="16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50" b="0" i="0" u="none" strike="noStrike" cap="none"/>
          </a:p>
        </p:txBody>
      </p:sp>
      <p:sp>
        <p:nvSpPr>
          <p:cNvPr id="121" name="Google Shape;121;p16"/>
          <p:cNvSpPr/>
          <p:nvPr/>
        </p:nvSpPr>
        <p:spPr>
          <a:xfrm>
            <a:off x="758309" y="2502575"/>
            <a:ext cx="4257437" cy="1558052"/>
          </a:xfrm>
          <a:prstGeom prst="roundRect">
            <a:avLst>
              <a:gd name="adj" fmla="val 4599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936546" y="2680811"/>
            <a:ext cx="3305532" cy="2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50"/>
              <a:buFont typeface="Dela Gothic One"/>
              <a:buNone/>
            </a:pPr>
            <a:r>
              <a:rPr lang="en-US" sz="17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Conservación de Energía</a:t>
            </a:r>
            <a:endParaRPr sz="1750" b="0" i="0" u="none" strike="noStrike" cap="none"/>
          </a:p>
        </p:txBody>
      </p:sp>
      <p:sp>
        <p:nvSpPr>
          <p:cNvPr id="123" name="Google Shape;123;p16"/>
          <p:cNvSpPr/>
          <p:nvPr/>
        </p:nvSpPr>
        <p:spPr>
          <a:xfrm>
            <a:off x="936546" y="2974816"/>
            <a:ext cx="3900964" cy="1072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 potencia entregada por la fuente es igual a la potencia consumida por la carga, despreciando las pérdidas en los componentes ideales.</a:t>
            </a:r>
            <a:endParaRPr sz="1300" b="0" i="0" u="none" strike="noStrike" cap="none"/>
          </a:p>
        </p:txBody>
      </p:sp>
      <p:sp>
        <p:nvSpPr>
          <p:cNvPr id="124" name="Google Shape;124;p16"/>
          <p:cNvSpPr/>
          <p:nvPr/>
        </p:nvSpPr>
        <p:spPr>
          <a:xfrm>
            <a:off x="5186363" y="2502575"/>
            <a:ext cx="4257556" cy="1558052"/>
          </a:xfrm>
          <a:prstGeom prst="roundRect">
            <a:avLst>
              <a:gd name="adj" fmla="val 4599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5364599" y="2680811"/>
            <a:ext cx="2819400" cy="280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750"/>
              <a:buFont typeface="Dela Gothic One"/>
              <a:buNone/>
            </a:pPr>
            <a:r>
              <a:rPr lang="en-US" sz="17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Conducción Continua</a:t>
            </a:r>
            <a:endParaRPr sz="1750" b="0" i="0" u="none" strike="noStrike" cap="none"/>
          </a:p>
        </p:txBody>
      </p:sp>
      <p:sp>
        <p:nvSpPr>
          <p:cNvPr id="126" name="Google Shape;126;p16"/>
          <p:cNvSpPr/>
          <p:nvPr/>
        </p:nvSpPr>
        <p:spPr>
          <a:xfrm>
            <a:off x="5364599" y="3063716"/>
            <a:ext cx="3901083" cy="818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 corriente en el inductor siempre será positiva, garantizando operación en modo de conducción continua (CCM).</a:t>
            </a:r>
            <a:endParaRPr sz="1300" b="0" i="0" u="none" strike="noStrike" cap="none"/>
          </a:p>
        </p:txBody>
      </p:sp>
      <p:sp>
        <p:nvSpPr>
          <p:cNvPr id="127" name="Google Shape;127;p16"/>
          <p:cNvSpPr/>
          <p:nvPr/>
        </p:nvSpPr>
        <p:spPr>
          <a:xfrm>
            <a:off x="9614535" y="2502575"/>
            <a:ext cx="4257556" cy="1558052"/>
          </a:xfrm>
          <a:prstGeom prst="roundRect">
            <a:avLst>
              <a:gd name="adj" fmla="val 4599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9792772" y="2680811"/>
            <a:ext cx="3337742" cy="14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714"/>
              </a:lnSpc>
              <a:buClr>
                <a:srgbClr val="FFE5E5"/>
              </a:buClr>
              <a:buSzPts val="1750"/>
            </a:pPr>
            <a:r>
              <a:rPr lang="en-US" sz="1750" err="1">
                <a:solidFill>
                  <a:srgbClr val="FFE5E5"/>
                </a:solidFill>
                <a:latin typeface="Dela Gothic One"/>
                <a:ea typeface="Dela Gothic One"/>
              </a:rPr>
              <a:t>Periodo</a:t>
            </a:r>
            <a:r>
              <a:rPr lang="en-US" sz="1750">
                <a:solidFill>
                  <a:srgbClr val="FFE5E5"/>
                </a:solidFill>
                <a:latin typeface="Dela Gothic One"/>
                <a:ea typeface="Dela Gothic One"/>
              </a:rPr>
              <a:t> de </a:t>
            </a:r>
            <a:r>
              <a:rPr lang="en-US" sz="1750" err="1">
                <a:solidFill>
                  <a:srgbClr val="FFE5E5"/>
                </a:solidFill>
                <a:latin typeface="Dela Gothic One"/>
                <a:ea typeface="Dela Gothic One"/>
              </a:rPr>
              <a:t>Conmutación</a:t>
            </a:r>
            <a:endParaRPr lang="en-US" sz="1750" b="0" i="0" u="none" strike="noStrike" cap="none" err="1">
              <a:solidFill>
                <a:srgbClr val="FFE5E5"/>
              </a:solidFill>
              <a:latin typeface="Dela Gothic One"/>
              <a:ea typeface="Dela Gothic One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9792772" y="2987516"/>
            <a:ext cx="3875683" cy="1047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Cada interruptor se cierra durante un tiempo DT y permanece abierto durante (1-D)T, donde D es el ciclo de trabajo.</a:t>
            </a:r>
            <a:endParaRPr sz="1300" b="0" i="0" u="none" strike="noStrike" cap="none"/>
          </a:p>
        </p:txBody>
      </p:sp>
      <p:sp>
        <p:nvSpPr>
          <p:cNvPr id="130" name="Google Shape;130;p16"/>
          <p:cNvSpPr/>
          <p:nvPr/>
        </p:nvSpPr>
        <p:spPr>
          <a:xfrm>
            <a:off x="758309" y="4316492"/>
            <a:ext cx="5963603" cy="336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100"/>
              <a:buFont typeface="Dela Gothic One"/>
              <a:buNone/>
            </a:pPr>
            <a:r>
              <a:rPr lang="en-US" sz="21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Análisis de la Corriente en el Inductor</a:t>
            </a:r>
            <a:endParaRPr sz="2100" b="0" i="0" u="none" strike="noStrike" cap="none"/>
          </a:p>
        </p:txBody>
      </p:sp>
      <p:sp>
        <p:nvSpPr>
          <p:cNvPr id="131" name="Google Shape;131;p16"/>
          <p:cNvSpPr/>
          <p:nvPr/>
        </p:nvSpPr>
        <p:spPr>
          <a:xfrm>
            <a:off x="758309" y="4909066"/>
            <a:ext cx="13113782" cy="545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M Sans"/>
              <a:buNone/>
            </a:pPr>
            <a:r>
              <a:rPr lang="en-US" sz="13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comportamiento de la corriente en el inductor es fundamental para comprender el funcionamiento del convertidor. La siguiente imagen muestra la forma de onda característica:</a:t>
            </a:r>
            <a:endParaRPr sz="1300" b="0" i="0" u="none" strike="noStrike" cap="none"/>
          </a:p>
        </p:txBody>
      </p:sp>
      <p:pic>
        <p:nvPicPr>
          <p:cNvPr id="132" name="Google Shape;132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17889" y="5833286"/>
            <a:ext cx="4094798" cy="13919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/>
        </p:nvSpPr>
        <p:spPr>
          <a:xfrm>
            <a:off x="758309" y="7230666"/>
            <a:ext cx="13113782" cy="272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None/>
            </a:pPr>
            <a:endParaRPr sz="1300" b="0" i="0" u="none" strike="noStrike" cap="non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9AC4119-3571-AFD4-0013-046AF0FA6C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4703" y="7733001"/>
            <a:ext cx="1948295" cy="4944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640556" y="440412"/>
            <a:ext cx="3703796" cy="34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25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150"/>
              <a:buFont typeface="Dela Gothic One"/>
              <a:buNone/>
            </a:pPr>
            <a:r>
              <a:rPr lang="en-US" sz="21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Análisis del Modo Buck</a:t>
            </a:r>
            <a:endParaRPr sz="2150" b="0" i="0" u="none" strike="noStrike" cap="none"/>
          </a:p>
        </p:txBody>
      </p:sp>
      <p:pic>
        <p:nvPicPr>
          <p:cNvPr id="140" name="Google Shape;140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66856" y="609957"/>
            <a:ext cx="3861832" cy="164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/>
          <p:nvPr/>
        </p:nvSpPr>
        <p:spPr>
          <a:xfrm>
            <a:off x="640556" y="1038820"/>
            <a:ext cx="4891087" cy="14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análisis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se divide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dos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estados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conmutación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determinan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comportamiento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circuito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s-ES" sz="800" b="0" i="0" u="none" strike="noStrike" cap="none"/>
          </a:p>
        </p:txBody>
      </p:sp>
      <p:sp>
        <p:nvSpPr>
          <p:cNvPr id="143" name="Google Shape;143;p17"/>
          <p:cNvSpPr/>
          <p:nvPr/>
        </p:nvSpPr>
        <p:spPr>
          <a:xfrm>
            <a:off x="640556" y="2436257"/>
            <a:ext cx="6622613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678656" y="2455267"/>
            <a:ext cx="6589316" cy="116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ela Gothic One"/>
              <a:buNone/>
            </a:pPr>
            <a:r>
              <a:rPr lang="en-US" sz="18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Estado 1: MOSFET High ON, MOSFET Low OFF</a:t>
            </a:r>
            <a:endParaRPr lang="es-ES" sz="1800" b="0" i="0" u="none" strike="noStrike" cap="none"/>
          </a:p>
        </p:txBody>
      </p:sp>
      <p:sp>
        <p:nvSpPr>
          <p:cNvPr id="145" name="Google Shape;145;p17"/>
          <p:cNvSpPr/>
          <p:nvPr/>
        </p:nvSpPr>
        <p:spPr>
          <a:xfrm>
            <a:off x="639401" y="2846922"/>
            <a:ext cx="6609913" cy="109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intervalo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(0 ≤ t ≤ DT),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MOSFET superior conduce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conectando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entrada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directamente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al inductor.</a:t>
            </a:r>
            <a:endParaRPr b="0" i="0" u="none" strike="noStrike" cap="none"/>
          </a:p>
        </p:txBody>
      </p:sp>
      <p:sp>
        <p:nvSpPr>
          <p:cNvPr id="147" name="Google Shape;147;p17"/>
          <p:cNvSpPr/>
          <p:nvPr/>
        </p:nvSpPr>
        <p:spPr>
          <a:xfrm>
            <a:off x="7367230" y="2436257"/>
            <a:ext cx="6622613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379930" y="2455267"/>
            <a:ext cx="6610429" cy="1161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809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ela Gothic One"/>
              <a:buNone/>
            </a:pPr>
            <a:r>
              <a:rPr lang="en-US" sz="18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Estado 2: MOSFET High OFF, MOSFET Low ON</a:t>
            </a:r>
            <a:endParaRPr sz="1800" b="0" i="0" u="none" strike="noStrike" cap="none"/>
          </a:p>
        </p:txBody>
      </p:sp>
      <p:sp>
        <p:nvSpPr>
          <p:cNvPr id="149" name="Google Shape;149;p17"/>
          <p:cNvSpPr/>
          <p:nvPr/>
        </p:nvSpPr>
        <p:spPr>
          <a:xfrm>
            <a:off x="7367230" y="2961222"/>
            <a:ext cx="6940113" cy="123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período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(DT ≤ t ≤ T),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MOSFET inferior conduce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proporcionando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camino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circulación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para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inductor.</a:t>
            </a:r>
            <a:endParaRPr lang="es-ES" b="0" i="0" u="none" strike="noStrike" cap="none"/>
          </a:p>
        </p:txBody>
      </p:sp>
      <p:sp>
        <p:nvSpPr>
          <p:cNvPr id="150" name="Google Shape;150;p17"/>
          <p:cNvSpPr/>
          <p:nvPr/>
        </p:nvSpPr>
        <p:spPr>
          <a:xfrm>
            <a:off x="640556" y="3152775"/>
            <a:ext cx="3198614" cy="20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250"/>
              <a:buFont typeface="Dela Gothic One"/>
              <a:buNone/>
            </a:pPr>
            <a:endParaRPr lang="en-US" sz="1250" b="0" i="0" u="none" strike="noStrike" cap="none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151" name="Google Shape;151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1356" y="3936206"/>
            <a:ext cx="2457887" cy="525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4856" y="4819888"/>
            <a:ext cx="1925598" cy="5403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73141" y="3758406"/>
            <a:ext cx="2733993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48456" y="5735558"/>
            <a:ext cx="3512503" cy="88542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/>
          <p:nvPr/>
        </p:nvSpPr>
        <p:spPr>
          <a:xfrm>
            <a:off x="640556" y="5608677"/>
            <a:ext cx="3239214" cy="205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250"/>
              <a:buFont typeface="Dela Gothic One"/>
              <a:buNone/>
            </a:pPr>
            <a:endParaRPr lang="en-US" sz="1250" b="0" i="0" u="none" strike="noStrike" cap="none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156" name="Google Shape;156;p1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73156" y="4118808"/>
            <a:ext cx="1669137" cy="566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73156" y="5030510"/>
            <a:ext cx="2046843" cy="585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323241" y="3801308"/>
            <a:ext cx="2978706" cy="1840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473156" y="6167715"/>
            <a:ext cx="3508970" cy="874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026EA8B-B3E6-B1C1-39A9-A27D3FE17F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84703" y="7733001"/>
            <a:ext cx="1948295" cy="49443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/>
          <p:nvPr/>
        </p:nvSpPr>
        <p:spPr>
          <a:xfrm>
            <a:off x="746522" y="610195"/>
            <a:ext cx="8208288" cy="39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500"/>
              <a:buFont typeface="Dela Gothic One"/>
              <a:buNone/>
            </a:pPr>
            <a:r>
              <a:rPr lang="en-US" sz="25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Derivación del Ciclo de Trabajo - Modo Buck</a:t>
            </a:r>
            <a:endParaRPr sz="2500" b="0" i="0" u="none" strike="noStrike" cap="none"/>
          </a:p>
        </p:txBody>
      </p:sp>
      <p:sp>
        <p:nvSpPr>
          <p:cNvPr id="166" name="Google Shape;166;p18"/>
          <p:cNvSpPr/>
          <p:nvPr/>
        </p:nvSpPr>
        <p:spPr>
          <a:xfrm>
            <a:off x="746522" y="1251704"/>
            <a:ext cx="10914856" cy="76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estado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estacionario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la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condición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fundamental es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promedio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inductor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debe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mantenerse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constante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Esto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significa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cambio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neto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período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completo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conmutación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debe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ser cero:</a:t>
            </a:r>
            <a:endParaRPr sz="1600" b="0" i="0" u="none" strike="noStrike" cap="none"/>
          </a:p>
        </p:txBody>
      </p:sp>
      <p:pic>
        <p:nvPicPr>
          <p:cNvPr id="167" name="Google Shape;167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08622" y="2445822"/>
            <a:ext cx="1925836" cy="43160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/>
          <p:nvPr/>
        </p:nvSpPr>
        <p:spPr>
          <a:xfrm>
            <a:off x="4569222" y="3636169"/>
            <a:ext cx="13137356" cy="194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endParaRPr lang="en-US" sz="95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pic>
        <p:nvPicPr>
          <p:cNvPr id="169" name="Google Shape;169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64822" y="2353786"/>
            <a:ext cx="3427095" cy="616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/>
          <p:nvPr/>
        </p:nvSpPr>
        <p:spPr>
          <a:xfrm>
            <a:off x="746522" y="3233261"/>
            <a:ext cx="13137356" cy="194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donde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obtiene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relación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fundamental del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convertidor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Buck:</a:t>
            </a:r>
            <a:endParaRPr sz="1600" b="0" i="0" u="none" strike="noStrike" cap="none"/>
          </a:p>
        </p:txBody>
      </p:sp>
      <p:pic>
        <p:nvPicPr>
          <p:cNvPr id="171" name="Google Shape;171;p1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15422" y="3678079"/>
            <a:ext cx="2499638" cy="71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/>
          <p:nvPr/>
        </p:nvSpPr>
        <p:spPr>
          <a:xfrm>
            <a:off x="875348" y="4393406"/>
            <a:ext cx="7517805" cy="224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endParaRPr lang="en-US" sz="1250" b="0" i="0" u="none" strike="noStrike" cap="none">
              <a:solidFill>
                <a:srgbClr val="FFE5E5"/>
              </a:solidFill>
              <a:latin typeface="Dela Gothic One"/>
              <a:ea typeface="Dela Gothic One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875348" y="4665702"/>
            <a:ext cx="12879705" cy="194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endParaRPr lang="en-US" sz="95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46522" y="4395827"/>
            <a:ext cx="5612209" cy="239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500"/>
              <a:buFont typeface="Dela Gothic One"/>
              <a:buNone/>
            </a:pPr>
            <a:r>
              <a:rPr lang="en-US" sz="18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Cálculo</a:t>
            </a:r>
            <a:r>
              <a:rPr lang="en-US" sz="18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</a:t>
            </a:r>
            <a:r>
              <a:rPr lang="en-US" sz="18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Parámetros</a:t>
            </a:r>
            <a:r>
              <a:rPr lang="en-US" sz="18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Corriente</a:t>
            </a:r>
            <a:endParaRPr lang="es-ES" sz="1800" b="0" i="0" u="none" strike="noStrike" cap="none"/>
          </a:p>
        </p:txBody>
      </p:sp>
      <p:sp>
        <p:nvSpPr>
          <p:cNvPr id="176" name="Google Shape;176;p18"/>
          <p:cNvSpPr/>
          <p:nvPr/>
        </p:nvSpPr>
        <p:spPr>
          <a:xfrm>
            <a:off x="746522" y="5014595"/>
            <a:ext cx="3609142" cy="44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250"/>
              <a:buFont typeface="Dela Gothic One"/>
              <a:buNone/>
            </a:pPr>
            <a:r>
              <a:rPr lang="en-US" sz="1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Resistencia de Carga:</a:t>
            </a:r>
            <a:endParaRPr lang="es-ES" sz="1600" b="0" i="0" u="none" strike="noStrike" cap="none"/>
          </a:p>
        </p:txBody>
      </p:sp>
      <p:pic>
        <p:nvPicPr>
          <p:cNvPr id="177" name="Google Shape;177;p18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4622" y="5617289"/>
            <a:ext cx="1771690" cy="90047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6799064" y="5014595"/>
            <a:ext cx="4575651" cy="174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250"/>
              <a:buFont typeface="Dela Gothic One"/>
              <a:buNone/>
            </a:pPr>
            <a:r>
              <a:rPr lang="en-US" sz="1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Corrientes Máxima y </a:t>
            </a:r>
            <a:r>
              <a:rPr lang="en-US" sz="16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Mínima</a:t>
            </a:r>
            <a:r>
              <a:rPr lang="en-US" sz="1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:</a:t>
            </a:r>
            <a:endParaRPr lang="es-ES" sz="1600" b="0" i="0" u="none" strike="noStrike" cap="none"/>
          </a:p>
        </p:txBody>
      </p:sp>
      <p:pic>
        <p:nvPicPr>
          <p:cNvPr id="179" name="Google Shape;179;p18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99064" y="5617289"/>
            <a:ext cx="3596719" cy="74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99063" y="6349280"/>
            <a:ext cx="3603976" cy="77945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/>
          <p:nvPr/>
        </p:nvSpPr>
        <p:spPr>
          <a:xfrm>
            <a:off x="746522" y="7216571"/>
            <a:ext cx="9505156" cy="765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expresiones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permiten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determinar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variación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inductor,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parámetro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crítico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diseño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componentes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pasivos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y la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evaluación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rizado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600" b="0" i="0" u="none" strike="noStrike" cap="none"/>
          </a:p>
        </p:txBody>
      </p:sp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18050B31-3F54-A9D9-3603-71AAE5817A48}"/>
              </a:ext>
            </a:extLst>
          </p:cNvPr>
          <p:cNvSpPr/>
          <p:nvPr/>
        </p:nvSpPr>
        <p:spPr>
          <a:xfrm>
            <a:off x="4564438" y="2452202"/>
            <a:ext cx="2604629" cy="4287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A8CB95-CF69-A5B4-E0E8-EF1ACDDF1D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84703" y="7733001"/>
            <a:ext cx="1948295" cy="4944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/>
          <p:nvPr/>
        </p:nvSpPr>
        <p:spPr>
          <a:xfrm>
            <a:off x="758309" y="582097"/>
            <a:ext cx="7579638" cy="43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700"/>
              <a:buFont typeface="Dela Gothic One"/>
              <a:buNone/>
            </a:pPr>
            <a:r>
              <a:rPr lang="en-US" sz="27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Diseño de Componentes - Modo Buck</a:t>
            </a:r>
            <a:endParaRPr sz="2700" b="0" i="0" u="none" strike="noStrike" cap="none"/>
          </a:p>
        </p:txBody>
      </p:sp>
      <p:sp>
        <p:nvSpPr>
          <p:cNvPr id="189" name="Google Shape;189;p19"/>
          <p:cNvSpPr/>
          <p:nvPr/>
        </p:nvSpPr>
        <p:spPr>
          <a:xfrm>
            <a:off x="757154" y="1269304"/>
            <a:ext cx="3987794" cy="53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lang="en-US" sz="1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Cálculo de la Inductancia</a:t>
            </a:r>
            <a:endParaRPr sz="1600" b="0" i="0" u="none" strike="noStrike" cap="none"/>
          </a:p>
        </p:txBody>
      </p:sp>
      <p:sp>
        <p:nvSpPr>
          <p:cNvPr id="191" name="Google Shape;191;p19"/>
          <p:cNvSpPr/>
          <p:nvPr/>
        </p:nvSpPr>
        <p:spPr>
          <a:xfrm>
            <a:off x="758309" y="2044249"/>
            <a:ext cx="6490573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47919" y="2068310"/>
            <a:ext cx="6509027" cy="322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ela Gothic One"/>
              <a:buNone/>
            </a:pPr>
            <a:r>
              <a:rPr lang="en-US" sz="18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Inductancia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Mínima</a:t>
            </a:r>
            <a:endParaRPr sz="1800" b="0" i="0" u="none" strike="noStrike" cap="none" err="1"/>
          </a:p>
        </p:txBody>
      </p:sp>
      <p:sp>
        <p:nvSpPr>
          <p:cNvPr id="193" name="Google Shape;193;p19"/>
          <p:cNvSpPr/>
          <p:nvPr/>
        </p:nvSpPr>
        <p:spPr>
          <a:xfrm>
            <a:off x="747917" y="2345303"/>
            <a:ext cx="5742429" cy="835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Determina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valor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mínimo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necesario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mantener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operación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modo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conducción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continua:</a:t>
            </a:r>
            <a:endParaRPr sz="1600" b="0" i="0" u="none" strike="noStrike" cap="none"/>
          </a:p>
        </p:txBody>
      </p:sp>
      <p:pic>
        <p:nvPicPr>
          <p:cNvPr id="194" name="Google Shape;194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827" y="3330351"/>
            <a:ext cx="1559243" cy="64543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/>
          <p:nvPr/>
        </p:nvSpPr>
        <p:spPr>
          <a:xfrm>
            <a:off x="7381518" y="2054640"/>
            <a:ext cx="6490573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7316204" y="2055248"/>
            <a:ext cx="4041814" cy="322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ela Gothic One"/>
              <a:buNone/>
            </a:pPr>
            <a:r>
              <a:rPr lang="en-US" sz="18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Inductancia</a:t>
            </a:r>
            <a:r>
              <a:rPr lang="en-US" sz="18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</a:t>
            </a:r>
            <a:r>
              <a:rPr lang="en-US" sz="18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Diseño</a:t>
            </a:r>
            <a:endParaRPr lang="es-ES" sz="1800" b="0" i="0" u="none" strike="noStrike" cap="none" err="1"/>
          </a:p>
        </p:txBody>
      </p:sp>
      <p:sp>
        <p:nvSpPr>
          <p:cNvPr id="198" name="Google Shape;198;p19"/>
          <p:cNvSpPr/>
          <p:nvPr/>
        </p:nvSpPr>
        <p:spPr>
          <a:xfrm>
            <a:off x="7381519" y="2386867"/>
            <a:ext cx="5077409" cy="659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5000"/>
              </a:lnSpc>
              <a:buClr>
                <a:srgbClr val="FFE5E5"/>
              </a:buClr>
              <a:buSzPts val="1000"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selecciona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un valor superior</a:t>
            </a:r>
            <a:r>
              <a:rPr lang="en-US" sz="16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para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proporcionar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margen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seguridad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00" b="0" i="0" u="none" strike="noStrike" cap="none"/>
          </a:p>
        </p:txBody>
      </p:sp>
      <p:pic>
        <p:nvPicPr>
          <p:cNvPr id="199" name="Google Shape;199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9895" y="3331539"/>
            <a:ext cx="3889891" cy="70389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747919" y="4114411"/>
            <a:ext cx="5751334" cy="386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lang="en-US" sz="1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Cálculo del Capacitor de Salida</a:t>
            </a:r>
            <a:endParaRPr sz="1600" b="0" i="0" u="none" strike="noStrike" cap="none"/>
          </a:p>
        </p:txBody>
      </p:sp>
      <p:sp>
        <p:nvSpPr>
          <p:cNvPr id="201" name="Google Shape;201;p19"/>
          <p:cNvSpPr/>
          <p:nvPr/>
        </p:nvSpPr>
        <p:spPr>
          <a:xfrm>
            <a:off x="758309" y="4585692"/>
            <a:ext cx="13113782" cy="212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capacitor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salida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dimensiona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considerando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rizado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</a:t>
            </a:r>
            <a:r>
              <a:rPr lang="en-US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pic>
        <p:nvPicPr>
          <p:cNvPr id="202" name="Google Shape;202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64991" y="4992561"/>
            <a:ext cx="1733431" cy="572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06554" y="5818584"/>
            <a:ext cx="1559243" cy="754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1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44797" y="5283506"/>
            <a:ext cx="3325892" cy="1052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5854758-06D0-50A3-8557-283BCFE49C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4703" y="7733001"/>
            <a:ext cx="1948295" cy="4944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"/>
          <p:cNvSpPr/>
          <p:nvPr/>
        </p:nvSpPr>
        <p:spPr>
          <a:xfrm>
            <a:off x="579358" y="398264"/>
            <a:ext cx="5703494" cy="351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950"/>
              <a:buFont typeface="Dela Gothic One"/>
              <a:buNone/>
            </a:pPr>
            <a:r>
              <a:rPr lang="en-US" sz="19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Análisis del Modo Boost</a:t>
            </a:r>
            <a:endParaRPr sz="1950" b="0" i="0" u="none" strike="noStrike" cap="none"/>
          </a:p>
        </p:txBody>
      </p:sp>
      <p:pic>
        <p:nvPicPr>
          <p:cNvPr id="214" name="Google Shape;214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98468" y="480547"/>
            <a:ext cx="2961625" cy="15744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/>
          <p:nvPr/>
        </p:nvSpPr>
        <p:spPr>
          <a:xfrm>
            <a:off x="579357" y="1028245"/>
            <a:ext cx="3641886" cy="1127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análisis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realiza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mediante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estudio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dos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estados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conmutación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complementarios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sz="1600" b="0" i="0" u="none" strike="noStrike" cap="none"/>
          </a:p>
        </p:txBody>
      </p:sp>
      <p:sp>
        <p:nvSpPr>
          <p:cNvPr id="220" name="Google Shape;220;p20"/>
          <p:cNvSpPr/>
          <p:nvPr/>
        </p:nvSpPr>
        <p:spPr>
          <a:xfrm>
            <a:off x="206617" y="2417315"/>
            <a:ext cx="5271177" cy="18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lang="en-US" sz="16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Estado 1: MOSFET High OFF, Low ON</a:t>
            </a:r>
            <a:endParaRPr sz="1600" b="0" i="0" u="none" strike="noStrike" cap="none"/>
          </a:p>
        </p:txBody>
      </p:sp>
      <p:sp>
        <p:nvSpPr>
          <p:cNvPr id="221" name="Google Shape;221;p20"/>
          <p:cNvSpPr/>
          <p:nvPr/>
        </p:nvSpPr>
        <p:spPr>
          <a:xfrm>
            <a:off x="569507" y="2763612"/>
            <a:ext cx="6467714" cy="836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4285"/>
              </a:lnSpc>
              <a:buClr>
                <a:srgbClr val="FFE5E5"/>
              </a:buClr>
              <a:buSzPts val="700"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inductor se carga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desde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fuente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entrada,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almacenando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magnética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n-US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 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este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intervalo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 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MOSFET inferior 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está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conduciendo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n-US" sz="1200">
              <a:latin typeface="DM Sans"/>
              <a:ea typeface="DM Sans"/>
              <a:cs typeface="DM Sans"/>
              <a:sym typeface="DM Sans"/>
            </a:endParaRPr>
          </a:p>
          <a:p>
            <a:pPr>
              <a:lnSpc>
                <a:spcPct val="164285"/>
              </a:lnSpc>
              <a:buSzPts val="700"/>
            </a:pPr>
            <a:endParaRPr lang="en-US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6934254" y="2420271"/>
            <a:ext cx="5488813" cy="206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ela Gothic One"/>
              <a:buNone/>
            </a:pPr>
            <a:r>
              <a:rPr lang="en-US" sz="16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Estado 2: MOSFET High ON, Low OFF</a:t>
            </a:r>
            <a:endParaRPr lang="es-ES" sz="1600" b="0" i="0" u="none" strike="noStrike" cap="none"/>
          </a:p>
        </p:txBody>
      </p:sp>
      <p:sp>
        <p:nvSpPr>
          <p:cNvPr id="226" name="Google Shape;226;p20"/>
          <p:cNvSpPr/>
          <p:nvPr/>
        </p:nvSpPr>
        <p:spPr>
          <a:xfrm>
            <a:off x="7437194" y="2766569"/>
            <a:ext cx="6176769" cy="67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4285"/>
              </a:lnSpc>
              <a:buClr>
                <a:srgbClr val="FFE5E5"/>
              </a:buClr>
              <a:buSzPts val="700"/>
              <a:buFont typeface="DM Sans"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almacenada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se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transfiere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 la carga junto con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entrada.</a:t>
            </a:r>
            <a:r>
              <a:rPr lang="en-US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En </a:t>
            </a:r>
            <a:r>
              <a:rPr lang="en-US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este</a:t>
            </a:r>
            <a:r>
              <a:rPr lang="en-US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</a:t>
            </a:r>
            <a:r>
              <a:rPr lang="en-US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intervalo</a:t>
            </a:r>
            <a:r>
              <a:rPr lang="en-US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 </a:t>
            </a:r>
            <a:r>
              <a:rPr lang="en-US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MOSFET superior conduce y se produce la </a:t>
            </a:r>
            <a:r>
              <a:rPr lang="en-US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transferencia</a:t>
            </a:r>
            <a:r>
              <a:rPr lang="en-US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 de </a:t>
            </a:r>
            <a:r>
              <a:rPr lang="en-US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s-ES" b="0" i="0" u="none" strike="noStrike" cap="none"/>
          </a:p>
        </p:txBody>
      </p:sp>
      <p:pic>
        <p:nvPicPr>
          <p:cNvPr id="229" name="Google Shape;229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359" y="3882846"/>
            <a:ext cx="2069208" cy="838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8968" y="5014143"/>
            <a:ext cx="2075453" cy="845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83905" y="4038709"/>
            <a:ext cx="2498050" cy="1681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14005" y="4059392"/>
            <a:ext cx="2504738" cy="692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14003" y="5314604"/>
            <a:ext cx="2511407" cy="817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510832" y="3945092"/>
            <a:ext cx="2664304" cy="188848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0"/>
          <p:cNvSpPr/>
          <p:nvPr/>
        </p:nvSpPr>
        <p:spPr>
          <a:xfrm>
            <a:off x="568967" y="6562314"/>
            <a:ext cx="8234666" cy="102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4285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00"/>
              <a:buFont typeface="DM Sans"/>
              <a:buNone/>
            </a:pP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principio fundamental del modo Boost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radica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almacenamiento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temporal de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campo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magnético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inductor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primer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para luego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liberarla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sumándose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 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entrada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segundo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resultando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salida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elevado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200" b="0" i="0" u="none" strike="noStrike" cap="none"/>
          </a:p>
        </p:txBody>
      </p:sp>
      <p:sp>
        <p:nvSpPr>
          <p:cNvPr id="3" name="Google Shape;143;p17">
            <a:extLst>
              <a:ext uri="{FF2B5EF4-FFF2-40B4-BE49-F238E27FC236}">
                <a16:creationId xmlns:a16="http://schemas.microsoft.com/office/drawing/2014/main" id="{BF133E4C-BB7F-F7E5-0756-EA1CCAE55D55}"/>
              </a:ext>
            </a:extLst>
          </p:cNvPr>
          <p:cNvSpPr/>
          <p:nvPr/>
        </p:nvSpPr>
        <p:spPr>
          <a:xfrm>
            <a:off x="578211" y="2363521"/>
            <a:ext cx="6622613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43;p17">
            <a:extLst>
              <a:ext uri="{FF2B5EF4-FFF2-40B4-BE49-F238E27FC236}">
                <a16:creationId xmlns:a16="http://schemas.microsoft.com/office/drawing/2014/main" id="{309F50C2-DC51-5F31-BCCC-AC96D1C813EA}"/>
              </a:ext>
            </a:extLst>
          </p:cNvPr>
          <p:cNvSpPr/>
          <p:nvPr/>
        </p:nvSpPr>
        <p:spPr>
          <a:xfrm>
            <a:off x="7425820" y="2373912"/>
            <a:ext cx="6622613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6158F2C-33B2-9BC6-9E46-2477994B5D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84703" y="7733001"/>
            <a:ext cx="1948295" cy="49443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1"/>
          <p:cNvSpPr/>
          <p:nvPr/>
        </p:nvSpPr>
        <p:spPr>
          <a:xfrm>
            <a:off x="758309" y="541258"/>
            <a:ext cx="9166860" cy="43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700"/>
              <a:buFont typeface="Dela Gothic One"/>
              <a:buNone/>
            </a:pPr>
            <a:r>
              <a:rPr lang="en-US" sz="27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Derivación del Ciclo de Trabajo - Modo Boost</a:t>
            </a:r>
            <a:endParaRPr sz="2700" b="0" i="0" u="none" strike="noStrike" cap="none"/>
          </a:p>
        </p:txBody>
      </p:sp>
      <p:sp>
        <p:nvSpPr>
          <p:cNvPr id="244" name="Google Shape;244;p21"/>
          <p:cNvSpPr/>
          <p:nvPr/>
        </p:nvSpPr>
        <p:spPr>
          <a:xfrm>
            <a:off x="758309" y="1243132"/>
            <a:ext cx="13113782" cy="212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Similar al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análisis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modo Buck,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estacionario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promedio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inductor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debe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permanecer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constante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lang="en-US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pic>
        <p:nvPicPr>
          <p:cNvPr id="245" name="Google Shape;245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32882" y="1646288"/>
            <a:ext cx="3898225" cy="59686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758309" y="2350770"/>
            <a:ext cx="13113782" cy="1654254"/>
          </a:xfrm>
          <a:prstGeom prst="roundRect">
            <a:avLst>
              <a:gd name="adj" fmla="val 3369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765929" y="2358390"/>
            <a:ext cx="6549271" cy="1639014"/>
          </a:xfrm>
          <a:prstGeom prst="roundRect">
            <a:avLst>
              <a:gd name="adj" fmla="val 3401"/>
            </a:avLst>
          </a:prstGeom>
          <a:solidFill>
            <a:srgbClr val="740B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1"/>
          <p:cNvSpPr/>
          <p:nvPr/>
        </p:nvSpPr>
        <p:spPr>
          <a:xfrm>
            <a:off x="898565" y="2491026"/>
            <a:ext cx="2906078" cy="21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ela Gothic One"/>
              <a:buNone/>
            </a:pPr>
            <a:r>
              <a:rPr lang="en-US" sz="13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Relación de Transformación</a:t>
            </a:r>
            <a:endParaRPr sz="1350" b="0" i="0" u="none" strike="noStrike" cap="none"/>
          </a:p>
        </p:txBody>
      </p:sp>
      <p:sp>
        <p:nvSpPr>
          <p:cNvPr id="249" name="Google Shape;249;p21"/>
          <p:cNvSpPr/>
          <p:nvPr/>
        </p:nvSpPr>
        <p:spPr>
          <a:xfrm>
            <a:off x="898565" y="2788801"/>
            <a:ext cx="6284000" cy="212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modo Boost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presenta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una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relación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inversa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ciclo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trabajo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y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ganancia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b="0" i="0" u="none" strike="noStrike" cap="none"/>
          </a:p>
        </p:txBody>
      </p:sp>
      <p:pic>
        <p:nvPicPr>
          <p:cNvPr id="250" name="Google Shape;250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48247" y="3181567"/>
            <a:ext cx="1667113" cy="714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/>
          <p:nvPr/>
        </p:nvSpPr>
        <p:spPr>
          <a:xfrm>
            <a:off x="7315200" y="2358390"/>
            <a:ext cx="6549271" cy="1639014"/>
          </a:xfrm>
          <a:prstGeom prst="rect">
            <a:avLst/>
          </a:prstGeom>
          <a:solidFill>
            <a:srgbClr val="740B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1"/>
          <p:cNvSpPr/>
          <p:nvPr/>
        </p:nvSpPr>
        <p:spPr>
          <a:xfrm>
            <a:off x="7315200" y="2358390"/>
            <a:ext cx="15240" cy="1639014"/>
          </a:xfrm>
          <a:prstGeom prst="roundRect">
            <a:avLst>
              <a:gd name="adj" fmla="val 365724"/>
            </a:avLst>
          </a:prstGeom>
          <a:solidFill>
            <a:srgbClr val="8D24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7447836" y="2491026"/>
            <a:ext cx="1746052" cy="21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50"/>
              <a:buFont typeface="Dela Gothic One"/>
              <a:buNone/>
            </a:pPr>
            <a:r>
              <a:rPr lang="en-US" sz="13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Ciclo de Trabajo</a:t>
            </a:r>
            <a:endParaRPr sz="1350" b="0" i="0" u="none" strike="noStrike" cap="none"/>
          </a:p>
        </p:txBody>
      </p:sp>
      <p:sp>
        <p:nvSpPr>
          <p:cNvPr id="254" name="Google Shape;254;p21"/>
          <p:cNvSpPr/>
          <p:nvPr/>
        </p:nvSpPr>
        <p:spPr>
          <a:xfrm>
            <a:off x="7447836" y="2788801"/>
            <a:ext cx="6284000" cy="212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Despejando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 se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obtiene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expresión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ciclo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trabajo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función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voltajes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b="0" i="0" u="none" strike="noStrike" cap="none"/>
          </a:p>
        </p:txBody>
      </p:sp>
      <p:sp>
        <p:nvSpPr>
          <p:cNvPr id="256" name="Google Shape;256;p21"/>
          <p:cNvSpPr/>
          <p:nvPr/>
        </p:nvSpPr>
        <p:spPr>
          <a:xfrm>
            <a:off x="758309" y="4203978"/>
            <a:ext cx="4997291" cy="261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12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600"/>
              <a:buFont typeface="Dela Gothic One"/>
              <a:buNone/>
            </a:pPr>
            <a:r>
              <a:rPr lang="en-US" sz="1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Parámetros de Corriente en Modo Boost</a:t>
            </a:r>
            <a:endParaRPr sz="1600" b="0" i="0" u="none" strike="noStrike" cap="none"/>
          </a:p>
        </p:txBody>
      </p:sp>
      <p:sp>
        <p:nvSpPr>
          <p:cNvPr id="257" name="Google Shape;257;p21"/>
          <p:cNvSpPr/>
          <p:nvPr/>
        </p:nvSpPr>
        <p:spPr>
          <a:xfrm>
            <a:off x="768699" y="4550569"/>
            <a:ext cx="11233029" cy="39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00"/>
              <a:buFont typeface="DM Sans"/>
              <a:buNone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resistencia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carga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mantiene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misma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expresión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que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modo Buck,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pero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las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corrientes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máximas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mínimas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tienen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características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diferentes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debido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topología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s-ES" b="0" i="0" u="none" strike="noStrike" cap="none"/>
          </a:p>
        </p:txBody>
      </p:sp>
      <p:sp>
        <p:nvSpPr>
          <p:cNvPr id="258" name="Google Shape;258;p21"/>
          <p:cNvSpPr/>
          <p:nvPr/>
        </p:nvSpPr>
        <p:spPr>
          <a:xfrm>
            <a:off x="758309" y="5304570"/>
            <a:ext cx="2239447" cy="21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350"/>
              <a:buFont typeface="Dela Gothic One"/>
              <a:buNone/>
            </a:pPr>
            <a:r>
              <a:rPr lang="en-US" sz="13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Resistencia de Carga:</a:t>
            </a:r>
            <a:endParaRPr sz="1350" b="0" i="0" u="none" strike="noStrike" cap="none"/>
          </a:p>
        </p:txBody>
      </p:sp>
      <p:pic>
        <p:nvPicPr>
          <p:cNvPr id="259" name="Google Shape;259;p2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5509" y="5900597"/>
            <a:ext cx="1318736" cy="710089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/>
          <p:nvPr/>
        </p:nvSpPr>
        <p:spPr>
          <a:xfrm>
            <a:off x="8077135" y="5304570"/>
            <a:ext cx="2252186" cy="218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350"/>
              <a:buFont typeface="Dela Gothic One"/>
              <a:buNone/>
            </a:pPr>
            <a:r>
              <a:rPr lang="en-US" sz="13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Corrientes Extremas:</a:t>
            </a:r>
            <a:endParaRPr sz="1350" b="0" i="0" u="none" strike="noStrike" cap="none"/>
          </a:p>
        </p:txBody>
      </p:sp>
      <p:pic>
        <p:nvPicPr>
          <p:cNvPr id="261" name="Google Shape;261;p21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77135" y="5713560"/>
            <a:ext cx="3218021" cy="108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1"/>
          <p:cNvSpPr/>
          <p:nvPr/>
        </p:nvSpPr>
        <p:spPr>
          <a:xfrm>
            <a:off x="758309" y="6912054"/>
            <a:ext cx="13113782" cy="776288"/>
          </a:xfrm>
          <a:prstGeom prst="roundRect">
            <a:avLst>
              <a:gd name="adj" fmla="val 7180"/>
            </a:avLst>
          </a:prstGeom>
          <a:solidFill>
            <a:srgbClr val="4607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3" name="Google Shape;263;p21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945" y="7106483"/>
            <a:ext cx="165854" cy="132636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/>
          <p:nvPr/>
        </p:nvSpPr>
        <p:spPr>
          <a:xfrm>
            <a:off x="1189434" y="7098570"/>
            <a:ext cx="12539631" cy="591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DM Sans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Característica importante:</a:t>
            </a:r>
            <a:r>
              <a:rPr lang="en-US" sz="100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En el modo Boost, el ciclo de trabajo D debe ser siempre menor a 1 para evitar la operación en modo discontinuo y garantizar la estabilidad del convertidor. A medida que D se acerca a 1, la ganancia teórica tiende a infinito, pero las pérdidas reales limitan esta característica.</a:t>
            </a:r>
            <a:endParaRPr sz="1000" b="0" i="0" u="none" strike="noStrike" cap="non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08884A6-91D0-BBB6-6698-8920E6C443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4703" y="7691437"/>
            <a:ext cx="1948295" cy="494434"/>
          </a:xfrm>
          <a:prstGeom prst="rect">
            <a:avLst/>
          </a:prstGeom>
        </p:spPr>
      </p:pic>
      <p:pic>
        <p:nvPicPr>
          <p:cNvPr id="2" name="Imagen 1" descr="Tabla, Excel&#10;&#10;El contenido generado por IA puede ser incorrecto.">
            <a:extLst>
              <a:ext uri="{FF2B5EF4-FFF2-40B4-BE49-F238E27FC236}">
                <a16:creationId xmlns:a16="http://schemas.microsoft.com/office/drawing/2014/main" id="{34826958-DD4C-DF24-F8BF-6F0B4D0A22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0013" y="3176471"/>
            <a:ext cx="3161604" cy="7615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/>
          <p:nvPr/>
        </p:nvSpPr>
        <p:spPr>
          <a:xfrm>
            <a:off x="650558" y="447556"/>
            <a:ext cx="6183154" cy="347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150"/>
              <a:buFont typeface="Dela Gothic One"/>
              <a:buNone/>
            </a:pPr>
            <a:r>
              <a:rPr lang="en-US" sz="21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Diseño de Componentes - Modo Boost</a:t>
            </a:r>
            <a:endParaRPr sz="2150" b="0" i="0" u="none" strike="noStrike" cap="none"/>
          </a:p>
        </p:txBody>
      </p:sp>
      <p:sp>
        <p:nvSpPr>
          <p:cNvPr id="272" name="Google Shape;272;p22"/>
          <p:cNvSpPr/>
          <p:nvPr/>
        </p:nvSpPr>
        <p:spPr>
          <a:xfrm>
            <a:off x="660948" y="1001944"/>
            <a:ext cx="4104312" cy="167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300"/>
              <a:buFont typeface="Dela Gothic One"/>
              <a:buNone/>
            </a:pPr>
            <a:r>
              <a:rPr lang="en-US" sz="16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Especificaciones</a:t>
            </a:r>
            <a:r>
              <a:rPr lang="en-US" sz="1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</a:t>
            </a:r>
            <a:r>
              <a:rPr lang="en-US" sz="16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Inductancia</a:t>
            </a:r>
            <a:endParaRPr lang="es-ES" sz="1600" b="0" i="0" u="none" strike="noStrike" cap="none" err="1"/>
          </a:p>
        </p:txBody>
      </p:sp>
      <p:sp>
        <p:nvSpPr>
          <p:cNvPr id="273" name="Google Shape;273;p22"/>
          <p:cNvSpPr/>
          <p:nvPr/>
        </p:nvSpPr>
        <p:spPr>
          <a:xfrm>
            <a:off x="629777" y="1691250"/>
            <a:ext cx="6611779" cy="1707952"/>
          </a:xfrm>
          <a:prstGeom prst="roundRect">
            <a:avLst>
              <a:gd name="adj" fmla="val 2600"/>
            </a:avLst>
          </a:prstGeom>
          <a:solidFill>
            <a:srgbClr val="0A0A0A">
              <a:alpha val="74901"/>
            </a:srgbClr>
          </a:solidFill>
          <a:ln w="152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665798" y="1716881"/>
            <a:ext cx="6581299" cy="317183"/>
          </a:xfrm>
          <a:prstGeom prst="roundRect">
            <a:avLst>
              <a:gd name="adj" fmla="val 8234"/>
            </a:avLst>
          </a:prstGeom>
          <a:solidFill>
            <a:srgbClr val="740B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>
            <a:off x="750744" y="1713764"/>
            <a:ext cx="4013888" cy="17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ela Gothic One"/>
              <a:buNone/>
            </a:pP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Inductancia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Mínima</a:t>
            </a:r>
            <a:endParaRPr lang="es-ES" sz="1600" b="0" i="0" u="none" strike="noStrike" cap="none" err="1"/>
          </a:p>
        </p:txBody>
      </p:sp>
      <p:sp>
        <p:nvSpPr>
          <p:cNvPr id="277" name="Google Shape;277;p22"/>
          <p:cNvSpPr/>
          <p:nvPr/>
        </p:nvSpPr>
        <p:spPr>
          <a:xfrm>
            <a:off x="750743" y="2054846"/>
            <a:ext cx="6369844" cy="16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Garantiza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operación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modo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conducción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continua:</a:t>
            </a:r>
            <a:endParaRPr b="0" i="0" u="none" strike="noStrike" cap="none"/>
          </a:p>
        </p:txBody>
      </p:sp>
      <p:pic>
        <p:nvPicPr>
          <p:cNvPr id="278" name="Google Shape;278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3289" y="2540285"/>
            <a:ext cx="2246709" cy="623649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/>
          <p:nvPr/>
        </p:nvSpPr>
        <p:spPr>
          <a:xfrm>
            <a:off x="7368064" y="1701641"/>
            <a:ext cx="6611779" cy="1707952"/>
          </a:xfrm>
          <a:prstGeom prst="roundRect">
            <a:avLst>
              <a:gd name="adj" fmla="val 2600"/>
            </a:avLst>
          </a:prstGeom>
          <a:solidFill>
            <a:srgbClr val="0A0A0A">
              <a:alpha val="74901"/>
            </a:srgbClr>
          </a:solidFill>
          <a:ln w="152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22"/>
          <p:cNvSpPr/>
          <p:nvPr/>
        </p:nvSpPr>
        <p:spPr>
          <a:xfrm>
            <a:off x="7383304" y="1716881"/>
            <a:ext cx="6581299" cy="317183"/>
          </a:xfrm>
          <a:prstGeom prst="roundRect">
            <a:avLst>
              <a:gd name="adj" fmla="val 8234"/>
            </a:avLst>
          </a:prstGeom>
          <a:solidFill>
            <a:srgbClr val="740B0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7489031" y="1713764"/>
            <a:ext cx="3612789" cy="31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050"/>
              <a:buFont typeface="Dela Gothic One"/>
              <a:buNone/>
            </a:pP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Inductancia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Diseño</a:t>
            </a:r>
            <a:endParaRPr lang="es-ES" sz="1600" b="0" i="0" u="none" strike="noStrike" cap="none" err="1"/>
          </a:p>
        </p:txBody>
      </p:sp>
      <p:sp>
        <p:nvSpPr>
          <p:cNvPr id="283" name="Google Shape;283;p22"/>
          <p:cNvSpPr/>
          <p:nvPr/>
        </p:nvSpPr>
        <p:spPr>
          <a:xfrm>
            <a:off x="7385122" y="2034064"/>
            <a:ext cx="6369844" cy="16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Valor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seleccionado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con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margen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seguridad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diseño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práctico</a:t>
            </a:r>
            <a:r>
              <a:rPr lang="en-US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s-ES" b="0" i="0" u="none" strike="noStrike" cap="none"/>
          </a:p>
        </p:txBody>
      </p:sp>
      <p:pic>
        <p:nvPicPr>
          <p:cNvPr id="284" name="Google Shape;284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86658" y="2550676"/>
            <a:ext cx="2385417" cy="584716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/>
          <p:nvPr/>
        </p:nvSpPr>
        <p:spPr>
          <a:xfrm>
            <a:off x="629775" y="3557793"/>
            <a:ext cx="4772501" cy="1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300"/>
              <a:buFont typeface="Dela Gothic One"/>
              <a:buNone/>
            </a:pPr>
            <a:r>
              <a:rPr lang="en-US" sz="16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Cálculo</a:t>
            </a:r>
            <a:r>
              <a:rPr lang="en-US" sz="1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del Capacitor de Salida</a:t>
            </a:r>
            <a:endParaRPr lang="es-ES" sz="1600" b="0" i="0" u="none" strike="noStrike" cap="none"/>
          </a:p>
        </p:txBody>
      </p:sp>
      <p:sp>
        <p:nvSpPr>
          <p:cNvPr id="286" name="Google Shape;286;p22"/>
          <p:cNvSpPr/>
          <p:nvPr/>
        </p:nvSpPr>
        <p:spPr>
          <a:xfrm>
            <a:off x="650558" y="3935373"/>
            <a:ext cx="13329285" cy="169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800"/>
              <a:buFont typeface="DM Sans"/>
              <a:buNone/>
            </a:pP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capacitor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salida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es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crítico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modo Boost para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mantener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un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voltaje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estable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los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ciclos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conmutación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s-ES" sz="1600" b="0" i="0" u="none" strike="noStrike" cap="none"/>
          </a:p>
        </p:txBody>
      </p:sp>
      <p:pic>
        <p:nvPicPr>
          <p:cNvPr id="287" name="Google Shape;287;p2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776" y="4581319"/>
            <a:ext cx="2867338" cy="842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6869" y="5007347"/>
            <a:ext cx="2336579" cy="1196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9776" y="6004873"/>
            <a:ext cx="2027158" cy="977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D67BD97-4DF9-CE24-F4A8-EE038D4B5F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84703" y="7733001"/>
            <a:ext cx="1948295" cy="49443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n a graph paper&#10;&#10;AI-generated content may be incorrect.">
            <a:extLst>
              <a:ext uri="{FF2B5EF4-FFF2-40B4-BE49-F238E27FC236}">
                <a16:creationId xmlns:a16="http://schemas.microsoft.com/office/drawing/2014/main" id="{05945F9B-EA2F-DA0B-647E-8931AFBE3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485" y="4967288"/>
            <a:ext cx="4324350" cy="3095625"/>
          </a:xfrm>
          <a:prstGeom prst="rect">
            <a:avLst/>
          </a:prstGeom>
        </p:spPr>
      </p:pic>
      <p:sp>
        <p:nvSpPr>
          <p:cNvPr id="77" name="Google Shape;77;p14"/>
          <p:cNvSpPr/>
          <p:nvPr/>
        </p:nvSpPr>
        <p:spPr>
          <a:xfrm>
            <a:off x="691634" y="563404"/>
            <a:ext cx="7672864" cy="369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300"/>
              <a:buFont typeface="Dela Gothic One"/>
              <a:buNone/>
            </a:pPr>
            <a:r>
              <a:rPr lang="en-US" sz="23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Análisis Matemático de la Conexión del Gate</a:t>
            </a:r>
            <a:endParaRPr sz="2300" b="0" i="0" u="none" strike="noStrike" cap="none"/>
          </a:p>
        </p:txBody>
      </p:sp>
      <p:sp>
        <p:nvSpPr>
          <p:cNvPr id="80" name="Google Shape;80;p14"/>
          <p:cNvSpPr/>
          <p:nvPr/>
        </p:nvSpPr>
        <p:spPr>
          <a:xfrm>
            <a:off x="691634" y="1275935"/>
            <a:ext cx="6567368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691634" y="1406049"/>
            <a:ext cx="4675930" cy="19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Configuración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del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Circuito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</a:t>
            </a: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Equivalente</a:t>
            </a:r>
            <a:endParaRPr lang="es-ES" sz="1600" b="0" i="0" u="none" strike="noStrike" cap="none" err="1"/>
          </a:p>
        </p:txBody>
      </p:sp>
      <p:sp>
        <p:nvSpPr>
          <p:cNvPr id="82" name="Google Shape;82;p14"/>
          <p:cNvSpPr/>
          <p:nvPr/>
        </p:nvSpPr>
        <p:spPr>
          <a:xfrm>
            <a:off x="691634" y="1874279"/>
            <a:ext cx="6567368" cy="35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4705"/>
              </a:lnSpc>
              <a:buClr>
                <a:srgbClr val="FFE5E5"/>
              </a:buClr>
              <a:buSzPts val="850"/>
            </a:pPr>
            <a:r>
              <a:rPr lang="en-US" sz="1200">
                <a:solidFill>
                  <a:srgbClr val="FFE5E5"/>
                </a:solidFill>
                <a:latin typeface="DM Sans"/>
              </a:rPr>
              <a:t>Se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establece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el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modelo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equivalente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considerando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la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resistencia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de gate, la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capacitancia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parásita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gate-source, y la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fuente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de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alimentación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del driver.</a:t>
            </a:r>
            <a:endParaRPr lang="en-US" sz="120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7309614" y="1263578"/>
            <a:ext cx="6567368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4"/>
          <p:cNvSpPr/>
          <p:nvPr/>
        </p:nvSpPr>
        <p:spPr>
          <a:xfrm>
            <a:off x="7306493" y="1402928"/>
            <a:ext cx="4550529" cy="194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150"/>
              <a:buFont typeface="Dela Gothic One"/>
              <a:buNone/>
            </a:pP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Aplicación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Leyes de Kirchhoff</a:t>
            </a:r>
            <a:endParaRPr lang="es-ES" sz="1600" b="0" i="0" u="none" strike="noStrike" cap="none"/>
          </a:p>
        </p:txBody>
      </p:sp>
      <p:sp>
        <p:nvSpPr>
          <p:cNvPr id="86" name="Google Shape;86;p14"/>
          <p:cNvSpPr/>
          <p:nvPr/>
        </p:nvSpPr>
        <p:spPr>
          <a:xfrm>
            <a:off x="7309614" y="1874279"/>
            <a:ext cx="6567368" cy="35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4705"/>
              </a:lnSpc>
              <a:buClr>
                <a:srgbClr val="FFE5E5"/>
              </a:buClr>
              <a:buSzPts val="850"/>
              <a:buFont typeface="DM Sans"/>
            </a:pPr>
            <a:r>
              <a:rPr lang="en-US" sz="1200">
                <a:solidFill>
                  <a:srgbClr val="FFE5E5"/>
                </a:solidFill>
                <a:latin typeface="DM Sans"/>
              </a:rPr>
              <a:t>Mediante la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aplicación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de la ley de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tensiones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de Kirchhoff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en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la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malla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que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contiene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Vcc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,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Rg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, y Cgs, se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obtiene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la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ecuación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diferencial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que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gobierna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el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comportamiento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 temporal del </a:t>
            </a:r>
            <a:r>
              <a:rPr lang="en-US" sz="1200" err="1">
                <a:solidFill>
                  <a:srgbClr val="FFE5E5"/>
                </a:solidFill>
                <a:latin typeface="DM Sans"/>
              </a:rPr>
              <a:t>sistema</a:t>
            </a:r>
            <a:r>
              <a:rPr lang="en-US" sz="1200">
                <a:solidFill>
                  <a:srgbClr val="FFE5E5"/>
                </a:solidFill>
                <a:latin typeface="DM Sans"/>
              </a:rPr>
              <a:t>.</a:t>
            </a:r>
            <a:endParaRPr lang="es-ES" sz="1200" b="0" i="0" u="none" strike="noStrike" cap="none"/>
          </a:p>
        </p:txBody>
      </p:sp>
      <p:pic>
        <p:nvPicPr>
          <p:cNvPr id="93" name="Google Shape;93;p1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25727" y="2900150"/>
            <a:ext cx="2955267" cy="1106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925246" y="2820562"/>
            <a:ext cx="2015349" cy="592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91424" y="4001060"/>
            <a:ext cx="2481833" cy="77306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/>
          <p:nvPr/>
        </p:nvSpPr>
        <p:spPr>
          <a:xfrm>
            <a:off x="8496297" y="2564866"/>
            <a:ext cx="3823553" cy="246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6086"/>
              </a:lnSpc>
              <a:buClr>
                <a:srgbClr val="FAEBEB"/>
              </a:buClr>
              <a:buSzPts val="1150"/>
            </a:pPr>
            <a:r>
              <a:rPr lang="en-US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Con </a:t>
            </a:r>
            <a:r>
              <a:rPr lang="en-US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resistencia</a:t>
            </a:r>
            <a:r>
              <a:rPr lang="en-US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de gate</a:t>
            </a:r>
            <a:endParaRPr lang="en-US" b="0" i="0" u="none" strike="noStrike" cap="none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98" name="Google Shape;98;p1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21876" y="4198974"/>
            <a:ext cx="2958892" cy="37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97900" y="6654425"/>
            <a:ext cx="2957740" cy="985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74002" y="4775650"/>
            <a:ext cx="2499778" cy="751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24746" y="5719434"/>
            <a:ext cx="3820031" cy="75211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7;p14">
            <a:extLst>
              <a:ext uri="{FF2B5EF4-FFF2-40B4-BE49-F238E27FC236}">
                <a16:creationId xmlns:a16="http://schemas.microsoft.com/office/drawing/2014/main" id="{703FCDA9-E06D-A186-9B3F-E8A6547F2197}"/>
              </a:ext>
            </a:extLst>
          </p:cNvPr>
          <p:cNvSpPr/>
          <p:nvPr/>
        </p:nvSpPr>
        <p:spPr>
          <a:xfrm>
            <a:off x="689607" y="2899332"/>
            <a:ext cx="2958580" cy="41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6086"/>
              </a:lnSpc>
              <a:buClr>
                <a:srgbClr val="FAEBEB"/>
              </a:buClr>
              <a:buSzPts val="1150"/>
            </a:pPr>
            <a:r>
              <a:rPr lang="en-US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Sin </a:t>
            </a:r>
            <a:r>
              <a:rPr lang="en-US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resistencia</a:t>
            </a:r>
            <a:r>
              <a:rPr lang="en-US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gate</a:t>
            </a:r>
            <a:r>
              <a:rPr lang="en-US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:</a:t>
            </a:r>
            <a:endParaRPr lang="es-ES" b="0" i="0" u="none" strike="noStrike" cap="none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F98305-DC36-F10B-C9E4-7D93A88369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46094" y="7749428"/>
            <a:ext cx="2181225" cy="4762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8C3BFA-C797-89D2-40F9-D050AB6DCD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3367" y="3554730"/>
            <a:ext cx="6562725" cy="358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790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721519" y="496014"/>
            <a:ext cx="8435578" cy="415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600"/>
              <a:buFont typeface="Dela Gothic One"/>
              <a:buNone/>
            </a:pPr>
            <a:r>
              <a:rPr lang="en-US" sz="26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Selección Óptima de la Resistencia de Gate</a:t>
            </a:r>
            <a:endParaRPr sz="2600" b="0" i="0" u="none" strike="noStrike" cap="none"/>
          </a:p>
        </p:txBody>
      </p:sp>
      <p:sp>
        <p:nvSpPr>
          <p:cNvPr id="111" name="Google Shape;111;p15"/>
          <p:cNvSpPr/>
          <p:nvPr/>
        </p:nvSpPr>
        <p:spPr>
          <a:xfrm>
            <a:off x="721519" y="1163836"/>
            <a:ext cx="13187363" cy="404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63157"/>
              </a:lnSpc>
              <a:buClr>
                <a:srgbClr val="FFE5E5"/>
              </a:buClr>
              <a:buSzPts val="950"/>
            </a:pPr>
            <a:endParaRPr lang="en-US" sz="120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718416" y="1697446"/>
            <a:ext cx="2945621" cy="244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300"/>
              <a:buFont typeface="Dela Gothic One"/>
              <a:buNone/>
            </a:pPr>
            <a:r>
              <a:rPr lang="en-US" sz="160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Análisis</a:t>
            </a:r>
            <a:r>
              <a:rPr lang="en-US" sz="16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Corriente</a:t>
            </a:r>
            <a:endParaRPr lang="es-ES" sz="1600" b="0" i="0" u="none" strike="noStrike" cap="none"/>
          </a:p>
        </p:txBody>
      </p:sp>
      <p:sp>
        <p:nvSpPr>
          <p:cNvPr id="114" name="Google Shape;114;p15"/>
          <p:cNvSpPr/>
          <p:nvPr/>
        </p:nvSpPr>
        <p:spPr>
          <a:xfrm>
            <a:off x="709179" y="2061078"/>
            <a:ext cx="8142721" cy="68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gate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determina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directamente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velocidad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carga/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descarga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las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capacitancias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parásitas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Valores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menores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Rg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incrementan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acelerando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conmutación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pero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aumentando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las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pérdidas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dinámicas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s-ES" sz="1200" b="0" i="0" u="none" strike="noStrike" cap="none"/>
          </a:p>
        </p:txBody>
      </p:sp>
      <p:sp>
        <p:nvSpPr>
          <p:cNvPr id="121" name="Google Shape;121;p15"/>
          <p:cNvSpPr/>
          <p:nvPr/>
        </p:nvSpPr>
        <p:spPr>
          <a:xfrm>
            <a:off x="660032" y="3283387"/>
            <a:ext cx="2499241" cy="207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300"/>
              <a:buFont typeface="Dela Gothic One"/>
              <a:buNone/>
            </a:pPr>
            <a:r>
              <a:rPr lang="en-US" sz="13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Selección de Resistencia:</a:t>
            </a:r>
            <a:endParaRPr sz="1300" b="0" i="0" u="none" strike="noStrike" cap="none"/>
          </a:p>
        </p:txBody>
      </p:sp>
      <p:sp>
        <p:nvSpPr>
          <p:cNvPr id="124" name="Google Shape;124;p15"/>
          <p:cNvSpPr/>
          <p:nvPr/>
        </p:nvSpPr>
        <p:spPr>
          <a:xfrm>
            <a:off x="7305622" y="3383403"/>
            <a:ext cx="3251355" cy="272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1300"/>
              <a:buFont typeface="Dela Gothic One"/>
              <a:buNone/>
            </a:pPr>
            <a:r>
              <a:rPr lang="en-US" sz="13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Voltaje del Capacitor:</a:t>
            </a:r>
            <a:endParaRPr sz="1300" b="0" i="0" u="none" strike="noStrike" cap="none"/>
          </a:p>
        </p:txBody>
      </p:sp>
      <p:pic>
        <p:nvPicPr>
          <p:cNvPr id="126" name="Google Shape;126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97810" y="6178730"/>
            <a:ext cx="3006804" cy="867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7810" y="5027308"/>
            <a:ext cx="2296597" cy="834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2;p14" descr="preencoded.png">
            <a:extLst>
              <a:ext uri="{FF2B5EF4-FFF2-40B4-BE49-F238E27FC236}">
                <a16:creationId xmlns:a16="http://schemas.microsoft.com/office/drawing/2014/main" id="{AF9AFD06-6D23-138A-BACC-F24F44455A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5635" y="4209493"/>
            <a:ext cx="1524357" cy="6023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4;p14">
            <a:extLst>
              <a:ext uri="{FF2B5EF4-FFF2-40B4-BE49-F238E27FC236}">
                <a16:creationId xmlns:a16="http://schemas.microsoft.com/office/drawing/2014/main" id="{BECC06AE-363C-4792-12A8-0297FB07E319}"/>
              </a:ext>
            </a:extLst>
          </p:cNvPr>
          <p:cNvSpPr/>
          <p:nvPr/>
        </p:nvSpPr>
        <p:spPr>
          <a:xfrm>
            <a:off x="7302917" y="3167745"/>
            <a:ext cx="6567368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84;p14">
            <a:extLst>
              <a:ext uri="{FF2B5EF4-FFF2-40B4-BE49-F238E27FC236}">
                <a16:creationId xmlns:a16="http://schemas.microsoft.com/office/drawing/2014/main" id="{43BC9756-C3F4-EA82-AF23-F63F561B1838}"/>
              </a:ext>
            </a:extLst>
          </p:cNvPr>
          <p:cNvSpPr/>
          <p:nvPr/>
        </p:nvSpPr>
        <p:spPr>
          <a:xfrm>
            <a:off x="317984" y="3160093"/>
            <a:ext cx="6567368" cy="15240"/>
          </a:xfrm>
          <a:prstGeom prst="rect">
            <a:avLst/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E3F252D-4208-3221-85B6-3E43042D86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8742" y="7752484"/>
            <a:ext cx="2181225" cy="476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CA966D5-15FA-39BC-D131-A95FB49476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428" y="3797618"/>
            <a:ext cx="5953125" cy="2371725"/>
          </a:xfrm>
          <a:prstGeom prst="rect">
            <a:avLst/>
          </a:prstGeom>
        </p:spPr>
      </p:pic>
      <p:pic>
        <p:nvPicPr>
          <p:cNvPr id="8" name="Picture 7" descr="A screenshot of a math formula&#10;&#10;AI-generated content may be incorrect.">
            <a:extLst>
              <a:ext uri="{FF2B5EF4-FFF2-40B4-BE49-F238E27FC236}">
                <a16:creationId xmlns:a16="http://schemas.microsoft.com/office/drawing/2014/main" id="{B9ED528D-A0AF-8ADE-23B8-A0E0582B24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853" y="5357813"/>
            <a:ext cx="2002155" cy="2646045"/>
          </a:xfrm>
          <a:prstGeom prst="rect">
            <a:avLst/>
          </a:prstGeom>
        </p:spPr>
      </p:pic>
      <p:pic>
        <p:nvPicPr>
          <p:cNvPr id="9" name="Picture 8" descr="A graph paper with a green line&#10;&#10;AI-generated content may be incorrect.">
            <a:extLst>
              <a:ext uri="{FF2B5EF4-FFF2-40B4-BE49-F238E27FC236}">
                <a16:creationId xmlns:a16="http://schemas.microsoft.com/office/drawing/2014/main" id="{1F8AF9C0-C2AF-59DB-7783-010D3904FD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96488" y="3883343"/>
            <a:ext cx="4181475" cy="1983105"/>
          </a:xfrm>
          <a:prstGeom prst="rect">
            <a:avLst/>
          </a:prstGeom>
        </p:spPr>
      </p:pic>
      <p:pic>
        <p:nvPicPr>
          <p:cNvPr id="11" name="Picture 10" descr="A graph of a capacitor&#10;&#10;AI-generated content may be incorrect.">
            <a:extLst>
              <a:ext uri="{FF2B5EF4-FFF2-40B4-BE49-F238E27FC236}">
                <a16:creationId xmlns:a16="http://schemas.microsoft.com/office/drawing/2014/main" id="{07BCB7D8-442F-9477-0EBF-B8C6D610AE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41220" y="6035089"/>
            <a:ext cx="2756235" cy="1970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97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753427" y="517922"/>
            <a:ext cx="8726329" cy="40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500"/>
              <a:buFont typeface="Dela Gothic One"/>
              <a:buNone/>
            </a:pPr>
            <a:r>
              <a:rPr lang="en-US" sz="25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Diseño</a:t>
            </a:r>
            <a:r>
              <a:rPr lang="en-US" sz="25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y </a:t>
            </a:r>
            <a:r>
              <a:rPr lang="en-US" sz="25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Verificación</a:t>
            </a:r>
            <a:r>
              <a:rPr lang="en-US" sz="25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del Inductor de Potencia</a:t>
            </a:r>
            <a:endParaRPr sz="2500" b="0" i="0" u="none" strike="noStrike" cap="none"/>
          </a:p>
        </p:txBody>
      </p:sp>
      <p:sp>
        <p:nvSpPr>
          <p:cNvPr id="135" name="Google Shape;135;p16"/>
          <p:cNvSpPr/>
          <p:nvPr/>
        </p:nvSpPr>
        <p:spPr>
          <a:xfrm>
            <a:off x="771899" y="1112607"/>
            <a:ext cx="6482102" cy="1612208"/>
          </a:xfrm>
          <a:prstGeom prst="roundRect">
            <a:avLst>
              <a:gd name="adj" fmla="val 2657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892680" y="1242623"/>
            <a:ext cx="367189" cy="367189"/>
          </a:xfrm>
          <a:prstGeom prst="roundRect">
            <a:avLst>
              <a:gd name="adj" fmla="val 24900217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7" name="Google Shape;137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3645" y="1322871"/>
            <a:ext cx="165259" cy="20657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/>
          <p:nvPr/>
        </p:nvSpPr>
        <p:spPr>
          <a:xfrm>
            <a:off x="1483807" y="1325808"/>
            <a:ext cx="2664023" cy="20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lang="en-US" sz="12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Especificaciones del Núcleo</a:t>
            </a:r>
            <a:endParaRPr sz="1250" b="0" i="0" u="none" strike="noStrike" cap="none"/>
          </a:p>
        </p:txBody>
      </p:sp>
      <p:sp>
        <p:nvSpPr>
          <p:cNvPr id="139" name="Google Shape;139;p16"/>
          <p:cNvSpPr/>
          <p:nvPr/>
        </p:nvSpPr>
        <p:spPr>
          <a:xfrm>
            <a:off x="883444" y="1692849"/>
            <a:ext cx="6240542" cy="19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Char char="•"/>
            </a:pP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Radio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externo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 26mm </a:t>
            </a:r>
            <a:endParaRPr lang="en-US" sz="120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83444" y="1903622"/>
            <a:ext cx="6240542" cy="19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Char char="•"/>
            </a:pP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Radio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interno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 14.4mm </a:t>
            </a:r>
            <a:endParaRPr lang="en-US" sz="120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892680" y="2123631"/>
            <a:ext cx="6240542" cy="195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Char char="•"/>
            </a:pP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Altura: 10.7mm </a:t>
            </a:r>
            <a:endParaRPr lang="en-US" sz="120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902899" y="2321660"/>
            <a:ext cx="6240542" cy="93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>
              <a:lnSpc>
                <a:spcPct val="157894"/>
              </a:lnSpc>
              <a:buClr>
                <a:srgbClr val="FFE5E5"/>
              </a:buClr>
              <a:buSzPts val="950"/>
              <a:buChar char="•"/>
            </a:pPr>
            <a:r>
              <a:rPr lang="en-US" sz="1200">
                <a:solidFill>
                  <a:srgbClr val="FFE5E5"/>
                </a:solidFill>
              </a:rPr>
              <a:t>   15 </a:t>
            </a:r>
            <a:r>
              <a:rPr lang="en-US" sz="1200" err="1">
                <a:solidFill>
                  <a:srgbClr val="FFE5E5"/>
                </a:solidFill>
              </a:rPr>
              <a:t>vueltas</a:t>
            </a:r>
            <a:r>
              <a:rPr lang="en-US" sz="1200">
                <a:solidFill>
                  <a:srgbClr val="FFE5E5"/>
                </a:solidFill>
              </a:rPr>
              <a:t> al </a:t>
            </a:r>
            <a:r>
              <a:rPr lang="en-US" sz="1200" err="1">
                <a:solidFill>
                  <a:srgbClr val="FFE5E5"/>
                </a:solidFill>
              </a:rPr>
              <a:t>núcleo</a:t>
            </a:r>
            <a:endParaRPr lang="en-US" sz="1200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799609" y="2945354"/>
            <a:ext cx="3172301" cy="24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500"/>
              <a:buFont typeface="Dela Gothic One"/>
              <a:buNone/>
            </a:pPr>
            <a:r>
              <a:rPr lang="en-US" sz="1500" b="0" i="0" u="none" strike="noStrike" cap="none">
                <a:solidFill>
                  <a:srgbClr val="C91313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Análisis del Flujo Magnético</a:t>
            </a:r>
            <a:endParaRPr sz="1500" b="0" i="0" u="none" strike="noStrike" cap="none"/>
          </a:p>
        </p:txBody>
      </p:sp>
      <p:sp>
        <p:nvSpPr>
          <p:cNvPr id="150" name="Google Shape;150;p16"/>
          <p:cNvSpPr/>
          <p:nvPr/>
        </p:nvSpPr>
        <p:spPr>
          <a:xfrm>
            <a:off x="799609" y="3370645"/>
            <a:ext cx="13123545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endParaRPr lang="en-US" sz="95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pic>
        <p:nvPicPr>
          <p:cNvPr id="151" name="Google Shape;151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1900" y="3572782"/>
            <a:ext cx="2890831" cy="497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86363" y="3569865"/>
            <a:ext cx="1947386" cy="884841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/>
          <p:nvPr/>
        </p:nvSpPr>
        <p:spPr>
          <a:xfrm>
            <a:off x="753918" y="4764892"/>
            <a:ext cx="6500574" cy="1919294"/>
          </a:xfrm>
          <a:prstGeom prst="roundRect">
            <a:avLst>
              <a:gd name="adj" fmla="val 4495"/>
            </a:avLst>
          </a:prstGeom>
          <a:solidFill>
            <a:srgbClr val="0A0A0A">
              <a:alpha val="74901"/>
            </a:srgbClr>
          </a:solidFill>
          <a:ln w="152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728952" y="4764892"/>
            <a:ext cx="60960" cy="1627465"/>
          </a:xfrm>
          <a:prstGeom prst="roundRect">
            <a:avLst>
              <a:gd name="adj" fmla="val 84354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927548" y="4902529"/>
            <a:ext cx="1870115" cy="20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lang="en-US" sz="12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Configuración Buck</a:t>
            </a:r>
            <a:endParaRPr sz="1250" b="0" i="0" u="none" strike="noStrike" cap="none"/>
          </a:p>
        </p:txBody>
      </p:sp>
      <p:sp>
        <p:nvSpPr>
          <p:cNvPr id="157" name="Google Shape;157;p16"/>
          <p:cNvSpPr/>
          <p:nvPr/>
        </p:nvSpPr>
        <p:spPr>
          <a:xfrm>
            <a:off x="908093" y="5118841"/>
            <a:ext cx="6199037" cy="615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894"/>
              </a:lnSpc>
              <a:buClr>
                <a:srgbClr val="FFE5E5"/>
              </a:buClr>
              <a:buSzPts val="950"/>
              <a:buFont typeface="DM Sans"/>
            </a:pP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 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caso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reductor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inductor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almacena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tiempo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conducción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interruptor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y 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transfiere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 la carga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tiempo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corte,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manteniendo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continuidad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salida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s-ES" sz="1200" b="0" i="0" u="none" strike="noStrike" cap="none"/>
          </a:p>
        </p:txBody>
      </p:sp>
      <p:sp>
        <p:nvSpPr>
          <p:cNvPr id="159" name="Google Shape;159;p16"/>
          <p:cNvSpPr/>
          <p:nvPr/>
        </p:nvSpPr>
        <p:spPr>
          <a:xfrm>
            <a:off x="7357435" y="4764892"/>
            <a:ext cx="6549211" cy="1919294"/>
          </a:xfrm>
          <a:prstGeom prst="roundRect">
            <a:avLst>
              <a:gd name="adj" fmla="val 4495"/>
            </a:avLst>
          </a:prstGeom>
          <a:solidFill>
            <a:srgbClr val="0A0A0A">
              <a:alpha val="74901"/>
            </a:srgbClr>
          </a:solidFill>
          <a:ln w="152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351922" y="4764892"/>
            <a:ext cx="60960" cy="1627465"/>
          </a:xfrm>
          <a:prstGeom prst="roundRect">
            <a:avLst>
              <a:gd name="adj" fmla="val 84354"/>
            </a:avLst>
          </a:prstGeom>
          <a:solidFill>
            <a:srgbClr val="C9131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6"/>
          <p:cNvSpPr/>
          <p:nvPr/>
        </p:nvSpPr>
        <p:spPr>
          <a:xfrm>
            <a:off x="7550518" y="4902529"/>
            <a:ext cx="1954768" cy="20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lang="en-US" sz="12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Configuración Boost</a:t>
            </a:r>
            <a:endParaRPr sz="1250" b="0" i="0" u="none" strike="noStrike" cap="none"/>
          </a:p>
        </p:txBody>
      </p:sp>
      <p:sp>
        <p:nvSpPr>
          <p:cNvPr id="162" name="Google Shape;162;p16"/>
          <p:cNvSpPr/>
          <p:nvPr/>
        </p:nvSpPr>
        <p:spPr>
          <a:xfrm>
            <a:off x="7550518" y="5177206"/>
            <a:ext cx="6179582" cy="391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894"/>
              </a:lnSpc>
              <a:buClr>
                <a:srgbClr val="FFE5E5"/>
              </a:buClr>
              <a:buSzPts val="950"/>
            </a:pP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 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caso</a:t>
            </a:r>
            <a:r>
              <a:rPr lang="en-US" sz="1200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del </a:t>
            </a:r>
            <a:r>
              <a:rPr lang="en-US" sz="1200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elevador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inductor se carga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directamente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fuente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conducción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transfiere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amplificada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a la carga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durante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corte,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requiriendo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mayor </a:t>
            </a:r>
            <a:r>
              <a:rPr lang="en-US" sz="120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inductancia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para control de ripple.</a:t>
            </a:r>
            <a:endParaRPr sz="1200" b="0" i="0" u="none" strike="noStrike" cap="none"/>
          </a:p>
        </p:txBody>
      </p:sp>
      <p:sp>
        <p:nvSpPr>
          <p:cNvPr id="163" name="Google Shape;163;p16"/>
          <p:cNvSpPr/>
          <p:nvPr/>
        </p:nvSpPr>
        <p:spPr>
          <a:xfrm>
            <a:off x="753427" y="6797848"/>
            <a:ext cx="13113818" cy="331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750"/>
              <a:buFont typeface="DM Sans"/>
              <a:buNone/>
            </a:pPr>
            <a:r>
              <a:rPr lang="en-US" sz="1200" b="0" i="1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Referencia</a:t>
            </a:r>
            <a:r>
              <a:rPr lang="en-US" sz="1200" b="0" i="1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0" i="1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técnica</a:t>
            </a:r>
            <a:r>
              <a:rPr lang="en-US" sz="1200" b="0" i="1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lang="en-US" sz="120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https://resources.altium.com/es/p/ferrite-core-selection-and-design-decisions</a:t>
            </a:r>
            <a:endParaRPr sz="1200" b="0" i="0" u="none" strike="noStrike" cap="none"/>
          </a:p>
        </p:txBody>
      </p:sp>
      <p:pic>
        <p:nvPicPr>
          <p:cNvPr id="153" name="Google Shape;153;p1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84447" y="5957669"/>
            <a:ext cx="2356723" cy="609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4B83F26A-E78C-264C-3F19-52E7DFD63A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90508" y="7739184"/>
            <a:ext cx="1816260" cy="390525"/>
          </a:xfrm>
          <a:prstGeom prst="rect">
            <a:avLst/>
          </a:prstGeom>
        </p:spPr>
      </p:pic>
      <p:pic>
        <p:nvPicPr>
          <p:cNvPr id="158" name="Google Shape;158;p16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10011" y="6020939"/>
            <a:ext cx="2655213" cy="5484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2548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/>
          <p:nvPr/>
        </p:nvSpPr>
        <p:spPr>
          <a:xfrm>
            <a:off x="673179" y="547807"/>
            <a:ext cx="5778341" cy="359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250"/>
              <a:buFont typeface="Dela Gothic One"/>
              <a:buNone/>
            </a:pPr>
            <a:r>
              <a:rPr lang="en-US" sz="225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Parámetros de Diseño Calculados</a:t>
            </a:r>
            <a:endParaRPr sz="2250" b="0" i="0" u="none" strike="noStrike" cap="none"/>
          </a:p>
        </p:txBody>
      </p:sp>
      <p:sp>
        <p:nvSpPr>
          <p:cNvPr id="225" name="Google Shape;225;p17"/>
          <p:cNvSpPr/>
          <p:nvPr/>
        </p:nvSpPr>
        <p:spPr>
          <a:xfrm>
            <a:off x="393604" y="6064254"/>
            <a:ext cx="13284041" cy="1646565"/>
          </a:xfrm>
          <a:prstGeom prst="roundRect">
            <a:avLst>
              <a:gd name="adj" fmla="val 4161"/>
            </a:avLst>
          </a:prstGeom>
          <a:solidFill>
            <a:srgbClr val="4607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6" name="Google Shape;22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537" y="6161013"/>
            <a:ext cx="136684" cy="1092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7"/>
          <p:cNvSpPr/>
          <p:nvPr/>
        </p:nvSpPr>
        <p:spPr>
          <a:xfrm>
            <a:off x="1009588" y="6071024"/>
            <a:ext cx="12819459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DM Sans"/>
              <a:buNone/>
            </a:pPr>
            <a:r>
              <a:rPr lang="en-US" sz="1200" b="1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Referencias</a:t>
            </a:r>
            <a:r>
              <a:rPr lang="en-US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Técnicas</a:t>
            </a:r>
            <a:r>
              <a:rPr lang="en-US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200" b="1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Importantes</a:t>
            </a:r>
            <a:r>
              <a:rPr lang="en-US" sz="1200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endParaRPr lang="es-ES" sz="1200" b="0" i="0" u="none" strike="noStrike" cap="none"/>
          </a:p>
        </p:txBody>
      </p:sp>
      <p:sp>
        <p:nvSpPr>
          <p:cNvPr id="228" name="Google Shape;228;p17"/>
          <p:cNvSpPr/>
          <p:nvPr/>
        </p:nvSpPr>
        <p:spPr>
          <a:xfrm>
            <a:off x="826708" y="6464458"/>
            <a:ext cx="12819459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850"/>
              <a:buFont typeface="DM Sans"/>
              <a:buChar char="•"/>
            </a:pPr>
            <a:r>
              <a:rPr lang="en-US" sz="850" b="0" i="0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Analog Devices - Selección de Ripple de Corriente en Inductores</a:t>
            </a:r>
            <a:endParaRPr sz="850" b="0" i="0" u="none" strike="noStrike" cap="none"/>
          </a:p>
        </p:txBody>
      </p:sp>
      <p:sp>
        <p:nvSpPr>
          <p:cNvPr id="229" name="Google Shape;229;p17"/>
          <p:cNvSpPr/>
          <p:nvPr/>
        </p:nvSpPr>
        <p:spPr>
          <a:xfrm>
            <a:off x="826708" y="6677699"/>
            <a:ext cx="12819459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850"/>
              <a:buFont typeface="DM Sans"/>
              <a:buChar char="•"/>
            </a:pPr>
            <a:r>
              <a:rPr lang="en-US" sz="850" b="0" i="0" u="sng" strike="noStrike" cap="none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Texas Instruments - Guía de Ripple de Voltaje</a:t>
            </a:r>
            <a:endParaRPr sz="850" b="0" i="0" u="none" strike="noStrike" cap="none"/>
          </a:p>
        </p:txBody>
      </p:sp>
      <p:sp>
        <p:nvSpPr>
          <p:cNvPr id="230" name="Google Shape;230;p17"/>
          <p:cNvSpPr/>
          <p:nvPr/>
        </p:nvSpPr>
        <p:spPr>
          <a:xfrm>
            <a:off x="826708" y="6890940"/>
            <a:ext cx="12819459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>
              <a:lnSpc>
                <a:spcPct val="158823"/>
              </a:lnSpc>
              <a:buClr>
                <a:srgbClr val="FFFFFF"/>
              </a:buClr>
              <a:buSzPts val="850"/>
              <a:buFont typeface="Arial"/>
              <a:buChar char="•"/>
            </a:pPr>
            <a:r>
              <a:rPr lang="en-US" sz="850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Referencia</a:t>
            </a:r>
            <a:r>
              <a:rPr lang="en-US" sz="8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850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Cálculos</a:t>
            </a:r>
            <a:r>
              <a:rPr lang="en-US" sz="850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- </a:t>
            </a:r>
            <a:r>
              <a:rPr lang="en-US" sz="1000">
                <a:solidFill>
                  <a:srgbClr val="FFFFFF"/>
                </a:solidFill>
                <a:latin typeface="Trade Gothic Next Light"/>
                <a:ea typeface="DM Sans"/>
                <a:cs typeface="DM Sans"/>
                <a:sym typeface="DM Sans"/>
                <a:hlinkClick r:id="rId6"/>
              </a:rPr>
              <a:t>https://www.google.com/url?sa=t&amp;rct=j&amp;q=&amp;esrc=s&amp;source=web&amp;cd=&amp;ved=2ahUKEwiuho33tvSPAxXQH7kGHS_vAWQQFnoECBYQAQ&amp;url=https%3A%2F%2Flc.fie.umich.mx%2F~jorgeahb%2FPagina%2Fmaterias%2FPIES%2Fkupdf.com_electronica-de-potencia-1ra-edicion-daniel-w-hart.pdf&amp;usg=AOvVaw12H7jpJB96UqhKoR2voyG8&amp;opi=89978449</a:t>
            </a:r>
            <a:endParaRPr lang="es-ES" sz="850">
              <a:ea typeface="DM Sans"/>
              <a:sym typeface="DM Sans"/>
            </a:endParaRPr>
          </a:p>
          <a:p>
            <a:pPr marL="342900" marR="0" lvl="0" indent="-342900" algn="l">
              <a:lnSpc>
                <a:spcPct val="15882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DM Sans"/>
              <a:buChar char="•"/>
            </a:pPr>
            <a:endParaRPr lang="en-US" sz="850" b="0" i="0" u="none" strike="noStrike" cap="none">
              <a:solidFill>
                <a:srgbClr val="FFFFFF"/>
              </a:solidFill>
              <a:latin typeface="DM San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400585C-3D44-F630-FF42-2D492F3E6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8616" y="7701849"/>
            <a:ext cx="2495550" cy="523875"/>
          </a:xfrm>
          <a:prstGeom prst="rect">
            <a:avLst/>
          </a:prstGeom>
        </p:spPr>
      </p:pic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0CBE005B-79D7-3167-E789-CCE0D2ACA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244180"/>
              </p:ext>
            </p:extLst>
          </p:nvPr>
        </p:nvGraphicFramePr>
        <p:xfrm>
          <a:off x="1668161" y="1161535"/>
          <a:ext cx="10229850" cy="46082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409950">
                  <a:extLst>
                    <a:ext uri="{9D8B030D-6E8A-4147-A177-3AD203B41FA5}">
                      <a16:colId xmlns:a16="http://schemas.microsoft.com/office/drawing/2014/main" val="3379186184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3443541885"/>
                    </a:ext>
                  </a:extLst>
                </a:gridCol>
                <a:gridCol w="3409950">
                  <a:extLst>
                    <a:ext uri="{9D8B030D-6E8A-4147-A177-3AD203B41FA5}">
                      <a16:colId xmlns:a16="http://schemas.microsoft.com/office/drawing/2014/main" val="2686883103"/>
                    </a:ext>
                  </a:extLst>
                </a:gridCol>
              </a:tblGrid>
              <a:tr h="386148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/>
                          <a:latin typeface="DM Sans"/>
                        </a:rPr>
                        <a:t>Parámetros</a:t>
                      </a:r>
                      <a:endParaRPr lang="es-ES" b="1">
                        <a:solidFill>
                          <a:srgbClr val="FFFFFF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/>
                          <a:latin typeface="DM Sans"/>
                        </a:rPr>
                        <a:t>Caso Buck</a:t>
                      </a:r>
                      <a:endParaRPr lang="es-ES" b="1">
                        <a:solidFill>
                          <a:srgbClr val="FFFFFF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rgbClr val="FFFFFF"/>
                          </a:solidFill>
                          <a:effectLst/>
                          <a:latin typeface="DM Sans"/>
                        </a:rPr>
                        <a:t>Caso </a:t>
                      </a:r>
                      <a:r>
                        <a:rPr lang="es-ES" sz="1800" b="1" err="1">
                          <a:solidFill>
                            <a:srgbClr val="FFFFFF"/>
                          </a:solidFill>
                          <a:effectLst/>
                          <a:latin typeface="DM Sans"/>
                        </a:rPr>
                        <a:t>Boost</a:t>
                      </a:r>
                      <a:endParaRPr lang="es-ES" b="1" err="1">
                        <a:solidFill>
                          <a:srgbClr val="FFFFFF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8488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 i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Duty</a:t>
                      </a:r>
                      <a:r>
                        <a:rPr lang="es-ES" sz="1800" b="1" i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</a:t>
                      </a:r>
                      <a:r>
                        <a:rPr lang="es-ES" sz="1800" b="1" i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cycle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(D)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60.9%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55.6%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155528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Ripple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de Voltaje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1%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1%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28787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Ripple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de corriente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30%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30%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11797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Resistencia de la carga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39.2[Ohm]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145.8[Ohm]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18872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Inductancia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0.855[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mH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0.889[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mH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69694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Inductancia mínima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0.1278[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mH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0.1333[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mH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275819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Corriente mínima en inductor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0.304[A]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0.354[A]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20636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Corriente promedio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0.357[A]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0.417[A]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874005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Corriente máxima en inductor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0.411[A]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0.479[A]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49339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Capacitancia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1.59[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uF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6.35[</a:t>
                      </a:r>
                      <a:r>
                        <a:rPr lang="es-E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uF</a:t>
                      </a: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117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711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"/>
          <p:cNvSpPr/>
          <p:nvPr/>
        </p:nvSpPr>
        <p:spPr>
          <a:xfrm>
            <a:off x="749975" y="515541"/>
            <a:ext cx="9527738" cy="400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AEBEB"/>
              </a:buClr>
              <a:buSzPts val="2500"/>
              <a:buFont typeface="Dela Gothic One"/>
              <a:buNone/>
            </a:pPr>
            <a:r>
              <a:rPr lang="en-US" sz="25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Especificaciones y Selección de Semiconductores</a:t>
            </a:r>
            <a:endParaRPr sz="2500" b="0" i="0" u="none" strike="noStrike" cap="none"/>
          </a:p>
        </p:txBody>
      </p:sp>
      <p:pic>
        <p:nvPicPr>
          <p:cNvPr id="238" name="Google Shape;238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7091" y="1240668"/>
            <a:ext cx="3686532" cy="304573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8"/>
          <p:cNvSpPr/>
          <p:nvPr/>
        </p:nvSpPr>
        <p:spPr>
          <a:xfrm>
            <a:off x="749975" y="4870013"/>
            <a:ext cx="274201" cy="27420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1145977" y="4879907"/>
            <a:ext cx="5002723" cy="12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4000"/>
              </a:lnSpc>
              <a:buClr>
                <a:srgbClr val="FFE5E5"/>
              </a:buClr>
              <a:buSzPts val="1250"/>
            </a:pPr>
            <a:r>
              <a:rPr lang="en-US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Tensión</a:t>
            </a:r>
            <a:r>
              <a:rPr lang="en-US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 </a:t>
            </a:r>
            <a:r>
              <a:rPr lang="en-US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máxima</a:t>
            </a:r>
            <a:r>
              <a:rPr lang="en-US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mayor a </a:t>
            </a:r>
            <a:r>
              <a:rPr lang="en-US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27V</a:t>
            </a:r>
            <a:endParaRPr b="0" i="0" u="none" strike="noStrike" cap="none"/>
          </a:p>
        </p:txBody>
      </p:sp>
      <p:sp>
        <p:nvSpPr>
          <p:cNvPr id="241" name="Google Shape;241;p18"/>
          <p:cNvSpPr/>
          <p:nvPr/>
        </p:nvSpPr>
        <p:spPr>
          <a:xfrm>
            <a:off x="1145977" y="5185291"/>
            <a:ext cx="6093023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margen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seguridad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tensión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debe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considerar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transitorios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conmutación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sobretensiones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línea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variaciones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temperatura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lang="en-US" sz="95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242" name="Google Shape;242;p18"/>
          <p:cNvSpPr/>
          <p:nvPr/>
        </p:nvSpPr>
        <p:spPr>
          <a:xfrm>
            <a:off x="7391281" y="4870013"/>
            <a:ext cx="274201" cy="27420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7787283" y="4911804"/>
            <a:ext cx="3140035" cy="20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lang="en-US" sz="12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Corriente </a:t>
            </a:r>
            <a:r>
              <a:rPr lang="en-US" sz="1250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máxima</a:t>
            </a:r>
            <a:r>
              <a:rPr lang="en-US" sz="12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a 1A</a:t>
            </a:r>
            <a:endParaRPr sz="1250" b="0" i="0" u="none" strike="noStrike" cap="none"/>
          </a:p>
        </p:txBody>
      </p:sp>
      <p:sp>
        <p:nvSpPr>
          <p:cNvPr id="244" name="Google Shape;244;p18"/>
          <p:cNvSpPr/>
          <p:nvPr/>
        </p:nvSpPr>
        <p:spPr>
          <a:xfrm>
            <a:off x="7787283" y="5185291"/>
            <a:ext cx="6093143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capacidad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debe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incluir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márgenes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para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corrientes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ripple,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transitorios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arranque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degradación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térmica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endParaRPr lang="en-US" sz="95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749975" y="6014085"/>
            <a:ext cx="274201" cy="27420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1145977" y="6016799"/>
            <a:ext cx="3543181" cy="20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lang="en-US" sz="125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Disipación</a:t>
            </a:r>
            <a:r>
              <a:rPr lang="en-US" sz="12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de Potencia Superior a 5W</a:t>
            </a:r>
            <a:endParaRPr sz="1250" b="0" i="0" u="none" strike="noStrike" cap="none"/>
          </a:p>
        </p:txBody>
      </p:sp>
      <p:sp>
        <p:nvSpPr>
          <p:cNvPr id="247" name="Google Shape;247;p18"/>
          <p:cNvSpPr/>
          <p:nvPr/>
        </p:nvSpPr>
        <p:spPr>
          <a:xfrm>
            <a:off x="1145977" y="6329363"/>
            <a:ext cx="6093023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Las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pérdidas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térmicas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incluyen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pérdidas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conducción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conmutación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y gate. </a:t>
            </a:r>
            <a:endParaRPr lang="en-US" sz="95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sp>
        <p:nvSpPr>
          <p:cNvPr id="248" name="Google Shape;248;p18"/>
          <p:cNvSpPr/>
          <p:nvPr/>
        </p:nvSpPr>
        <p:spPr>
          <a:xfrm>
            <a:off x="7391281" y="6014085"/>
            <a:ext cx="274201" cy="274201"/>
          </a:xfrm>
          <a:prstGeom prst="roundRect">
            <a:avLst>
              <a:gd name="adj" fmla="val 18667"/>
            </a:avLst>
          </a:prstGeom>
          <a:solidFill>
            <a:srgbClr val="740B0B"/>
          </a:solidFill>
          <a:ln w="9525" cap="flat" cmpd="sng">
            <a:solidFill>
              <a:srgbClr val="8D24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7787283" y="6055876"/>
            <a:ext cx="2974300" cy="20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50"/>
              <a:buFont typeface="Dela Gothic One"/>
              <a:buNone/>
            </a:pPr>
            <a:r>
              <a:rPr lang="en-US" sz="125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Encapsulado</a:t>
            </a:r>
            <a:r>
              <a:rPr lang="en-US" sz="12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TO-220 </a:t>
            </a:r>
            <a:r>
              <a:rPr lang="en-US" sz="1250" b="0" i="0" u="none" strike="noStrike" cap="none" err="1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Estándar</a:t>
            </a:r>
            <a:endParaRPr sz="1250" b="0" i="0" u="none" strike="noStrike" cap="none" err="1"/>
          </a:p>
        </p:txBody>
      </p:sp>
      <p:sp>
        <p:nvSpPr>
          <p:cNvPr id="250" name="Google Shape;250;p18"/>
          <p:cNvSpPr/>
          <p:nvPr/>
        </p:nvSpPr>
        <p:spPr>
          <a:xfrm>
            <a:off x="7787283" y="6329363"/>
            <a:ext cx="6093143" cy="5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894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950"/>
              <a:buFont typeface="DM Sans"/>
              <a:buNone/>
            </a:pP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El package TO-220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ofrece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excelente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compromiso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entre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disipación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térmica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facilidad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montaje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, y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disponibilidad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950" b="0" i="0" u="none" strike="noStrike" cap="none" err="1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comercial</a:t>
            </a:r>
            <a:r>
              <a:rPr lang="en-US" sz="950" b="0" i="0" u="none" strike="noStrike" cap="none">
                <a:solidFill>
                  <a:srgbClr val="FFE5E5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950" b="0" i="0" u="none" strike="noStrike" cap="none">
              <a:solidFill>
                <a:srgbClr val="FFE5E5"/>
              </a:solidFill>
              <a:latin typeface="DM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D759EFD-15DA-7368-20AD-C8CFD3539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3994" y="7685815"/>
            <a:ext cx="2969275" cy="43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51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/>
          <p:nvPr/>
        </p:nvSpPr>
        <p:spPr>
          <a:xfrm>
            <a:off x="534829" y="271224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Análisis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 </a:t>
            </a:r>
            <a:r>
              <a:rPr lang="en-US" sz="2400" b="0" i="0" u="none" strike="noStrike" cap="none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del MOSFET IRFZ44N</a:t>
            </a:r>
            <a:endParaRPr sz="2400" b="0" i="0" u="none" strike="noStrike" cap="none"/>
          </a:p>
        </p:txBody>
      </p:sp>
      <p:pic>
        <p:nvPicPr>
          <p:cNvPr id="260" name="Google Shape;260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9479" y="1128117"/>
            <a:ext cx="6531888" cy="1630323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9"/>
          <p:cNvSpPr/>
          <p:nvPr/>
        </p:nvSpPr>
        <p:spPr>
          <a:xfrm>
            <a:off x="725329" y="2921318"/>
            <a:ext cx="4295061" cy="38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3050"/>
              <a:buFont typeface="Dela Gothic One"/>
              <a:buNone/>
            </a:pPr>
            <a:r>
              <a:rPr lang="en-US" sz="3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55V</a:t>
            </a:r>
            <a:endParaRPr sz="3050" b="0" i="0" u="none" strike="noStrike" cap="none"/>
          </a:p>
        </p:txBody>
      </p:sp>
      <p:sp>
        <p:nvSpPr>
          <p:cNvPr id="262" name="Google Shape;262;p19"/>
          <p:cNvSpPr/>
          <p:nvPr/>
        </p:nvSpPr>
        <p:spPr>
          <a:xfrm>
            <a:off x="1871782" y="3457575"/>
            <a:ext cx="2068830" cy="19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ela Gothic One"/>
              <a:buNone/>
            </a:pPr>
            <a:r>
              <a:rPr lang="en-US" sz="1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Tensión Drain-Source</a:t>
            </a:r>
            <a:endParaRPr sz="1200" b="0" i="0" u="none" strike="noStrike" cap="none"/>
          </a:p>
        </p:txBody>
      </p:sp>
      <p:sp>
        <p:nvSpPr>
          <p:cNvPr id="264" name="Google Shape;264;p19"/>
          <p:cNvSpPr/>
          <p:nvPr/>
        </p:nvSpPr>
        <p:spPr>
          <a:xfrm>
            <a:off x="5167670" y="2921318"/>
            <a:ext cx="4295061" cy="38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3050"/>
              <a:buFont typeface="Dela Gothic One"/>
              <a:buNone/>
            </a:pPr>
            <a:r>
              <a:rPr lang="en-US" sz="3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49A</a:t>
            </a:r>
            <a:endParaRPr sz="3050" b="0" i="0" u="none" strike="noStrike" cap="none"/>
          </a:p>
        </p:txBody>
      </p:sp>
      <p:sp>
        <p:nvSpPr>
          <p:cNvPr id="265" name="Google Shape;265;p19"/>
          <p:cNvSpPr/>
          <p:nvPr/>
        </p:nvSpPr>
        <p:spPr>
          <a:xfrm>
            <a:off x="6431161" y="3457575"/>
            <a:ext cx="1768078" cy="19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ela Gothic One"/>
              <a:buNone/>
            </a:pPr>
            <a:r>
              <a:rPr lang="en-US" sz="1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Corriente Continua</a:t>
            </a:r>
            <a:endParaRPr sz="1200" b="0" i="0" u="none" strike="noStrike" cap="none"/>
          </a:p>
        </p:txBody>
      </p:sp>
      <p:sp>
        <p:nvSpPr>
          <p:cNvPr id="267" name="Google Shape;267;p19"/>
          <p:cNvSpPr/>
          <p:nvPr/>
        </p:nvSpPr>
        <p:spPr>
          <a:xfrm>
            <a:off x="9610011" y="2921318"/>
            <a:ext cx="4295061" cy="388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3050"/>
              <a:buFont typeface="Dela Gothic One"/>
              <a:buNone/>
            </a:pPr>
            <a:r>
              <a:rPr lang="en-US" sz="305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110W</a:t>
            </a:r>
            <a:endParaRPr sz="3050" b="0" i="0" u="none" strike="noStrike" cap="none"/>
          </a:p>
        </p:txBody>
      </p:sp>
      <p:sp>
        <p:nvSpPr>
          <p:cNvPr id="268" name="Google Shape;268;p19"/>
          <p:cNvSpPr/>
          <p:nvPr/>
        </p:nvSpPr>
        <p:spPr>
          <a:xfrm>
            <a:off x="10713244" y="3457575"/>
            <a:ext cx="2088475" cy="19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E5E5"/>
              </a:buClr>
              <a:buSzPts val="1200"/>
              <a:buFont typeface="Dela Gothic One"/>
              <a:buNone/>
            </a:pPr>
            <a:r>
              <a:rPr lang="en-US" sz="1200" b="0" i="0" u="none" strike="noStrike" cap="none">
                <a:solidFill>
                  <a:srgbClr val="FFE5E5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Disipación de Potencia</a:t>
            </a:r>
            <a:endParaRPr sz="1200" b="0" i="0" u="none" strike="noStrike" cap="none"/>
          </a:p>
        </p:txBody>
      </p:sp>
      <p:sp>
        <p:nvSpPr>
          <p:cNvPr id="270" name="Google Shape;270;p19"/>
          <p:cNvSpPr/>
          <p:nvPr/>
        </p:nvSpPr>
        <p:spPr>
          <a:xfrm>
            <a:off x="725329" y="3919180"/>
            <a:ext cx="5685115" cy="393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1313"/>
              </a:buClr>
              <a:buSzPts val="1200"/>
              <a:buFont typeface="Dela Gothic One"/>
              <a:buNone/>
            </a:pPr>
            <a:r>
              <a:rPr lang="en-US" b="0" i="0" u="none" strike="noStrike" cap="none" err="1">
                <a:solidFill>
                  <a:srgbClr val="C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Características</a:t>
            </a:r>
            <a:r>
              <a:rPr lang="en-US" b="0" i="0" u="none" strike="noStrike" cap="none">
                <a:solidFill>
                  <a:srgbClr val="C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</a:t>
            </a:r>
            <a:r>
              <a:rPr lang="en-US" b="0" i="0" u="none" strike="noStrike" cap="none" err="1">
                <a:solidFill>
                  <a:srgbClr val="C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Eléctricas</a:t>
            </a:r>
            <a:r>
              <a:rPr lang="en-US" b="0" i="0" u="none" strike="noStrike" cap="none">
                <a:solidFill>
                  <a:srgbClr val="C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 </a:t>
            </a:r>
            <a:r>
              <a:rPr lang="en-US" b="0" i="0" u="none" strike="noStrike" cap="none" err="1">
                <a:solidFill>
                  <a:srgbClr val="C00000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Principales</a:t>
            </a:r>
            <a:endParaRPr lang="es-ES" b="0" i="0" u="none" strike="noStrike" cap="none">
              <a:solidFill>
                <a:srgbClr val="C00000"/>
              </a:solidFill>
            </a:endParaRPr>
          </a:p>
        </p:txBody>
      </p:sp>
      <p:pic>
        <p:nvPicPr>
          <p:cNvPr id="271" name="Google Shape;271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0579" y="4493181"/>
            <a:ext cx="3315295" cy="123860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9"/>
          <p:cNvSpPr/>
          <p:nvPr/>
        </p:nvSpPr>
        <p:spPr>
          <a:xfrm>
            <a:off x="7466528" y="3919180"/>
            <a:ext cx="3333393" cy="193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5000"/>
              </a:lnSpc>
              <a:buClr>
                <a:srgbClr val="740B0A"/>
              </a:buClr>
              <a:buSzPts val="1200"/>
            </a:pPr>
            <a:r>
              <a:rPr lang="en-US">
                <a:solidFill>
                  <a:srgbClr val="C00000"/>
                </a:solidFill>
                <a:latin typeface="Dela Gothic One"/>
                <a:ea typeface="Dela Gothic One"/>
              </a:rPr>
              <a:t>Partes </a:t>
            </a:r>
            <a:r>
              <a:rPr lang="en-US" err="1">
                <a:solidFill>
                  <a:srgbClr val="C00000"/>
                </a:solidFill>
                <a:latin typeface="Dela Gothic One"/>
                <a:ea typeface="Dela Gothic One"/>
              </a:rPr>
              <a:t>físicas</a:t>
            </a:r>
            <a:r>
              <a:rPr lang="en-US">
                <a:solidFill>
                  <a:srgbClr val="C00000"/>
                </a:solidFill>
                <a:latin typeface="Dela Gothic One"/>
                <a:ea typeface="Dela Gothic One"/>
              </a:rPr>
              <a:t> del MOSFET</a:t>
            </a:r>
            <a:endParaRPr lang="en-US" b="0" i="0" u="none" strike="noStrike" cap="none">
              <a:solidFill>
                <a:srgbClr val="C00000"/>
              </a:solidFill>
              <a:latin typeface="Dela Gothic One"/>
              <a:ea typeface="Dela Gothic One"/>
            </a:endParaRPr>
          </a:p>
        </p:txBody>
      </p:sp>
      <p:pic>
        <p:nvPicPr>
          <p:cNvPr id="274" name="Google Shape;274;p1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57028" y="4493181"/>
            <a:ext cx="2946916" cy="1165384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9"/>
          <p:cNvSpPr/>
          <p:nvPr/>
        </p:nvSpPr>
        <p:spPr>
          <a:xfrm>
            <a:off x="706279" y="6287691"/>
            <a:ext cx="13179743" cy="689491"/>
          </a:xfrm>
          <a:prstGeom prst="roundRect">
            <a:avLst>
              <a:gd name="adj" fmla="val 7181"/>
            </a:avLst>
          </a:prstGeom>
          <a:solidFill>
            <a:srgbClr val="46070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" name="Google Shape;277;p1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24151" y="6318409"/>
            <a:ext cx="147280" cy="11787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/>
          <p:nvPr/>
        </p:nvSpPr>
        <p:spPr>
          <a:xfrm>
            <a:off x="1108353" y="6253996"/>
            <a:ext cx="12678847" cy="377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DM Sans"/>
              <a:buNone/>
            </a:pPr>
            <a:r>
              <a:rPr lang="en-US" b="1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Ventajas</a:t>
            </a:r>
            <a:r>
              <a:rPr lang="en-US" b="1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Clave del IRFZ44N: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Baja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resistencia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conducción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capacitancias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parásitas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optimizadas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excelente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capacidad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disipación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térmica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disponibilidad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comercial</a:t>
            </a:r>
            <a:r>
              <a:rPr lang="en-US" b="0" i="0" u="none" strike="noStrike" cap="non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b="0" i="0" u="none" strike="noStrike" cap="none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amplia</a:t>
            </a:r>
            <a:r>
              <a:rPr lang="en-US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,,</a:t>
            </a:r>
            <a:endParaRPr lang="en-US" b="0" i="0" u="none" strike="noStrike" cap="none">
              <a:solidFill>
                <a:srgbClr val="FFFFFF"/>
              </a:solidFill>
              <a:latin typeface="DM Sans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A1F0045-4610-0499-AED5-9B5249581B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7719" y="7718865"/>
            <a:ext cx="2495550" cy="51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584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6">
            <a:extLst>
              <a:ext uri="{FF2B5EF4-FFF2-40B4-BE49-F238E27FC236}">
                <a16:creationId xmlns:a16="http://schemas.microsoft.com/office/drawing/2014/main" id="{93609485-C984-86FF-B66F-2C736645D901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22" y="3228052"/>
            <a:ext cx="4241300" cy="3516086"/>
          </a:xfrm>
          <a:prstGeom prst="rect">
            <a:avLst/>
          </a:prstGeom>
        </p:spPr>
      </p:pic>
      <p:pic>
        <p:nvPicPr>
          <p:cNvPr id="4" name="Picture 9">
            <a:extLst>
              <a:ext uri="{FF2B5EF4-FFF2-40B4-BE49-F238E27FC236}">
                <a16:creationId xmlns:a16="http://schemas.microsoft.com/office/drawing/2014/main" id="{3C48A102-712E-B9FB-EFB4-6FB31A71E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3" y="1033328"/>
            <a:ext cx="5101241" cy="2094189"/>
          </a:xfrm>
          <a:prstGeom prst="rect">
            <a:avLst/>
          </a:pr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14B6F93F-B399-E097-0369-9F83E9D67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587" y="998804"/>
            <a:ext cx="6684361" cy="662262"/>
          </a:xfrm>
          <a:prstGeom prst="rect">
            <a:avLst/>
          </a:prstGeom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931829F9-4BA9-848A-AC0B-EA983B1C8E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148" y="4539210"/>
            <a:ext cx="6294602" cy="1775263"/>
          </a:xfrm>
          <a:prstGeom prst="rect">
            <a:avLst/>
          </a:prstGeom>
        </p:spPr>
      </p:pic>
      <p:pic>
        <p:nvPicPr>
          <p:cNvPr id="7" name="Picture 12">
            <a:extLst>
              <a:ext uri="{FF2B5EF4-FFF2-40B4-BE49-F238E27FC236}">
                <a16:creationId xmlns:a16="http://schemas.microsoft.com/office/drawing/2014/main" id="{B9B488DD-8FD9-671B-61CB-FFF907B770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5840" y="1790512"/>
            <a:ext cx="6063719" cy="1090825"/>
          </a:xfrm>
          <a:prstGeom prst="rect">
            <a:avLst/>
          </a:prstGeom>
        </p:spPr>
      </p:pic>
      <p:sp>
        <p:nvSpPr>
          <p:cNvPr id="9" name="Google Shape;258;p19">
            <a:extLst>
              <a:ext uri="{FF2B5EF4-FFF2-40B4-BE49-F238E27FC236}">
                <a16:creationId xmlns:a16="http://schemas.microsoft.com/office/drawing/2014/main" id="{D0ED9DA9-0291-FB5E-D468-FC626135C491}"/>
              </a:ext>
            </a:extLst>
          </p:cNvPr>
          <p:cNvSpPr/>
          <p:nvPr/>
        </p:nvSpPr>
        <p:spPr>
          <a:xfrm>
            <a:off x="404200" y="16672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b="0" i="0" u="none" strike="noStrike" cap="none" err="1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Análisis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 de Potencia</a:t>
            </a:r>
            <a:endParaRPr sz="2400" b="0" i="0" u="none" strike="noStrike" cap="none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4B1291F-6D5E-681C-E32B-835EA7EA41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92322" y="7686403"/>
            <a:ext cx="2038350" cy="524691"/>
          </a:xfrm>
          <a:prstGeom prst="rect">
            <a:avLst/>
          </a:prstGeom>
        </p:spPr>
      </p:pic>
      <p:sp>
        <p:nvSpPr>
          <p:cNvPr id="11" name="Google Shape;258;p19">
            <a:extLst>
              <a:ext uri="{FF2B5EF4-FFF2-40B4-BE49-F238E27FC236}">
                <a16:creationId xmlns:a16="http://schemas.microsoft.com/office/drawing/2014/main" id="{695D965B-5AEC-172A-19F1-AB9A5A224FEA}"/>
              </a:ext>
            </a:extLst>
          </p:cNvPr>
          <p:cNvSpPr/>
          <p:nvPr/>
        </p:nvSpPr>
        <p:spPr>
          <a:xfrm>
            <a:off x="404200" y="650047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16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Pérdidas</a:t>
            </a:r>
            <a:r>
              <a:rPr lang="en-US" sz="16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sz="16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en</a:t>
            </a:r>
            <a:r>
              <a:rPr lang="en-US" sz="16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forma de </a:t>
            </a:r>
            <a:r>
              <a:rPr lang="en-US" sz="16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calor</a:t>
            </a:r>
            <a:endParaRPr lang="en-US" sz="16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</p:spTree>
    <p:extLst>
      <p:ext uri="{BB962C8B-B14F-4D97-AF65-F5344CB8AC3E}">
        <p14:creationId xmlns:p14="http://schemas.microsoft.com/office/powerpoint/2010/main" val="16679303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33AC9-5D05-B22E-2D07-80CB31AB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E9359CC9-9751-6640-A24D-0D1ECD799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80" y="887458"/>
            <a:ext cx="6604362" cy="3652701"/>
          </a:xfrm>
          <a:prstGeom prst="rect">
            <a:avLst/>
          </a:prstGeom>
        </p:spPr>
      </p:pic>
      <p:pic>
        <p:nvPicPr>
          <p:cNvPr id="8" name="Imagen 7" descr="A diagram of a circuit&#10;&#10;AI-generated content may be incorrect.">
            <a:extLst>
              <a:ext uri="{FF2B5EF4-FFF2-40B4-BE49-F238E27FC236}">
                <a16:creationId xmlns:a16="http://schemas.microsoft.com/office/drawing/2014/main" id="{196C62ED-5FDC-4EDD-AAAA-82D56C53E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578" y="1226276"/>
            <a:ext cx="6604362" cy="2983774"/>
          </a:xfrm>
          <a:prstGeom prst="rect">
            <a:avLst/>
          </a:prstGeom>
        </p:spPr>
      </p:pic>
      <p:sp>
        <p:nvSpPr>
          <p:cNvPr id="10" name="Google Shape;258;p19">
            <a:extLst>
              <a:ext uri="{FF2B5EF4-FFF2-40B4-BE49-F238E27FC236}">
                <a16:creationId xmlns:a16="http://schemas.microsoft.com/office/drawing/2014/main" id="{0BA749C4-4D93-E1FD-EB0E-321C50746CCF}"/>
              </a:ext>
            </a:extLst>
          </p:cNvPr>
          <p:cNvSpPr/>
          <p:nvPr/>
        </p:nvSpPr>
        <p:spPr>
          <a:xfrm>
            <a:off x="404200" y="16672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Pérdidas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por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conducción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11" name="Google Shape;258;p19">
            <a:extLst>
              <a:ext uri="{FF2B5EF4-FFF2-40B4-BE49-F238E27FC236}">
                <a16:creationId xmlns:a16="http://schemas.microsoft.com/office/drawing/2014/main" id="{FA450B75-DD20-F0E3-77F4-09EDFBBC9663}"/>
              </a:ext>
            </a:extLst>
          </p:cNvPr>
          <p:cNvSpPr/>
          <p:nvPr/>
        </p:nvSpPr>
        <p:spPr>
          <a:xfrm>
            <a:off x="8072097" y="16672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Pérdidas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por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conmutación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68F7E80-FC9A-9EB2-8FBD-2D50D19B2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4281" y="7706406"/>
            <a:ext cx="2019300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68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58;p19">
            <a:extLst>
              <a:ext uri="{FF2B5EF4-FFF2-40B4-BE49-F238E27FC236}">
                <a16:creationId xmlns:a16="http://schemas.microsoft.com/office/drawing/2014/main" id="{D2ECF9FD-E603-4784-0DB1-A3EC3978AB20}"/>
              </a:ext>
            </a:extLst>
          </p:cNvPr>
          <p:cNvSpPr/>
          <p:nvPr/>
        </p:nvSpPr>
        <p:spPr>
          <a:xfrm>
            <a:off x="404200" y="16672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Perdidas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Resistencias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Gate 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8D7C026A-4A39-A3FF-50B5-F5575E57B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4910" y="7706406"/>
            <a:ext cx="2019300" cy="523875"/>
          </a:xfrm>
          <a:prstGeom prst="rect">
            <a:avLst/>
          </a:prstGeom>
        </p:spPr>
      </p:pic>
      <p:pic>
        <p:nvPicPr>
          <p:cNvPr id="4" name="Picture 3" descr="A math formula on a grid paper&#10;&#10;AI-generated content may be incorrect.">
            <a:extLst>
              <a:ext uri="{FF2B5EF4-FFF2-40B4-BE49-F238E27FC236}">
                <a16:creationId xmlns:a16="http://schemas.microsoft.com/office/drawing/2014/main" id="{EAC53C76-CC07-1209-CACD-A127E0747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178" y="1836420"/>
            <a:ext cx="11283315" cy="475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31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58;p19">
            <a:extLst>
              <a:ext uri="{FF2B5EF4-FFF2-40B4-BE49-F238E27FC236}">
                <a16:creationId xmlns:a16="http://schemas.microsoft.com/office/drawing/2014/main" id="{91A2378C-4160-8209-E7F2-0AA51F2D177D}"/>
              </a:ext>
            </a:extLst>
          </p:cNvPr>
          <p:cNvSpPr/>
          <p:nvPr/>
        </p:nvSpPr>
        <p:spPr>
          <a:xfrm>
            <a:off x="351949" y="336538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Resistencia de Inductor 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1A31FA66-336C-8C12-CDD8-7D1030618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02" y="1007745"/>
            <a:ext cx="11334750" cy="3105150"/>
          </a:xfrm>
          <a:prstGeom prst="rect">
            <a:avLst/>
          </a:prstGeom>
        </p:spPr>
      </p:pic>
      <p:sp>
        <p:nvSpPr>
          <p:cNvPr id="5" name="Google Shape;258;p19">
            <a:extLst>
              <a:ext uri="{FF2B5EF4-FFF2-40B4-BE49-F238E27FC236}">
                <a16:creationId xmlns:a16="http://schemas.microsoft.com/office/drawing/2014/main" id="{99F34EF0-6EBA-4CA4-197A-D8654CF49252}"/>
              </a:ext>
            </a:extLst>
          </p:cNvPr>
          <p:cNvSpPr/>
          <p:nvPr/>
        </p:nvSpPr>
        <p:spPr>
          <a:xfrm>
            <a:off x="351949" y="4333772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Resistencia de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Capacitores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 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466AB3B-D6CF-421C-66D0-FF92F2CA66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4281" y="7706406"/>
            <a:ext cx="2019300" cy="523875"/>
          </a:xfrm>
          <a:prstGeom prst="rect">
            <a:avLst/>
          </a:prstGeom>
        </p:spPr>
      </p:pic>
      <p:pic>
        <p:nvPicPr>
          <p:cNvPr id="9" name="Picture 8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C3C59436-8D3B-DCC6-80D1-87107BC42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130" y="4898106"/>
            <a:ext cx="6606340" cy="317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802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0CA26CF-8BD1-5450-793F-2ED70867A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7204" y="7621740"/>
            <a:ext cx="2307166" cy="608541"/>
          </a:xfrm>
          <a:prstGeom prst="rect">
            <a:avLst/>
          </a:prstGeom>
        </p:spPr>
      </p:pic>
      <p:sp>
        <p:nvSpPr>
          <p:cNvPr id="4" name="Google Shape;258;p19">
            <a:extLst>
              <a:ext uri="{FF2B5EF4-FFF2-40B4-BE49-F238E27FC236}">
                <a16:creationId xmlns:a16="http://schemas.microsoft.com/office/drawing/2014/main" id="{904DF460-D857-3E94-C6AB-E88018A880C1}"/>
              </a:ext>
            </a:extLst>
          </p:cNvPr>
          <p:cNvSpPr/>
          <p:nvPr/>
        </p:nvSpPr>
        <p:spPr>
          <a:xfrm>
            <a:off x="351949" y="336538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Pérdidas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calculadas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(python)  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9C1898E-B714-A613-6A4B-ECB764F7D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" y="2498408"/>
            <a:ext cx="6686550" cy="3027045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1FA90F6-B02C-A4E4-7798-661EC7D31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1390" y="2585085"/>
            <a:ext cx="6976310" cy="2906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3971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032750-4CE1-ED55-9A6D-03EDDBCFB652}"/>
              </a:ext>
            </a:extLst>
          </p:cNvPr>
          <p:cNvSpPr txBox="1"/>
          <p:nvPr/>
        </p:nvSpPr>
        <p:spPr>
          <a:xfrm>
            <a:off x="919908" y="382836"/>
            <a:ext cx="653300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>
                <a:solidFill>
                  <a:srgbClr val="FAEBEB"/>
                </a:solidFill>
                <a:latin typeface="Dela Gothic One"/>
              </a:rPr>
              <a:t>Criterio</a:t>
            </a:r>
            <a:r>
              <a:rPr lang="en-US" sz="2400">
                <a:solidFill>
                  <a:srgbClr val="FAEBEB"/>
                </a:solidFill>
                <a:latin typeface="Dela Gothic One"/>
              </a:rPr>
              <a:t> de </a:t>
            </a:r>
            <a:r>
              <a:rPr lang="en-US" sz="2400" err="1">
                <a:solidFill>
                  <a:srgbClr val="FAEBEB"/>
                </a:solidFill>
                <a:latin typeface="Dela Gothic One"/>
              </a:rPr>
              <a:t>seleccion</a:t>
            </a:r>
            <a:r>
              <a:rPr lang="en-US" sz="2400">
                <a:solidFill>
                  <a:srgbClr val="FAEBEB"/>
                </a:solidFill>
                <a:latin typeface="Dela Gothic One"/>
              </a:rPr>
              <a:t> de driver</a:t>
            </a: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7902DC6D-DE4D-78B8-F4B3-EBA6F26BD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7998" y="7681319"/>
            <a:ext cx="1866900" cy="5461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D6E02F-3AC2-B2CE-84E7-80F2CEFF8C55}"/>
              </a:ext>
            </a:extLst>
          </p:cNvPr>
          <p:cNvSpPr txBox="1"/>
          <p:nvPr/>
        </p:nvSpPr>
        <p:spPr>
          <a:xfrm>
            <a:off x="906845" y="1589026"/>
            <a:ext cx="8460954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Para </a:t>
            </a:r>
            <a:r>
              <a:rPr lang="en-US" err="1">
                <a:solidFill>
                  <a:schemeClr val="bg1"/>
                </a:solidFill>
              </a:rPr>
              <a:t>el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convertidor</a:t>
            </a:r>
            <a:r>
              <a:rPr lang="en-US">
                <a:solidFill>
                  <a:schemeClr val="bg1"/>
                </a:solidFill>
              </a:rPr>
              <a:t> DC/DC buck </a:t>
            </a:r>
            <a:r>
              <a:rPr lang="en-US" err="1">
                <a:solidFill>
                  <a:schemeClr val="bg1"/>
                </a:solidFill>
              </a:rPr>
              <a:t>bidireccional</a:t>
            </a:r>
            <a:r>
              <a:rPr lang="en-US">
                <a:solidFill>
                  <a:schemeClr val="bg1"/>
                </a:solidFill>
              </a:rPr>
              <a:t>, se </a:t>
            </a:r>
            <a:r>
              <a:rPr lang="en-US" err="1">
                <a:solidFill>
                  <a:schemeClr val="bg1"/>
                </a:solidFill>
              </a:rPr>
              <a:t>requiere</a:t>
            </a:r>
            <a:r>
              <a:rPr lang="en-US">
                <a:solidFill>
                  <a:schemeClr val="bg1"/>
                </a:solidFill>
              </a:rPr>
              <a:t>, un driver de half-bridge </a:t>
            </a:r>
            <a:r>
              <a:rPr lang="en-US" err="1">
                <a:solidFill>
                  <a:schemeClr val="bg1"/>
                </a:solidFill>
              </a:rPr>
              <a:t>que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cumpliera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estos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b="1" err="1">
                <a:solidFill>
                  <a:schemeClr val="bg1"/>
                </a:solidFill>
              </a:rPr>
              <a:t>requisitos</a:t>
            </a:r>
            <a:r>
              <a:rPr lang="en-US" b="1">
                <a:solidFill>
                  <a:schemeClr val="bg1"/>
                </a:solidFill>
              </a:rPr>
              <a:t> </a:t>
            </a:r>
            <a:r>
              <a:rPr lang="en-US" b="1" err="1">
                <a:solidFill>
                  <a:schemeClr val="bg1"/>
                </a:solidFill>
              </a:rPr>
              <a:t>minimos</a:t>
            </a:r>
            <a:r>
              <a:rPr lang="en-US" b="1">
                <a:solidFill>
                  <a:schemeClr val="bg1"/>
                </a:solidFill>
              </a:rPr>
              <a:t>:</a:t>
            </a:r>
          </a:p>
          <a:p>
            <a:endParaRPr lang="en-US">
              <a:solidFill>
                <a:schemeClr val="bg1"/>
              </a:solidFill>
            </a:endParaRPr>
          </a:p>
          <a:p>
            <a:pPr>
              <a:buFont typeface=""/>
              <a:buChar char="•"/>
            </a:pPr>
            <a:r>
              <a:rPr lang="en-US" b="1" err="1">
                <a:solidFill>
                  <a:schemeClr val="bg1"/>
                </a:solidFill>
              </a:rPr>
              <a:t>Configuración</a:t>
            </a:r>
            <a:r>
              <a:rPr lang="en-US" b="1">
                <a:solidFill>
                  <a:schemeClr val="bg1"/>
                </a:solidFill>
              </a:rPr>
              <a:t> half-bridge</a:t>
            </a:r>
            <a:r>
              <a:rPr lang="en-US">
                <a:solidFill>
                  <a:schemeClr val="bg1"/>
                </a:solidFill>
              </a:rPr>
              <a:t>: Control </a:t>
            </a:r>
            <a:r>
              <a:rPr lang="en-US" err="1">
                <a:solidFill>
                  <a:schemeClr val="bg1"/>
                </a:solidFill>
              </a:rPr>
              <a:t>dependiente</a:t>
            </a:r>
            <a:r>
              <a:rPr lang="en-US">
                <a:solidFill>
                  <a:schemeClr val="bg1"/>
                </a:solidFill>
              </a:rPr>
              <a:t> de MOSFETs  (high/low side) para </a:t>
            </a:r>
            <a:r>
              <a:rPr lang="en-US" err="1">
                <a:solidFill>
                  <a:schemeClr val="bg1"/>
                </a:solidFill>
              </a:rPr>
              <a:t>rectificación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síncrona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modos</a:t>
            </a:r>
            <a:r>
              <a:rPr lang="en-US">
                <a:solidFill>
                  <a:schemeClr val="bg1"/>
                </a:solidFill>
              </a:rPr>
              <a:t> buck/boost, con </a:t>
            </a:r>
            <a:r>
              <a:rPr lang="en-US" err="1">
                <a:solidFill>
                  <a:schemeClr val="bg1"/>
                </a:solidFill>
              </a:rPr>
              <a:t>salidas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complementarias</a:t>
            </a:r>
            <a:r>
              <a:rPr lang="en-US">
                <a:solidFill>
                  <a:schemeClr val="bg1"/>
                </a:solidFill>
              </a:rPr>
              <a:t> (HO/LO).</a:t>
            </a:r>
          </a:p>
          <a:p>
            <a:pPr>
              <a:buFont typeface=""/>
              <a:buChar char="•"/>
            </a:pPr>
            <a:endParaRPr lang="en-US">
              <a:solidFill>
                <a:schemeClr val="bg1"/>
              </a:solidFill>
            </a:endParaRPr>
          </a:p>
          <a:p>
            <a:pPr>
              <a:buFont typeface=""/>
              <a:buChar char="•"/>
            </a:pPr>
            <a:endParaRPr lang="en-US">
              <a:solidFill>
                <a:schemeClr val="bg1"/>
              </a:solidFill>
            </a:endParaRPr>
          </a:p>
          <a:p>
            <a:pPr>
              <a:buFont typeface=""/>
              <a:buChar char="•"/>
            </a:pPr>
            <a:r>
              <a:rPr lang="en-US" b="1">
                <a:solidFill>
                  <a:schemeClr val="bg1"/>
                </a:solidFill>
              </a:rPr>
              <a:t>Dead-time</a:t>
            </a:r>
            <a:r>
              <a:rPr lang="en-US">
                <a:solidFill>
                  <a:schemeClr val="bg1"/>
                </a:solidFill>
              </a:rPr>
              <a:t>: para </a:t>
            </a:r>
            <a:r>
              <a:rPr lang="en-US" err="1">
                <a:solidFill>
                  <a:schemeClr val="bg1"/>
                </a:solidFill>
              </a:rPr>
              <a:t>evitar</a:t>
            </a:r>
            <a:r>
              <a:rPr lang="en-US">
                <a:solidFill>
                  <a:schemeClr val="bg1"/>
                </a:solidFill>
              </a:rPr>
              <a:t> shoot-through y </a:t>
            </a:r>
            <a:r>
              <a:rPr lang="en-US" err="1">
                <a:solidFill>
                  <a:schemeClr val="bg1"/>
                </a:solidFill>
              </a:rPr>
              <a:t>reducir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pérdidas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conmutación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rápida</a:t>
            </a:r>
            <a:r>
              <a:rPr lang="en-US">
                <a:solidFill>
                  <a:schemeClr val="bg1"/>
                </a:solidFill>
              </a:rPr>
              <a:t>.</a:t>
            </a:r>
          </a:p>
          <a:p>
            <a:pPr>
              <a:buFont typeface=""/>
              <a:buChar char="•"/>
            </a:pPr>
            <a:endParaRPr lang="en-US">
              <a:solidFill>
                <a:schemeClr val="bg1"/>
              </a:solidFill>
            </a:endParaRPr>
          </a:p>
          <a:p>
            <a:pPr>
              <a:buFont typeface=""/>
              <a:buChar char="•"/>
            </a:pPr>
            <a:r>
              <a:rPr lang="en-US" b="1" err="1">
                <a:solidFill>
                  <a:schemeClr val="bg1"/>
                </a:solidFill>
              </a:rPr>
              <a:t>Capacidad</a:t>
            </a:r>
            <a:r>
              <a:rPr lang="en-US" b="1">
                <a:solidFill>
                  <a:schemeClr val="bg1"/>
                </a:solidFill>
              </a:rPr>
              <a:t> de drive</a:t>
            </a:r>
            <a:r>
              <a:rPr lang="en-US">
                <a:solidFill>
                  <a:schemeClr val="bg1"/>
                </a:solidFill>
              </a:rPr>
              <a:t>: </a:t>
            </a:r>
            <a:r>
              <a:rPr lang="en-US" err="1">
                <a:solidFill>
                  <a:schemeClr val="bg1"/>
                </a:solidFill>
              </a:rPr>
              <a:t>apto</a:t>
            </a:r>
            <a:r>
              <a:rPr lang="en-US">
                <a:solidFill>
                  <a:schemeClr val="bg1"/>
                </a:solidFill>
              </a:rPr>
              <a:t> para </a:t>
            </a:r>
            <a:r>
              <a:rPr lang="en-US" err="1">
                <a:solidFill>
                  <a:schemeClr val="bg1"/>
                </a:solidFill>
              </a:rPr>
              <a:t>tiempos</a:t>
            </a:r>
            <a:r>
              <a:rPr lang="en-US">
                <a:solidFill>
                  <a:schemeClr val="bg1"/>
                </a:solidFill>
              </a:rPr>
              <a:t> de </a:t>
            </a:r>
            <a:r>
              <a:rPr lang="en-US" err="1">
                <a:solidFill>
                  <a:schemeClr val="bg1"/>
                </a:solidFill>
              </a:rPr>
              <a:t>conmutación</a:t>
            </a:r>
            <a:r>
              <a:rPr lang="en-US">
                <a:solidFill>
                  <a:schemeClr val="bg1"/>
                </a:solidFill>
              </a:rPr>
              <a:t> &lt;1 µs, </a:t>
            </a:r>
            <a:r>
              <a:rPr lang="en-US" err="1">
                <a:solidFill>
                  <a:schemeClr val="bg1"/>
                </a:solidFill>
              </a:rPr>
              <a:t>minimizando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calentamiento</a:t>
            </a:r>
            <a:r>
              <a:rPr lang="en-US">
                <a:solidFill>
                  <a:schemeClr val="bg1"/>
                </a:solidFill>
              </a:rPr>
              <a:t> y </a:t>
            </a:r>
            <a:r>
              <a:rPr lang="en-US" err="1">
                <a:solidFill>
                  <a:schemeClr val="bg1"/>
                </a:solidFill>
              </a:rPr>
              <a:t>asegurando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correcto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funcionamiento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60 kHz.</a:t>
            </a:r>
          </a:p>
          <a:p>
            <a:pPr>
              <a:buFont typeface=""/>
              <a:buChar char="•"/>
            </a:pPr>
            <a:endParaRPr lang="en-US">
              <a:solidFill>
                <a:schemeClr val="bg1"/>
              </a:solidFill>
            </a:endParaRPr>
          </a:p>
          <a:p>
            <a:pPr>
              <a:buFont typeface=""/>
              <a:buChar char="•"/>
            </a:pPr>
            <a:r>
              <a:rPr lang="en-US" b="1" err="1">
                <a:solidFill>
                  <a:schemeClr val="bg1"/>
                </a:solidFill>
              </a:rPr>
              <a:t>Protecciones</a:t>
            </a:r>
            <a:r>
              <a:rPr lang="en-US" b="1">
                <a:solidFill>
                  <a:schemeClr val="bg1"/>
                </a:solidFill>
              </a:rPr>
              <a:t> </a:t>
            </a:r>
            <a:r>
              <a:rPr lang="en-US" b="1" err="1">
                <a:solidFill>
                  <a:schemeClr val="bg1"/>
                </a:solidFill>
              </a:rPr>
              <a:t>esenciales</a:t>
            </a:r>
            <a:r>
              <a:rPr lang="en-US">
                <a:solidFill>
                  <a:schemeClr val="bg1"/>
                </a:solidFill>
              </a:rPr>
              <a:t>: UVLO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ambos canales, </a:t>
            </a:r>
            <a:r>
              <a:rPr lang="en-US" err="1">
                <a:solidFill>
                  <a:schemeClr val="bg1"/>
                </a:solidFill>
              </a:rPr>
              <a:t>inmunidad</a:t>
            </a:r>
            <a:r>
              <a:rPr lang="en-US">
                <a:solidFill>
                  <a:schemeClr val="bg1"/>
                </a:solidFill>
              </a:rPr>
              <a:t> a </a:t>
            </a:r>
            <a:r>
              <a:rPr lang="en-US" err="1">
                <a:solidFill>
                  <a:schemeClr val="bg1"/>
                </a:solidFill>
              </a:rPr>
              <a:t>dV</a:t>
            </a:r>
            <a:r>
              <a:rPr lang="en-US">
                <a:solidFill>
                  <a:schemeClr val="bg1"/>
                </a:solidFill>
              </a:rPr>
              <a:t>/dt y </a:t>
            </a:r>
            <a:r>
              <a:rPr lang="en-US" err="1">
                <a:solidFill>
                  <a:schemeClr val="bg1"/>
                </a:solidFill>
              </a:rPr>
              <a:t>ruido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compatibilidad</a:t>
            </a:r>
            <a:r>
              <a:rPr lang="en-US">
                <a:solidFill>
                  <a:schemeClr val="bg1"/>
                </a:solidFill>
              </a:rPr>
              <a:t> con </a:t>
            </a:r>
            <a:r>
              <a:rPr lang="en-US" err="1">
                <a:solidFill>
                  <a:schemeClr val="bg1"/>
                </a:solidFill>
              </a:rPr>
              <a:t>lógica</a:t>
            </a:r>
            <a:r>
              <a:rPr lang="en-US">
                <a:solidFill>
                  <a:schemeClr val="bg1"/>
                </a:solidFill>
              </a:rPr>
              <a:t> 3.3V/5V.</a:t>
            </a:r>
          </a:p>
          <a:p>
            <a:pPr>
              <a:buFont typeface=""/>
              <a:buChar char="•"/>
            </a:pPr>
            <a:endParaRPr lang="en-US">
              <a:solidFill>
                <a:schemeClr val="bg1"/>
              </a:solidFill>
            </a:endParaRPr>
          </a:p>
          <a:p>
            <a:pPr>
              <a:buFont typeface=""/>
              <a:buChar char="•"/>
            </a:pPr>
            <a:r>
              <a:rPr lang="en-US" b="1" err="1">
                <a:solidFill>
                  <a:schemeClr val="bg1"/>
                </a:solidFill>
              </a:rPr>
              <a:t>Eficiencia</a:t>
            </a:r>
            <a:r>
              <a:rPr lang="en-US" b="1">
                <a:solidFill>
                  <a:schemeClr val="bg1"/>
                </a:solidFill>
              </a:rPr>
              <a:t> y </a:t>
            </a:r>
            <a:r>
              <a:rPr lang="en-US" b="1" err="1">
                <a:solidFill>
                  <a:schemeClr val="bg1"/>
                </a:solidFill>
              </a:rPr>
              <a:t>costo</a:t>
            </a:r>
            <a:r>
              <a:rPr lang="en-US">
                <a:solidFill>
                  <a:schemeClr val="bg1"/>
                </a:solidFill>
              </a:rPr>
              <a:t>: Bajo </a:t>
            </a:r>
            <a:r>
              <a:rPr lang="en-US" err="1">
                <a:solidFill>
                  <a:schemeClr val="bg1"/>
                </a:solidFill>
              </a:rPr>
              <a:t>consumo</a:t>
            </a:r>
            <a:r>
              <a:rPr lang="en-US">
                <a:solidFill>
                  <a:schemeClr val="bg1"/>
                </a:solidFill>
              </a:rPr>
              <a:t>, </a:t>
            </a:r>
            <a:r>
              <a:rPr lang="en-US" err="1">
                <a:solidFill>
                  <a:schemeClr val="bg1"/>
                </a:solidFill>
              </a:rPr>
              <a:t>paquete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pequeño</a:t>
            </a:r>
            <a:r>
              <a:rPr lang="en-US">
                <a:solidFill>
                  <a:schemeClr val="bg1"/>
                </a:solidFill>
              </a:rPr>
              <a:t>, y </a:t>
            </a:r>
            <a:r>
              <a:rPr lang="en-US" err="1">
                <a:solidFill>
                  <a:schemeClr val="bg1"/>
                </a:solidFill>
              </a:rPr>
              <a:t>disponibilidad</a:t>
            </a:r>
            <a:r>
              <a:rPr lang="en-US">
                <a:solidFill>
                  <a:schemeClr val="bg1"/>
                </a:solidFill>
              </a:rPr>
              <a:t> local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Chile.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F37579-4670-E3A5-6E2B-77EDC83DA8D9}"/>
              </a:ext>
            </a:extLst>
          </p:cNvPr>
          <p:cNvSpPr txBox="1"/>
          <p:nvPr/>
        </p:nvSpPr>
        <p:spPr>
          <a:xfrm>
            <a:off x="919908" y="5472629"/>
            <a:ext cx="844993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Se </a:t>
            </a:r>
            <a:r>
              <a:rPr lang="en-US" err="1">
                <a:solidFill>
                  <a:schemeClr val="bg1"/>
                </a:solidFill>
              </a:rPr>
              <a:t>inspecciono</a:t>
            </a:r>
            <a:r>
              <a:rPr lang="en-US">
                <a:solidFill>
                  <a:schemeClr val="bg1"/>
                </a:solidFill>
              </a:rPr>
              <a:t> la </a:t>
            </a:r>
            <a:r>
              <a:rPr lang="en-US" err="1">
                <a:solidFill>
                  <a:schemeClr val="bg1"/>
                </a:solidFill>
              </a:rPr>
              <a:t>guía</a:t>
            </a:r>
            <a:r>
              <a:rPr lang="en-US">
                <a:solidFill>
                  <a:schemeClr val="bg1"/>
                </a:solidFill>
              </a:rPr>
              <a:t> de </a:t>
            </a:r>
            <a:r>
              <a:rPr lang="en-US" err="1">
                <a:solidFill>
                  <a:schemeClr val="bg1"/>
                </a:solidFill>
              </a:rPr>
              <a:t>selección</a:t>
            </a:r>
            <a:r>
              <a:rPr lang="en-US">
                <a:solidFill>
                  <a:schemeClr val="bg1"/>
                </a:solidFill>
              </a:rPr>
              <a:t> de drivers MOSFET de Microchip, sin embargo, </a:t>
            </a:r>
            <a:r>
              <a:rPr lang="en-US" err="1">
                <a:solidFill>
                  <a:schemeClr val="bg1"/>
                </a:solidFill>
              </a:rPr>
              <a:t>muchos</a:t>
            </a:r>
            <a:r>
              <a:rPr lang="en-US">
                <a:solidFill>
                  <a:schemeClr val="bg1"/>
                </a:solidFill>
              </a:rPr>
              <a:t> de </a:t>
            </a:r>
            <a:r>
              <a:rPr lang="en-US" err="1">
                <a:solidFill>
                  <a:schemeClr val="bg1"/>
                </a:solidFill>
              </a:rPr>
              <a:t>estos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estaban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sobredimensionados</a:t>
            </a:r>
            <a:r>
              <a:rPr lang="en-US">
                <a:solidFill>
                  <a:schemeClr val="bg1"/>
                </a:solidFill>
              </a:rPr>
              <a:t> para </a:t>
            </a:r>
            <a:r>
              <a:rPr lang="en-US" err="1">
                <a:solidFill>
                  <a:schemeClr val="bg1"/>
                </a:solidFill>
              </a:rPr>
              <a:t>nuestra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aplicación</a:t>
            </a:r>
            <a:r>
              <a:rPr lang="en-US">
                <a:solidFill>
                  <a:schemeClr val="bg1"/>
                </a:solidFill>
              </a:rPr>
              <a:t>, lo </a:t>
            </a:r>
            <a:r>
              <a:rPr lang="en-US" err="1">
                <a:solidFill>
                  <a:schemeClr val="bg1"/>
                </a:solidFill>
              </a:rPr>
              <a:t>que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elevaría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costos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innecesarios</a:t>
            </a:r>
            <a:r>
              <a:rPr lang="en-US">
                <a:solidFill>
                  <a:schemeClr val="bg1"/>
                </a:solidFill>
              </a:rPr>
              <a:t>, o, </a:t>
            </a:r>
            <a:r>
              <a:rPr lang="en-US" err="1">
                <a:solidFill>
                  <a:schemeClr val="bg1"/>
                </a:solidFill>
              </a:rPr>
              <a:t>el</a:t>
            </a:r>
            <a:r>
              <a:rPr lang="en-US">
                <a:solidFill>
                  <a:schemeClr val="bg1"/>
                </a:solidFill>
              </a:rPr>
              <a:t> factor principal, no </a:t>
            </a:r>
            <a:r>
              <a:rPr lang="en-US" err="1">
                <a:solidFill>
                  <a:schemeClr val="bg1"/>
                </a:solidFill>
              </a:rPr>
              <a:t>estaban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disponibles</a:t>
            </a:r>
            <a:r>
              <a:rPr lang="en-US">
                <a:solidFill>
                  <a:schemeClr val="bg1"/>
                </a:solidFill>
              </a:rPr>
              <a:t> para </a:t>
            </a:r>
            <a:r>
              <a:rPr lang="en-US" err="1">
                <a:solidFill>
                  <a:schemeClr val="bg1"/>
                </a:solidFill>
              </a:rPr>
              <a:t>compra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directa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en</a:t>
            </a:r>
            <a:r>
              <a:rPr lang="en-US">
                <a:solidFill>
                  <a:schemeClr val="bg1"/>
                </a:solidFill>
              </a:rPr>
              <a:t> Chile.</a:t>
            </a:r>
          </a:p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155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94EE3BB-C850-1AEA-108D-3E8BA5859033}"/>
              </a:ext>
            </a:extLst>
          </p:cNvPr>
          <p:cNvSpPr>
            <a:spLocks noGrp="1"/>
          </p:cNvSpPr>
          <p:nvPr/>
        </p:nvSpPr>
        <p:spPr>
          <a:xfrm>
            <a:off x="300337" y="1799422"/>
            <a:ext cx="6061906" cy="4324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74320" indent="-27432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66344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Tx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40080" indent="-18288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20B0604020202020204" pitchFamily="34" charset="0"/>
              <a:buChar char="ü"/>
            </a:pPr>
            <a:r>
              <a:rPr lang="es-ES" sz="1400" b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Bootstrap para lado alto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: Permite control de </a:t>
            </a:r>
            <a:r>
              <a:rPr lang="es-ES" sz="1400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MOSFETs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 sin fuente aislada, reduciendo costos, es inmune a </a:t>
            </a:r>
            <a:r>
              <a:rPr lang="es-ES" sz="1400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transientes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 </a:t>
            </a:r>
            <a:r>
              <a:rPr lang="es-ES" sz="1400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dV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/</a:t>
            </a:r>
            <a:r>
              <a:rPr lang="es-ES" sz="1400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dt</a:t>
            </a:r>
            <a:endParaRPr lang="es-ES" sz="1400">
              <a:solidFill>
                <a:schemeClr val="bg1"/>
              </a:solidFill>
              <a:latin typeface="DM Sans"/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ü"/>
            </a:pP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.</a:t>
            </a:r>
            <a:r>
              <a:rPr lang="es-ES" sz="1400" b="1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Dead</a:t>
            </a:r>
            <a:r>
              <a:rPr lang="es-ES" sz="1400" b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-time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: Evita "</a:t>
            </a:r>
            <a:r>
              <a:rPr lang="es-ES" sz="1400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shoot-through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" con tiempo muerto (400-600 </a:t>
            </a:r>
            <a:r>
              <a:rPr lang="es-ES" sz="1400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ns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).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s-ES" sz="1400" b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Alta corriente de drive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: 1.4 A </a:t>
            </a:r>
            <a:r>
              <a:rPr lang="es-ES" sz="1400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source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 / 1.8 A </a:t>
            </a:r>
            <a:r>
              <a:rPr lang="es-ES" sz="1400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sink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, con tiempos de conmutación rápidos , minimizando pérdidas.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s-ES" sz="1400" b="1" err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Proteccion</a:t>
            </a:r>
            <a:r>
              <a:rPr lang="es-ES" sz="1400" b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 integrada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: UVLO, garantizando fiabilidad ante variaciones de voltaje.</a:t>
            </a:r>
          </a:p>
          <a:p>
            <a:pPr>
              <a:buFont typeface="Wingdings" panose="020B0604020202020204" pitchFamily="34" charset="0"/>
              <a:buChar char="ü"/>
            </a:pPr>
            <a:r>
              <a:rPr lang="es-ES" sz="1400" b="1">
                <a:solidFill>
                  <a:schemeClr val="bg1"/>
                </a:solidFill>
                <a:latin typeface="DM Sans"/>
                <a:ea typeface="+mn-lt"/>
                <a:cs typeface="+mn-lt"/>
              </a:rPr>
              <a:t>Compatibilidad</a:t>
            </a:r>
            <a:r>
              <a:rPr lang="es-ES" sz="1400">
                <a:solidFill>
                  <a:schemeClr val="bg1"/>
                </a:solidFill>
                <a:latin typeface="DM Sans"/>
                <a:ea typeface="+mn-lt"/>
                <a:cs typeface="+mn-lt"/>
              </a:rPr>
              <a:t>: Funciona con lógica 3.3 V/5 V, compatible con la señal del PIC a futuro, inmune a ruido, ideal para diseños compactos.</a:t>
            </a:r>
            <a:endParaRPr lang="es-ES" sz="1400">
              <a:solidFill>
                <a:schemeClr val="bg1"/>
              </a:solidFill>
              <a:latin typeface="DM Sans"/>
              <a:cs typeface="Arial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EDCA19B9-9B24-91AD-BAFE-9BECE64F8CE9}"/>
              </a:ext>
            </a:extLst>
          </p:cNvPr>
          <p:cNvSpPr txBox="1"/>
          <p:nvPr/>
        </p:nvSpPr>
        <p:spPr>
          <a:xfrm>
            <a:off x="299944" y="1321058"/>
            <a:ext cx="2743199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err="1">
                <a:solidFill>
                  <a:schemeClr val="bg1"/>
                </a:solidFill>
                <a:latin typeface="DM Sans"/>
              </a:rPr>
              <a:t>Ventajas</a:t>
            </a:r>
            <a:endParaRPr lang="en-US" b="1">
              <a:solidFill>
                <a:schemeClr val="bg1"/>
              </a:solidFill>
              <a:latin typeface="DM Sans"/>
              <a:cs typeface="Arial"/>
            </a:endParaRPr>
          </a:p>
          <a:p>
            <a:endParaRPr lang="en-US" b="1">
              <a:solidFill>
                <a:schemeClr val="bg1"/>
              </a:solidFill>
              <a:cs typeface="Arial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248D0082-9F06-1650-64E3-16CA47E9D538}"/>
              </a:ext>
            </a:extLst>
          </p:cNvPr>
          <p:cNvSpPr txBox="1"/>
          <p:nvPr/>
        </p:nvSpPr>
        <p:spPr>
          <a:xfrm>
            <a:off x="6514641" y="1795749"/>
            <a:ext cx="4469175" cy="310854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"/>
              <a:buChar char="•"/>
            </a:pPr>
            <a:r>
              <a:rPr lang="en-US" sz="1400" err="1">
                <a:solidFill>
                  <a:schemeClr val="bg1"/>
                </a:solidFill>
                <a:latin typeface="DM Sans"/>
              </a:rPr>
              <a:t>Equilibrio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entre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rendimiento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y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costo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para 5 W.</a:t>
            </a:r>
          </a:p>
          <a:p>
            <a:pPr marL="228600" indent="-228600">
              <a:buFont typeface=""/>
              <a:buChar char="•"/>
            </a:pPr>
            <a:endParaRPr lang="en-US" sz="1400">
              <a:solidFill>
                <a:schemeClr val="bg1"/>
              </a:solidFill>
              <a:latin typeface="DM Sans"/>
            </a:endParaRPr>
          </a:p>
          <a:p>
            <a:pPr marL="228600" indent="-228600">
              <a:buFont typeface=""/>
              <a:buChar char="•"/>
            </a:pPr>
            <a:r>
              <a:rPr lang="en-US" sz="1400" err="1">
                <a:solidFill>
                  <a:schemeClr val="bg1"/>
                </a:solidFill>
                <a:latin typeface="DM Sans"/>
              </a:rPr>
              <a:t>Diseñado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para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convertidores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síncronos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, perfecto para buck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bidireccional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.</a:t>
            </a:r>
            <a:endParaRPr lang="en-US" sz="1400">
              <a:solidFill>
                <a:schemeClr val="bg1"/>
              </a:solidFill>
              <a:latin typeface="DM Sans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1400">
              <a:solidFill>
                <a:schemeClr val="bg1"/>
              </a:solidFill>
              <a:latin typeface="DM Sans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400" err="1">
                <a:solidFill>
                  <a:schemeClr val="bg1"/>
                </a:solidFill>
                <a:latin typeface="DM Sans"/>
              </a:rPr>
              <a:t>Ampliamente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disponible, y compatible con MOSFETs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estándar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.</a:t>
            </a:r>
            <a:endParaRPr lang="en-US" sz="1400">
              <a:solidFill>
                <a:schemeClr val="bg1"/>
              </a:solidFill>
              <a:latin typeface="DM Sans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1400">
              <a:solidFill>
                <a:schemeClr val="bg1"/>
              </a:solidFill>
              <a:latin typeface="DM Sans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400" err="1">
                <a:solidFill>
                  <a:schemeClr val="bg1"/>
                </a:solidFill>
                <a:latin typeface="DM Sans"/>
              </a:rPr>
              <a:t>Simplifica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diseño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sin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sobreespecificar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, ideal para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prototipos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o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producciones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pequeñas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.</a:t>
            </a:r>
            <a:endParaRPr lang="en-US" sz="1400">
              <a:solidFill>
                <a:schemeClr val="bg1"/>
              </a:solidFill>
              <a:latin typeface="DM Sans"/>
              <a:cs typeface="Arial"/>
            </a:endParaRPr>
          </a:p>
          <a:p>
            <a:pPr marL="228600" indent="-228600">
              <a:buFont typeface=""/>
              <a:buChar char="•"/>
            </a:pPr>
            <a:endParaRPr lang="en-US" sz="1400">
              <a:solidFill>
                <a:schemeClr val="bg1"/>
              </a:solidFill>
              <a:latin typeface="DM Sans"/>
              <a:cs typeface="Arial"/>
            </a:endParaRPr>
          </a:p>
          <a:p>
            <a:pPr marL="228600" indent="-228600">
              <a:buFont typeface=""/>
              <a:buChar char="•"/>
            </a:pPr>
            <a:r>
              <a:rPr lang="en-US" sz="1400" err="1">
                <a:solidFill>
                  <a:schemeClr val="bg1"/>
                </a:solidFill>
                <a:latin typeface="DM Sans"/>
              </a:rPr>
              <a:t>Usado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especificamente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para un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convertidor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buck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sincrono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por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profecionales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y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generaciones</a:t>
            </a:r>
            <a:r>
              <a:rPr lang="en-US" sz="1400">
                <a:solidFill>
                  <a:schemeClr val="bg1"/>
                </a:solidFill>
                <a:latin typeface="DM Sans"/>
              </a:rPr>
              <a:t> </a:t>
            </a:r>
            <a:r>
              <a:rPr lang="en-US" sz="1400" err="1">
                <a:solidFill>
                  <a:schemeClr val="bg1"/>
                </a:solidFill>
                <a:latin typeface="DM Sans"/>
              </a:rPr>
              <a:t>anteriores</a:t>
            </a:r>
            <a:endParaRPr lang="en-US" sz="1400">
              <a:solidFill>
                <a:schemeClr val="bg1"/>
              </a:solidFill>
              <a:latin typeface="DM Sans"/>
              <a:cs typeface="Arial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C6360823-19A7-89EA-CA28-52128D1D7FE6}"/>
              </a:ext>
            </a:extLst>
          </p:cNvPr>
          <p:cNvSpPr txBox="1"/>
          <p:nvPr/>
        </p:nvSpPr>
        <p:spPr>
          <a:xfrm>
            <a:off x="6514641" y="1318352"/>
            <a:ext cx="27432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err="1">
                <a:solidFill>
                  <a:schemeClr val="bg1"/>
                </a:solidFill>
                <a:latin typeface="DM Sans"/>
              </a:rPr>
              <a:t>Razones</a:t>
            </a:r>
            <a:r>
              <a:rPr lang="en-US" b="1">
                <a:solidFill>
                  <a:schemeClr val="bg1"/>
                </a:solidFill>
                <a:latin typeface="DM Sans"/>
              </a:rPr>
              <a:t> de la </a:t>
            </a:r>
            <a:r>
              <a:rPr lang="en-US" b="1" err="1">
                <a:solidFill>
                  <a:schemeClr val="bg1"/>
                </a:solidFill>
                <a:latin typeface="DM Sans"/>
              </a:rPr>
              <a:t>elección</a:t>
            </a:r>
            <a:endParaRPr lang="en-US" b="1">
              <a:solidFill>
                <a:schemeClr val="bg1"/>
              </a:solidFill>
              <a:latin typeface="DM Sans"/>
              <a:cs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6E86CB00-B237-7565-82DA-A1E4C415674B}"/>
              </a:ext>
            </a:extLst>
          </p:cNvPr>
          <p:cNvSpPr txBox="1"/>
          <p:nvPr/>
        </p:nvSpPr>
        <p:spPr>
          <a:xfrm>
            <a:off x="550481" y="5899847"/>
            <a:ext cx="6452936" cy="45140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350"/>
              </a:lnSpc>
            </a:pPr>
            <a:r>
              <a:rPr lang="es-ES" sz="1200" b="1">
                <a:solidFill>
                  <a:schemeClr val="bg1"/>
                </a:solidFill>
                <a:latin typeface="DM Sans"/>
                <a:cs typeface="Segoe UI"/>
              </a:rPr>
              <a:t>Referencia para </a:t>
            </a:r>
            <a:r>
              <a:rPr lang="es-ES" sz="1200" b="1" err="1">
                <a:solidFill>
                  <a:schemeClr val="bg1"/>
                </a:solidFill>
                <a:latin typeface="DM Sans"/>
                <a:cs typeface="Segoe UI"/>
              </a:rPr>
              <a:t>eleccion</a:t>
            </a:r>
            <a:r>
              <a:rPr lang="es-ES" sz="1200" b="1">
                <a:solidFill>
                  <a:schemeClr val="bg1"/>
                </a:solidFill>
                <a:latin typeface="DM Sans"/>
                <a:cs typeface="Segoe UI"/>
              </a:rPr>
              <a:t> de driver</a:t>
            </a:r>
            <a:r>
              <a:rPr lang="es-ES" sz="1200">
                <a:solidFill>
                  <a:schemeClr val="bg1"/>
                </a:solidFill>
                <a:latin typeface="DM Sans"/>
                <a:cs typeface="Segoe UI"/>
              </a:rPr>
              <a:t>:</a:t>
            </a:r>
            <a:r>
              <a:rPr lang="es-ES" sz="1200" b="1">
                <a:solidFill>
                  <a:schemeClr val="bg1"/>
                </a:solidFill>
                <a:latin typeface="DM Sans"/>
                <a:cs typeface="Segoe UI"/>
              </a:rPr>
              <a:t> </a:t>
            </a:r>
            <a:r>
              <a:rPr lang="es-ES" sz="1200">
                <a:solidFill>
                  <a:schemeClr val="bg1"/>
                </a:solidFill>
                <a:latin typeface="DM Sans"/>
                <a:cs typeface="Segoe UI"/>
              </a:rPr>
              <a:t>​</a:t>
            </a:r>
          </a:p>
          <a:p>
            <a:pPr>
              <a:lnSpc>
                <a:spcPts val="1350"/>
              </a:lnSpc>
            </a:pPr>
            <a:r>
              <a:rPr lang="es-ES" sz="1200">
                <a:solidFill>
                  <a:schemeClr val="bg1"/>
                </a:solidFill>
                <a:latin typeface="DM Sans"/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https://www.youtube.com/watch?v=W4i2FRZ8gXc&amp;t=86s</a:t>
            </a:r>
            <a:endParaRPr lang="es-ES">
              <a:solidFill>
                <a:schemeClr val="bg1"/>
              </a:solidFill>
              <a:latin typeface="DM Sans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8" name="Google Shape;258;p19">
            <a:extLst>
              <a:ext uri="{FF2B5EF4-FFF2-40B4-BE49-F238E27FC236}">
                <a16:creationId xmlns:a16="http://schemas.microsoft.com/office/drawing/2014/main" id="{23298DD8-E549-765B-5CF7-589DE21596D7}"/>
              </a:ext>
            </a:extLst>
          </p:cNvPr>
          <p:cNvSpPr/>
          <p:nvPr/>
        </p:nvSpPr>
        <p:spPr>
          <a:xfrm>
            <a:off x="351949" y="336538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Driver IR2184  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5F667C8-F26B-CDA9-39C0-1D8C5A219D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96838" y="7679055"/>
            <a:ext cx="1838325" cy="552450"/>
          </a:xfrm>
          <a:prstGeom prst="rect">
            <a:avLst/>
          </a:prstGeom>
        </p:spPr>
      </p:pic>
      <p:pic>
        <p:nvPicPr>
          <p:cNvPr id="10" name="Picture 9" descr="Amazon.com: ACEIRMC 4pcs 1CH Optoacoplador PC817 1 canal de aislamiento de  la placa de aislamiento Convertidor de voltaje Módulo adaptador 3.6-30V  controlador fotoeléctrico aislado módulo (10pcs 1CH : Industrial y  Científico">
            <a:extLst>
              <a:ext uri="{FF2B5EF4-FFF2-40B4-BE49-F238E27FC236}">
                <a16:creationId xmlns:a16="http://schemas.microsoft.com/office/drawing/2014/main" id="{38ADBB82-DCAE-25FB-672D-0E900595D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3438" y="5904411"/>
            <a:ext cx="1733550" cy="1828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E958EC-546F-C921-A471-530A34803181}"/>
              </a:ext>
            </a:extLst>
          </p:cNvPr>
          <p:cNvSpPr txBox="1"/>
          <p:nvPr/>
        </p:nvSpPr>
        <p:spPr>
          <a:xfrm>
            <a:off x="8606790" y="5966459"/>
            <a:ext cx="1828800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Nota: </a:t>
            </a:r>
            <a:r>
              <a:rPr lang="en-US" err="1">
                <a:solidFill>
                  <a:schemeClr val="bg1"/>
                </a:solidFill>
              </a:rPr>
              <a:t>este</a:t>
            </a:r>
            <a:r>
              <a:rPr lang="en-US">
                <a:solidFill>
                  <a:schemeClr val="bg1"/>
                </a:solidFill>
              </a:rPr>
              <a:t> driver </a:t>
            </a:r>
            <a:r>
              <a:rPr lang="en-US" err="1">
                <a:solidFill>
                  <a:schemeClr val="bg1"/>
                </a:solidFill>
              </a:rPr>
              <a:t>debe</a:t>
            </a:r>
            <a:r>
              <a:rPr lang="en-US">
                <a:solidFill>
                  <a:schemeClr val="bg1"/>
                </a:solidFill>
              </a:rPr>
              <a:t> ser </a:t>
            </a:r>
            <a:r>
              <a:rPr lang="en-US" err="1">
                <a:solidFill>
                  <a:schemeClr val="bg1"/>
                </a:solidFill>
              </a:rPr>
              <a:t>complementado</a:t>
            </a:r>
            <a:r>
              <a:rPr lang="en-US">
                <a:solidFill>
                  <a:schemeClr val="bg1"/>
                </a:solidFill>
              </a:rPr>
              <a:t> con un </a:t>
            </a:r>
            <a:r>
              <a:rPr lang="en-US" err="1">
                <a:solidFill>
                  <a:schemeClr val="bg1"/>
                </a:solidFill>
              </a:rPr>
              <a:t>módulo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optoacoplador</a:t>
            </a:r>
            <a:r>
              <a:rPr lang="en-US">
                <a:solidFill>
                  <a:schemeClr val="bg1"/>
                </a:solidFill>
              </a:rPr>
              <a:t> </a:t>
            </a:r>
            <a:r>
              <a:rPr lang="en-US" err="1">
                <a:solidFill>
                  <a:schemeClr val="bg1"/>
                </a:solidFill>
              </a:rPr>
              <a:t>ya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que</a:t>
            </a:r>
            <a:r>
              <a:rPr lang="en-US">
                <a:solidFill>
                  <a:schemeClr val="bg1"/>
                </a:solidFill>
              </a:rPr>
              <a:t> no </a:t>
            </a:r>
            <a:r>
              <a:rPr lang="en-US" err="1">
                <a:solidFill>
                  <a:schemeClr val="bg1"/>
                </a:solidFill>
              </a:rPr>
              <a:t>cuenta</a:t>
            </a:r>
            <a:r>
              <a:rPr lang="en-US">
                <a:solidFill>
                  <a:schemeClr val="bg1"/>
                </a:solidFill>
              </a:rPr>
              <a:t> con </a:t>
            </a:r>
            <a:r>
              <a:rPr lang="en-US" err="1">
                <a:solidFill>
                  <a:schemeClr val="bg1"/>
                </a:solidFill>
              </a:rPr>
              <a:t>aislación</a:t>
            </a:r>
            <a:r>
              <a:rPr lang="en-US">
                <a:solidFill>
                  <a:schemeClr val="bg1"/>
                </a:solidFill>
              </a:rPr>
              <a:t> </a:t>
            </a:r>
            <a:r>
              <a:rPr lang="en-US" err="1">
                <a:solidFill>
                  <a:schemeClr val="bg1"/>
                </a:solidFill>
              </a:rPr>
              <a:t>propia</a:t>
            </a:r>
          </a:p>
        </p:txBody>
      </p:sp>
    </p:spTree>
    <p:extLst>
      <p:ext uri="{BB962C8B-B14F-4D97-AF65-F5344CB8AC3E}">
        <p14:creationId xmlns:p14="http://schemas.microsoft.com/office/powerpoint/2010/main" val="3190178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A diagram of a machine&#10;&#10;AI-generated content may be incorrect.">
            <a:extLst>
              <a:ext uri="{FF2B5EF4-FFF2-40B4-BE49-F238E27FC236}">
                <a16:creationId xmlns:a16="http://schemas.microsoft.com/office/drawing/2014/main" id="{6175E769-5330-BF77-CF54-3B64001CD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32" y="1070337"/>
            <a:ext cx="6524625" cy="3810000"/>
          </a:xfrm>
          <a:prstGeom prst="rect">
            <a:avLst/>
          </a:prstGeom>
        </p:spPr>
      </p:pic>
      <p:pic>
        <p:nvPicPr>
          <p:cNvPr id="3" name="Imagen 2" descr="A table with text and symbols&#10;&#10;AI-generated content may be incorrect.">
            <a:extLst>
              <a:ext uri="{FF2B5EF4-FFF2-40B4-BE49-F238E27FC236}">
                <a16:creationId xmlns:a16="http://schemas.microsoft.com/office/drawing/2014/main" id="{66477BD7-5D05-90F7-7271-10BD68846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15" y="5132070"/>
            <a:ext cx="7239000" cy="282892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3EBF55B-CA62-0DBF-DB50-679BE67DC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53147" y="7679055"/>
            <a:ext cx="1968953" cy="552450"/>
          </a:xfrm>
          <a:prstGeom prst="rect">
            <a:avLst/>
          </a:prstGeom>
        </p:spPr>
      </p:pic>
      <p:pic>
        <p:nvPicPr>
          <p:cNvPr id="5" name="Imagen 4" descr="A diagram of a circuit&#10;&#10;AI-generated content may be incorrect.">
            <a:extLst>
              <a:ext uri="{FF2B5EF4-FFF2-40B4-BE49-F238E27FC236}">
                <a16:creationId xmlns:a16="http://schemas.microsoft.com/office/drawing/2014/main" id="{B91C1EA2-C92F-3479-CA53-74D878D9A3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1452" y="1563868"/>
            <a:ext cx="3219450" cy="2828925"/>
          </a:xfrm>
          <a:prstGeom prst="rect">
            <a:avLst/>
          </a:prstGeom>
        </p:spPr>
      </p:pic>
      <p:sp>
        <p:nvSpPr>
          <p:cNvPr id="7" name="Google Shape;258;p19">
            <a:extLst>
              <a:ext uri="{FF2B5EF4-FFF2-40B4-BE49-F238E27FC236}">
                <a16:creationId xmlns:a16="http://schemas.microsoft.com/office/drawing/2014/main" id="{B8930007-2C3C-62C6-29F8-BEA825E4A2A8}"/>
              </a:ext>
            </a:extLst>
          </p:cNvPr>
          <p:cNvSpPr/>
          <p:nvPr/>
        </p:nvSpPr>
        <p:spPr>
          <a:xfrm>
            <a:off x="351949" y="16672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Características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del Driver 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9" name="Google Shape;258;p19">
            <a:extLst>
              <a:ext uri="{FF2B5EF4-FFF2-40B4-BE49-F238E27FC236}">
                <a16:creationId xmlns:a16="http://schemas.microsoft.com/office/drawing/2014/main" id="{C8E97D71-B679-F582-5E5C-D3C903083701}"/>
              </a:ext>
            </a:extLst>
          </p:cNvPr>
          <p:cNvSpPr/>
          <p:nvPr/>
        </p:nvSpPr>
        <p:spPr>
          <a:xfrm>
            <a:off x="399846" y="68488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Diagrama</a:t>
            </a:r>
            <a:r>
              <a:rPr lang="en-US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interno</a:t>
            </a:r>
            <a:r>
              <a:rPr lang="en-US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  </a:t>
            </a:r>
            <a:endParaRPr lang="en-US" b="0" i="0" u="none" strike="noStrike" cap="none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11" name="Google Shape;258;p19">
            <a:extLst>
              <a:ext uri="{FF2B5EF4-FFF2-40B4-BE49-F238E27FC236}">
                <a16:creationId xmlns:a16="http://schemas.microsoft.com/office/drawing/2014/main" id="{127D78E5-401C-1675-E3E7-B41625DE85F3}"/>
              </a:ext>
            </a:extLst>
          </p:cNvPr>
          <p:cNvSpPr/>
          <p:nvPr/>
        </p:nvSpPr>
        <p:spPr>
          <a:xfrm>
            <a:off x="574018" y="4686469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Parámetros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  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13" name="Google Shape;258;p19">
            <a:extLst>
              <a:ext uri="{FF2B5EF4-FFF2-40B4-BE49-F238E27FC236}">
                <a16:creationId xmlns:a16="http://schemas.microsoft.com/office/drawing/2014/main" id="{31E3F3E8-FF6F-8F0A-D67A-92726CB7A8E9}"/>
              </a:ext>
            </a:extLst>
          </p:cNvPr>
          <p:cNvSpPr/>
          <p:nvPr/>
        </p:nvSpPr>
        <p:spPr>
          <a:xfrm>
            <a:off x="9273881" y="1081120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18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Conexión</a:t>
            </a:r>
            <a:r>
              <a:rPr lang="en-US" sz="18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</a:t>
            </a:r>
            <a:r>
              <a:rPr lang="en-US" sz="1800" err="1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circuito</a:t>
            </a:r>
            <a:r>
              <a:rPr lang="en-US" sz="1800">
                <a:solidFill>
                  <a:srgbClr val="FAEBEB"/>
                </a:solidFill>
                <a:latin typeface="Dela Gothic One"/>
                <a:ea typeface="Dela Gothic One"/>
                <a:sym typeface="Dela Gothic One"/>
              </a:rPr>
              <a:t> bootstrap </a:t>
            </a:r>
            <a:endParaRPr lang="en-US" sz="18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</p:spTree>
    <p:extLst>
      <p:ext uri="{BB962C8B-B14F-4D97-AF65-F5344CB8AC3E}">
        <p14:creationId xmlns:p14="http://schemas.microsoft.com/office/powerpoint/2010/main" val="29867354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58;p19">
            <a:extLst>
              <a:ext uri="{FF2B5EF4-FFF2-40B4-BE49-F238E27FC236}">
                <a16:creationId xmlns:a16="http://schemas.microsoft.com/office/drawing/2014/main" id="{E56887FC-F12D-B536-A35E-2C45333F96F7}"/>
              </a:ext>
            </a:extLst>
          </p:cNvPr>
          <p:cNvSpPr/>
          <p:nvPr/>
        </p:nvSpPr>
        <p:spPr>
          <a:xfrm>
            <a:off x="495640" y="34960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Plano del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</a:rPr>
              <a:t>circuito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</a:rPr>
              <a:t>equivalente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 (Proteus)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36FF0D-D44F-10A5-99D5-06E2701EF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239" y="7716066"/>
            <a:ext cx="1724025" cy="400050"/>
          </a:xfrm>
          <a:prstGeom prst="rect">
            <a:avLst/>
          </a:prstGeom>
        </p:spPr>
      </p:pic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9F377874-2DF5-4F13-AA57-49C86AFDC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86" y="1455374"/>
            <a:ext cx="13191206" cy="495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4406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1">
            <a:extLst>
              <a:ext uri="{FF2B5EF4-FFF2-40B4-BE49-F238E27FC236}">
                <a16:creationId xmlns:a16="http://schemas.microsoft.com/office/drawing/2014/main" id="{029F138F-D204-E8AD-059E-3DA93CEE2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239" y="7716066"/>
            <a:ext cx="1724025" cy="400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926023-F104-BB78-C39C-A57412DEA49B}"/>
              </a:ext>
            </a:extLst>
          </p:cNvPr>
          <p:cNvSpPr txBox="1"/>
          <p:nvPr/>
        </p:nvSpPr>
        <p:spPr>
          <a:xfrm>
            <a:off x="236863" y="206566"/>
            <a:ext cx="103138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AEBEB"/>
                </a:solidFill>
                <a:latin typeface="Dela Gothic One"/>
              </a:rPr>
              <a:t>Grafico del </a:t>
            </a:r>
            <a:r>
              <a:rPr lang="en-US" sz="2400" err="1">
                <a:solidFill>
                  <a:srgbClr val="FAEBEB"/>
                </a:solidFill>
                <a:latin typeface="Dela Gothic One"/>
              </a:rPr>
              <a:t>voltaje</a:t>
            </a:r>
            <a:r>
              <a:rPr lang="en-US" sz="2400">
                <a:solidFill>
                  <a:srgbClr val="FAEBEB"/>
                </a:solidFill>
                <a:latin typeface="Dela Gothic One"/>
              </a:rPr>
              <a:t> de </a:t>
            </a:r>
            <a:r>
              <a:rPr lang="en-US" sz="2400" err="1">
                <a:solidFill>
                  <a:srgbClr val="FAEBEB"/>
                </a:solidFill>
                <a:latin typeface="Dela Gothic One"/>
              </a:rPr>
              <a:t>salida</a:t>
            </a:r>
            <a:r>
              <a:rPr lang="en-US" sz="2400">
                <a:solidFill>
                  <a:srgbClr val="FAEBEB"/>
                </a:solidFill>
                <a:latin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</a:rPr>
              <a:t>en</a:t>
            </a:r>
            <a:r>
              <a:rPr lang="en-US" sz="2400">
                <a:solidFill>
                  <a:srgbClr val="FAEBEB"/>
                </a:solidFill>
                <a:latin typeface="Dela Gothic One"/>
              </a:rPr>
              <a:t> modo Buck</a:t>
            </a:r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B77AB60A-302F-B9B2-3A50-DDACBECB9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8" y="995389"/>
            <a:ext cx="14369143" cy="651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58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1">
            <a:extLst>
              <a:ext uri="{FF2B5EF4-FFF2-40B4-BE49-F238E27FC236}">
                <a16:creationId xmlns:a16="http://schemas.microsoft.com/office/drawing/2014/main" id="{378DE1F2-9D94-A370-DB65-844719B47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239" y="7716066"/>
            <a:ext cx="1724025" cy="400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9BC326-EBF7-72CD-2CBF-2296AAC46380}"/>
              </a:ext>
            </a:extLst>
          </p:cNvPr>
          <p:cNvSpPr txBox="1"/>
          <p:nvPr/>
        </p:nvSpPr>
        <p:spPr>
          <a:xfrm>
            <a:off x="170761" y="206567"/>
            <a:ext cx="932026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rgbClr val="FAEBEB"/>
                </a:solidFill>
                <a:latin typeface="Dela Gothic One"/>
                <a:cs typeface="Segoe UI"/>
              </a:rPr>
              <a:t>Grafico de la </a:t>
            </a:r>
            <a:r>
              <a:rPr lang="en-US" sz="2400" err="1">
                <a:solidFill>
                  <a:srgbClr val="FAEBEB"/>
                </a:solidFill>
                <a:latin typeface="Dela Gothic One"/>
                <a:cs typeface="Segoe UI"/>
              </a:rPr>
              <a:t>corriente</a:t>
            </a:r>
            <a:r>
              <a:rPr lang="en-US" sz="2400">
                <a:solidFill>
                  <a:srgbClr val="FAEBEB"/>
                </a:solidFill>
                <a:latin typeface="Dela Gothic One"/>
                <a:cs typeface="Segoe UI"/>
              </a:rPr>
              <a:t> de inductor </a:t>
            </a:r>
            <a:r>
              <a:rPr lang="en-US" sz="2400" err="1">
                <a:solidFill>
                  <a:srgbClr val="FAEBEB"/>
                </a:solidFill>
                <a:latin typeface="Dela Gothic One"/>
                <a:cs typeface="Segoe UI"/>
              </a:rPr>
              <a:t>en</a:t>
            </a:r>
            <a:r>
              <a:rPr lang="en-US" sz="2400">
                <a:solidFill>
                  <a:srgbClr val="FAEBEB"/>
                </a:solidFill>
                <a:latin typeface="Dela Gothic One"/>
                <a:cs typeface="Segoe UI"/>
              </a:rPr>
              <a:t> modo Buck</a:t>
            </a:r>
          </a:p>
        </p:txBody>
      </p:sp>
      <p:pic>
        <p:nvPicPr>
          <p:cNvPr id="4" name="Imagen 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8B09F132-967B-3444-232A-19B7D39FC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49" y="1011936"/>
            <a:ext cx="13807440" cy="620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72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8EDF490-96B5-B314-4E17-EA3713AA6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239" y="7716066"/>
            <a:ext cx="1724025" cy="400050"/>
          </a:xfrm>
          <a:prstGeom prst="rect">
            <a:avLst/>
          </a:prstGeom>
        </p:spPr>
      </p:pic>
      <p:sp>
        <p:nvSpPr>
          <p:cNvPr id="4" name="Google Shape;258;p19">
            <a:extLst>
              <a:ext uri="{FF2B5EF4-FFF2-40B4-BE49-F238E27FC236}">
                <a16:creationId xmlns:a16="http://schemas.microsoft.com/office/drawing/2014/main" id="{FFEDFB89-6BFF-55F3-D8E3-8F6B7B12B38F}"/>
              </a:ext>
            </a:extLst>
          </p:cNvPr>
          <p:cNvSpPr/>
          <p:nvPr/>
        </p:nvSpPr>
        <p:spPr>
          <a:xfrm>
            <a:off x="495640" y="34960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Valores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</a:rPr>
              <a:t>Obtenidos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</a:rPr>
              <a:t>en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 </a:t>
            </a: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</a:rPr>
              <a:t>simulación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A38A254-86F2-6811-497C-AB44EEA33F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768000"/>
              </p:ext>
            </p:extLst>
          </p:nvPr>
        </p:nvGraphicFramePr>
        <p:xfrm>
          <a:off x="2455817" y="1358537"/>
          <a:ext cx="9494225" cy="592119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41077">
                  <a:extLst>
                    <a:ext uri="{9D8B030D-6E8A-4147-A177-3AD203B41FA5}">
                      <a16:colId xmlns:a16="http://schemas.microsoft.com/office/drawing/2014/main" val="572155062"/>
                    </a:ext>
                  </a:extLst>
                </a:gridCol>
                <a:gridCol w="3076574">
                  <a:extLst>
                    <a:ext uri="{9D8B030D-6E8A-4147-A177-3AD203B41FA5}">
                      <a16:colId xmlns:a16="http://schemas.microsoft.com/office/drawing/2014/main" val="1290641815"/>
                    </a:ext>
                  </a:extLst>
                </a:gridCol>
                <a:gridCol w="3076574">
                  <a:extLst>
                    <a:ext uri="{9D8B030D-6E8A-4147-A177-3AD203B41FA5}">
                      <a16:colId xmlns:a16="http://schemas.microsoft.com/office/drawing/2014/main" val="386123044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Parametro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Deseado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Obtenido</a:t>
                      </a:r>
                      <a:endParaRPr lang="en-US" b="1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18549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Vo Buck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14 [V]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13.9 [V]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20052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Vo Boost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27 [V]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26.5 [V]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22501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iL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avg Buck SS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0.357 [A]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0.33 [A]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34807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iL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avg Boost SS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0.417 [A]</a:t>
                      </a:r>
                      <a:endParaRPr lang="es-E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0.41 [A]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20636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Pmax Buck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5 [W]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4.865 </a:t>
                      </a:r>
                      <a:r>
                        <a:rPr lang="en-US" sz="1800" b="1" i="0" u="none" strike="noStrike" noProof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[W] 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= 97,3% eff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22053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Pmax Boost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5 [W]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4,77 </a:t>
                      </a:r>
                      <a:r>
                        <a:rPr lang="en-US" sz="1800" b="1" i="0" u="none" strike="noStrike" noProof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[W] 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= 95,4% eff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8308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Ripple Vo Buck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0.7%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46513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Ripple Vo Boost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1.1%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62586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Ripple </a:t>
                      </a: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iL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Buck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30%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29%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763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Ripple </a:t>
                      </a: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iL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Boost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30%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30.5 %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25599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Capacitancias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</a:t>
                      </a: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usadas</a:t>
                      </a:r>
                      <a:endParaRPr lang="en-US" err="1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  <a:p>
                      <a:pPr lvl="0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(Buck/Boost)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1.59/6.35 [</a:t>
                      </a: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uF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2.2/6.8 [</a:t>
                      </a: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uF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16864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Inductor </a:t>
                      </a: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usado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(Buck/Boost)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0.85/0.89 [</a:t>
                      </a: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mH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 [</a:t>
                      </a:r>
                      <a:r>
                        <a:rPr lang="en-US" sz="1800" b="1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mH</a:t>
                      </a: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]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62039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Duty(Buck/Boost)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60.9/55.6 %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61/60 %</a:t>
                      </a:r>
                      <a:endParaRPr lang="en-US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50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85244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30C9F82-231D-E992-025D-43B54BBED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037" y="7714021"/>
            <a:ext cx="1724025" cy="400050"/>
          </a:xfrm>
          <a:prstGeom prst="rect">
            <a:avLst/>
          </a:prstGeom>
        </p:spPr>
      </p:pic>
      <p:sp>
        <p:nvSpPr>
          <p:cNvPr id="4" name="Google Shape;258;p19">
            <a:extLst>
              <a:ext uri="{FF2B5EF4-FFF2-40B4-BE49-F238E27FC236}">
                <a16:creationId xmlns:a16="http://schemas.microsoft.com/office/drawing/2014/main" id="{D9F9CE6C-CCCC-2F9B-A114-6DB1B69FAE6F}"/>
              </a:ext>
            </a:extLst>
          </p:cNvPr>
          <p:cNvSpPr/>
          <p:nvPr/>
        </p:nvSpPr>
        <p:spPr>
          <a:xfrm>
            <a:off x="495640" y="34960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</a:rPr>
              <a:t>Listado</a:t>
            </a: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 de Componentes</a:t>
            </a:r>
            <a:endParaRPr lang="en-US" sz="2400" b="0" i="0" u="none" strike="noStrike" cap="none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F072860-CE0D-B2FB-5C36-7968F78C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44387"/>
              </p:ext>
            </p:extLst>
          </p:nvPr>
        </p:nvGraphicFramePr>
        <p:xfrm>
          <a:off x="1743075" y="1368679"/>
          <a:ext cx="11144250" cy="579888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162175">
                  <a:extLst>
                    <a:ext uri="{9D8B030D-6E8A-4147-A177-3AD203B41FA5}">
                      <a16:colId xmlns:a16="http://schemas.microsoft.com/office/drawing/2014/main" val="3451603603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val="81469918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36181654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1792718683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2735845769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Componente</a:t>
                      </a:r>
                      <a:endParaRPr lang="es-ES" b="1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Cantidad</a:t>
                      </a:r>
                      <a:endParaRPr lang="es-ES" b="1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Valor</a:t>
                      </a:r>
                      <a:endParaRPr lang="es-ES" b="1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Valor de compra</a:t>
                      </a:r>
                      <a:endParaRPr lang="es-ES" b="1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b="1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Lugar de compra</a:t>
                      </a:r>
                      <a:endParaRPr lang="es-ES" b="1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069553"/>
                  </a:ext>
                </a:extLst>
              </a:tr>
              <a:tr h="11049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Mosfet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 IRFZ44N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4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VDSmax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=55V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IDmax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=49 A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Tj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=175°C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$6800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ZAVA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76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10551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Driver IR2184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8-Lead SOIC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$15450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Mercado libre y </a:t>
                      </a:r>
                      <a:r>
                        <a:rPr lang="es-ES" sz="1800" dirty="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Aliexpress</a:t>
                      </a:r>
                      <a:endParaRPr lang="es-ES" dirty="0" err="1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262386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Resistencia 10k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4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1W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5756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Resistencia 10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1W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2145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Resistencias de carga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10W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39699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Capacitores electrolíticos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50V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2417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Capacitores cerámicos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2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50V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23085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Diodos </a:t>
                      </a:r>
                      <a:r>
                        <a:rPr lang="es-ES" sz="1800" dirty="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schottky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(1N5819)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Vf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=0.34 V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IFmax</a:t>
                      </a: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=1A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$1200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err="1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Mechatronic</a:t>
                      </a:r>
                      <a:endParaRPr lang="es-ES" err="1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64278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Inductor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1.054mH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---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2175"/>
                        </a:lnSpc>
                        <a:buNone/>
                      </a:pPr>
                      <a:r>
                        <a:rPr lang="es-ES" sz="1800" dirty="0">
                          <a:solidFill>
                            <a:schemeClr val="bg1"/>
                          </a:solidFill>
                          <a:effectLst/>
                          <a:latin typeface="DM Sans"/>
                        </a:rPr>
                        <a:t>A mano</a:t>
                      </a:r>
                      <a:endParaRPr lang="es-ES" dirty="0">
                        <a:solidFill>
                          <a:schemeClr val="bg1"/>
                        </a:solidFill>
                        <a:effectLst/>
                        <a:latin typeface="DM Sans"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68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85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58;p19">
            <a:extLst>
              <a:ext uri="{FF2B5EF4-FFF2-40B4-BE49-F238E27FC236}">
                <a16:creationId xmlns:a16="http://schemas.microsoft.com/office/drawing/2014/main" id="{62BDADFC-AAD8-0B9A-934A-0948DED1CE01}"/>
              </a:ext>
            </a:extLst>
          </p:cNvPr>
          <p:cNvSpPr/>
          <p:nvPr/>
        </p:nvSpPr>
        <p:spPr>
          <a:xfrm>
            <a:off x="495640" y="349601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PCB</a:t>
            </a:r>
            <a:endParaRPr lang="en-US" sz="2400" b="0" i="0" u="none" strike="noStrike" cap="none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7" name="Google Shape;258;p19">
            <a:extLst>
              <a:ext uri="{FF2B5EF4-FFF2-40B4-BE49-F238E27FC236}">
                <a16:creationId xmlns:a16="http://schemas.microsoft.com/office/drawing/2014/main" id="{DAE55FAF-DFBC-FAF8-B67B-E0F28FD4B1E0}"/>
              </a:ext>
            </a:extLst>
          </p:cNvPr>
          <p:cNvSpPr/>
          <p:nvPr/>
        </p:nvSpPr>
        <p:spPr>
          <a:xfrm>
            <a:off x="491286" y="2539807"/>
            <a:ext cx="4711728" cy="2752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1600" b="1" err="1">
                <a:solidFill>
                  <a:srgbClr val="FAEBEB"/>
                </a:solidFill>
                <a:latin typeface="DM Sans"/>
                <a:ea typeface="Dela Gothic One"/>
              </a:rPr>
              <a:t>Objetivos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: Poder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crear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la base de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conexiones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para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componentes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del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convertidor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.</a:t>
            </a:r>
          </a:p>
          <a:p>
            <a:pPr>
              <a:lnSpc>
                <a:spcPct val="127082"/>
              </a:lnSpc>
              <a:buSzPts val="2400"/>
            </a:pPr>
            <a:endParaRPr lang="en-US" sz="1600">
              <a:solidFill>
                <a:srgbClr val="FAEBEB"/>
              </a:solidFill>
              <a:latin typeface="DM Sans"/>
              <a:ea typeface="Dela Gothic One"/>
            </a:endParaRPr>
          </a:p>
          <a:p>
            <a:pPr>
              <a:lnSpc>
                <a:spcPct val="127082"/>
              </a:lnSpc>
              <a:buSzPts val="2400"/>
            </a:pP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Tomando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en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consideración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:</a:t>
            </a:r>
          </a:p>
          <a:p>
            <a:pPr>
              <a:lnSpc>
                <a:spcPct val="127082"/>
              </a:lnSpc>
              <a:buSzPts val="2400"/>
            </a:pPr>
            <a:endParaRPr lang="en-US" sz="1600">
              <a:solidFill>
                <a:srgbClr val="FAEBEB"/>
              </a:solidFill>
              <a:latin typeface="DM Sans"/>
              <a:ea typeface="Dela Gothic One"/>
            </a:endParaRPr>
          </a:p>
          <a:p>
            <a:pPr>
              <a:lnSpc>
                <a:spcPct val="127082"/>
              </a:lnSpc>
              <a:buSzPts val="2400"/>
            </a:pP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Agregar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islas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donde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se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pueda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.</a:t>
            </a:r>
          </a:p>
          <a:p>
            <a:pPr>
              <a:lnSpc>
                <a:spcPct val="127082"/>
              </a:lnSpc>
              <a:buSzPts val="2400"/>
            </a:pP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Accesibilidad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para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medir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(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Vgs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, VL, IL, Ids, Vo e Io)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DF9FA5-AF9E-412F-3CFC-6B1C1B900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5796" y="7688716"/>
            <a:ext cx="1866900" cy="428625"/>
          </a:xfrm>
          <a:prstGeom prst="rect">
            <a:avLst/>
          </a:prstGeom>
        </p:spPr>
      </p:pic>
      <p:pic>
        <p:nvPicPr>
          <p:cNvPr id="3" name="Picture 2" descr="A computer screen shot of a circuit&#10;&#10;AI-generated content may be incorrect.">
            <a:extLst>
              <a:ext uri="{FF2B5EF4-FFF2-40B4-BE49-F238E27FC236}">
                <a16:creationId xmlns:a16="http://schemas.microsoft.com/office/drawing/2014/main" id="{BACCCCEB-8500-A2F6-2242-D5F2CDA3BE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043" y="1694584"/>
            <a:ext cx="8369878" cy="3593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013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74C7F04-6029-2119-35CF-8046342EC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1921" y="7675653"/>
            <a:ext cx="1866900" cy="428625"/>
          </a:xfrm>
          <a:prstGeom prst="rect">
            <a:avLst/>
          </a:prstGeom>
        </p:spPr>
      </p:pic>
      <p:sp>
        <p:nvSpPr>
          <p:cNvPr id="4" name="Google Shape;258;p19">
            <a:extLst>
              <a:ext uri="{FF2B5EF4-FFF2-40B4-BE49-F238E27FC236}">
                <a16:creationId xmlns:a16="http://schemas.microsoft.com/office/drawing/2014/main" id="{E524724A-314E-E379-D047-D54D4C43DC5D}"/>
              </a:ext>
            </a:extLst>
          </p:cNvPr>
          <p:cNvSpPr/>
          <p:nvPr/>
        </p:nvSpPr>
        <p:spPr>
          <a:xfrm>
            <a:off x="769960" y="1303190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 err="1">
                <a:solidFill>
                  <a:srgbClr val="FAEBEB"/>
                </a:solidFill>
                <a:latin typeface="Dela Gothic One"/>
                <a:ea typeface="Dela Gothic One"/>
              </a:rPr>
              <a:t>KiCAD</a:t>
            </a:r>
            <a:endParaRPr lang="en-US" sz="2400" b="0" i="0" u="none" strike="noStrike" cap="none" err="1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sp>
        <p:nvSpPr>
          <p:cNvPr id="6" name="Google Shape;258;p19">
            <a:extLst>
              <a:ext uri="{FF2B5EF4-FFF2-40B4-BE49-F238E27FC236}">
                <a16:creationId xmlns:a16="http://schemas.microsoft.com/office/drawing/2014/main" id="{6E58BAF7-E2C3-8C18-59F1-930AEB9EB8C5}"/>
              </a:ext>
            </a:extLst>
          </p:cNvPr>
          <p:cNvSpPr/>
          <p:nvPr/>
        </p:nvSpPr>
        <p:spPr>
          <a:xfrm>
            <a:off x="765606" y="3101510"/>
            <a:ext cx="7663934" cy="399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2"/>
              </a:lnSpc>
            </a:pP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Restricciones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:</a:t>
            </a:r>
          </a:p>
          <a:p>
            <a:pPr>
              <a:lnSpc>
                <a:spcPct val="127082"/>
              </a:lnSpc>
            </a:pP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Mínimo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grosor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de Track: 0.5mm.</a:t>
            </a:r>
          </a:p>
          <a:p>
            <a:pPr>
              <a:lnSpc>
                <a:spcPct val="127082"/>
              </a:lnSpc>
            </a:pP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Margen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de 5 mm.</a:t>
            </a:r>
          </a:p>
          <a:p>
            <a:pPr>
              <a:lnSpc>
                <a:spcPct val="127082"/>
              </a:lnSpc>
            </a:pP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Cálculo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de </a:t>
            </a:r>
            <a:r>
              <a:rPr lang="en-US" sz="1600" err="1">
                <a:solidFill>
                  <a:srgbClr val="FAEBEB"/>
                </a:solidFill>
                <a:latin typeface="DM Sans"/>
                <a:ea typeface="Dela Gothic One"/>
              </a:rPr>
              <a:t>grosor</a:t>
            </a:r>
            <a:r>
              <a:rPr lang="en-US" sz="1600">
                <a:solidFill>
                  <a:srgbClr val="FAEBEB"/>
                </a:solidFill>
                <a:latin typeface="DM Sans"/>
                <a:ea typeface="Dela Gothic One"/>
              </a:rPr>
              <a:t> de Track: </a:t>
            </a:r>
            <a:r>
              <a:rPr lang="es-ES" sz="1800">
                <a:solidFill>
                  <a:srgbClr val="FAEBEB"/>
                </a:solidFill>
                <a:latin typeface="DM Sans"/>
                <a:ea typeface="Dela Gothic One"/>
                <a:hlinkClick r:id="rId4"/>
              </a:rPr>
              <a:t>digikey_track_thickness</a:t>
            </a:r>
            <a:endParaRPr lang="en-US" sz="1600">
              <a:solidFill>
                <a:srgbClr val="FAEBEB"/>
              </a:solidFill>
              <a:latin typeface="DM Sans"/>
              <a:ea typeface="Dela Gothic One"/>
            </a:endParaRPr>
          </a:p>
        </p:txBody>
      </p:sp>
      <p:pic>
        <p:nvPicPr>
          <p:cNvPr id="5" name="Picture 4" descr="A blue circuit board with yellow dots&#10;&#10;AI-generated content may be incorrect.">
            <a:extLst>
              <a:ext uri="{FF2B5EF4-FFF2-40B4-BE49-F238E27FC236}">
                <a16:creationId xmlns:a16="http://schemas.microsoft.com/office/drawing/2014/main" id="{3EBAB87E-9598-C442-3FEA-A74DEEC17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278" y="1499235"/>
            <a:ext cx="8113395" cy="58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69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2A3B47BD-6CDF-AAAB-49A3-CF9A2F065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5796" y="7571150"/>
            <a:ext cx="1866900" cy="546190"/>
          </a:xfrm>
          <a:prstGeom prst="rect">
            <a:avLst/>
          </a:prstGeom>
        </p:spPr>
      </p:pic>
      <p:sp>
        <p:nvSpPr>
          <p:cNvPr id="6" name="Google Shape;258;p19">
            <a:extLst>
              <a:ext uri="{FF2B5EF4-FFF2-40B4-BE49-F238E27FC236}">
                <a16:creationId xmlns:a16="http://schemas.microsoft.com/office/drawing/2014/main" id="{75B9CE63-E3ED-390E-C71F-F09E5818BBA6}"/>
              </a:ext>
            </a:extLst>
          </p:cNvPr>
          <p:cNvSpPr/>
          <p:nvPr/>
        </p:nvSpPr>
        <p:spPr>
          <a:xfrm>
            <a:off x="613206" y="872116"/>
            <a:ext cx="7663934" cy="387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27083"/>
              </a:lnSpc>
              <a:buClr>
                <a:srgbClr val="FAEBEB"/>
              </a:buClr>
              <a:buSzPts val="2400"/>
            </a:pPr>
            <a:r>
              <a:rPr lang="en-US" sz="2400">
                <a:solidFill>
                  <a:srgbClr val="FAEBEB"/>
                </a:solidFill>
                <a:latin typeface="Dela Gothic One"/>
                <a:ea typeface="Dela Gothic One"/>
              </a:rPr>
              <a:t>3D VIEWER</a:t>
            </a:r>
            <a:endParaRPr lang="en-US" sz="2400" b="0" i="0" u="none" strike="noStrike" cap="none">
              <a:solidFill>
                <a:srgbClr val="FAEBEB"/>
              </a:solidFill>
              <a:latin typeface="Dela Gothic One"/>
              <a:ea typeface="Dela Gothic One"/>
            </a:endParaRPr>
          </a:p>
        </p:txBody>
      </p:sp>
      <p:pic>
        <p:nvPicPr>
          <p:cNvPr id="3" name="Picture 2" descr="A yellow and black circuit board&#10;&#10;AI-generated content may be incorrect.">
            <a:extLst>
              <a:ext uri="{FF2B5EF4-FFF2-40B4-BE49-F238E27FC236}">
                <a16:creationId xmlns:a16="http://schemas.microsoft.com/office/drawing/2014/main" id="{A143DC4F-5B9C-40C0-3F53-AE7B5BB26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585" y="1359640"/>
            <a:ext cx="7138035" cy="49168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98AF4E2-2186-4A72-3BAA-A63CC87AB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41" y="2590557"/>
            <a:ext cx="6013133" cy="445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10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Personalizado</PresentationFormat>
  <Slides>38</Slides>
  <Notes>22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3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15</cp:revision>
  <dcterms:modified xsi:type="dcterms:W3CDTF">2025-10-07T03:57:37Z</dcterms:modified>
</cp:coreProperties>
</file>