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ow Bold" charset="1" panose="00000800000000000000"/>
      <p:regular r:id="rId22"/>
    </p:embeddedFont>
    <p:embeddedFont>
      <p:font typeface="Now" charset="1" panose="00000500000000000000"/>
      <p:regular r:id="rId23"/>
    </p:embeddedFont>
    <p:embeddedFont>
      <p:font typeface="Open Sans Bold" charset="1" panose="020B0806030504020204"/>
      <p:regular r:id="rId28"/>
    </p:embeddedFont>
    <p:embeddedFont>
      <p:font typeface="Open Sans" charset="1" panose="020B06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agu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agu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agu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https://github.com/aguscsc/Bidirectional-Buck-DC-DC-converter/tree/main/microcontroller/graphic_interface/executables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-313312"/>
            <a:ext cx="10861154" cy="8362804"/>
            <a:chOff x="0" y="0"/>
            <a:chExt cx="14481539" cy="1115040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t="10514" r="0" b="10514"/>
            <a:stretch>
              <a:fillRect/>
            </a:stretch>
          </p:blipFill>
          <p:spPr>
            <a:xfrm flipH="false" flipV="false">
              <a:off x="0" y="0"/>
              <a:ext cx="14481539" cy="1115040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7600950" y="6575035"/>
            <a:ext cx="10861154" cy="3711965"/>
            <a:chOff x="0" y="0"/>
            <a:chExt cx="2860551" cy="9776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60551" cy="977637"/>
            </a:xfrm>
            <a:custGeom>
              <a:avLst/>
              <a:gdLst/>
              <a:ahLst/>
              <a:cxnLst/>
              <a:rect r="r" b="b" t="t" l="l"/>
              <a:pathLst>
                <a:path h="977637" w="2860551">
                  <a:moveTo>
                    <a:pt x="0" y="0"/>
                  </a:moveTo>
                  <a:lnTo>
                    <a:pt x="2860551" y="0"/>
                  </a:lnTo>
                  <a:lnTo>
                    <a:pt x="2860551" y="977637"/>
                  </a:lnTo>
                  <a:lnTo>
                    <a:pt x="0" y="977637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60551" cy="1015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Grupo N°2</a:t>
              </a: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Gian Lucas Barbagelata</a:t>
              </a: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Agustín Torres Bobadilla</a:t>
              </a:r>
            </a:p>
            <a:p>
              <a:pPr algn="just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Ignacio Cerda Torres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8379" y="254241"/>
            <a:ext cx="7050428" cy="7026370"/>
            <a:chOff x="0" y="0"/>
            <a:chExt cx="9400570" cy="936849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088942"/>
              <a:ext cx="9400570" cy="8279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81"/>
                </a:lnSpc>
              </a:pPr>
              <a:r>
                <a:rPr lang="en-US" sz="8001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Proyecto</a:t>
              </a:r>
            </a:p>
            <a:p>
              <a:pPr algn="l">
                <a:lnSpc>
                  <a:spcPts val="9681"/>
                </a:lnSpc>
              </a:pPr>
              <a:r>
                <a:rPr lang="en-US" sz="8001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DC/DC</a:t>
              </a:r>
            </a:p>
            <a:p>
              <a:pPr algn="l">
                <a:lnSpc>
                  <a:spcPts val="9681"/>
                </a:lnSpc>
              </a:pPr>
              <a:r>
                <a:rPr lang="en-US" sz="8001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Buck Bidireccional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9400570" cy="730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8"/>
                </a:lnSpc>
              </a:pPr>
              <a:r>
                <a:rPr lang="en-US" sz="3601" spc="1040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PROPUESTA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8662" y="2829712"/>
            <a:ext cx="10809338" cy="7602375"/>
            <a:chOff x="0" y="0"/>
            <a:chExt cx="2846904" cy="2002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904" cy="2002272"/>
            </a:xfrm>
            <a:custGeom>
              <a:avLst/>
              <a:gdLst/>
              <a:ahLst/>
              <a:cxnLst/>
              <a:rect r="r" b="b" t="t" l="l"/>
              <a:pathLst>
                <a:path h="2002272" w="2846904">
                  <a:moveTo>
                    <a:pt x="0" y="0"/>
                  </a:moveTo>
                  <a:lnTo>
                    <a:pt x="2846904" y="0"/>
                  </a:lnTo>
                  <a:lnTo>
                    <a:pt x="2846904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FE3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904" cy="204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2159" y="2829712"/>
            <a:ext cx="7600950" cy="7602375"/>
            <a:chOff x="0" y="0"/>
            <a:chExt cx="2001896" cy="20022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1896" cy="2002272"/>
            </a:xfrm>
            <a:custGeom>
              <a:avLst/>
              <a:gdLst/>
              <a:ahLst/>
              <a:cxnLst/>
              <a:rect r="r" b="b" t="t" l="l"/>
              <a:pathLst>
                <a:path h="2002272" w="2001896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01896" cy="204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0007" y="3260203"/>
          <a:ext cx="7156619" cy="6741394"/>
        </p:xfrm>
        <a:graphic>
          <a:graphicData uri="http://schemas.openxmlformats.org/drawingml/2006/table">
            <a:tbl>
              <a:tblPr/>
              <a:tblGrid>
                <a:gridCol w="2158681"/>
                <a:gridCol w="2498969"/>
                <a:gridCol w="2498969"/>
              </a:tblGrid>
              <a:tr h="9680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Parametros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Modo Buck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Modo 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453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Voltaje Continuo Minimo de Entrada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23[Vdc]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12[Vdc]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453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Voltaje Continuo Máximo de Salida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14[Vdc]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27[Vdc]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14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Frecuencia de conmutación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60[KHz]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60[KHz]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623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Tipo de switch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Mosfet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Mosfet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623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Potencia Máxima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5[W]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5[W]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5533197" y="2976005"/>
            <a:ext cx="2034996" cy="821071"/>
            <a:chOff x="0" y="0"/>
            <a:chExt cx="618899" cy="2497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8899" cy="249711"/>
            </a:xfrm>
            <a:custGeom>
              <a:avLst/>
              <a:gdLst/>
              <a:ahLst/>
              <a:cxnLst/>
              <a:rect r="r" b="b" t="t" l="l"/>
              <a:pathLst>
                <a:path h="249711" w="618899">
                  <a:moveTo>
                    <a:pt x="415699" y="0"/>
                  </a:moveTo>
                  <a:cubicBezTo>
                    <a:pt x="527923" y="0"/>
                    <a:pt x="618899" y="55900"/>
                    <a:pt x="618899" y="124855"/>
                  </a:cubicBezTo>
                  <a:cubicBezTo>
                    <a:pt x="618899" y="193811"/>
                    <a:pt x="527923" y="249711"/>
                    <a:pt x="415699" y="249711"/>
                  </a:cubicBezTo>
                  <a:lnTo>
                    <a:pt x="203200" y="249711"/>
                  </a:lnTo>
                  <a:cubicBezTo>
                    <a:pt x="90976" y="249711"/>
                    <a:pt x="0" y="193811"/>
                    <a:pt x="0" y="124855"/>
                  </a:cubicBezTo>
                  <a:cubicBezTo>
                    <a:pt x="0" y="559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18899" cy="287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entrada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01649" y="5366435"/>
            <a:ext cx="2498092" cy="1671956"/>
            <a:chOff x="0" y="0"/>
            <a:chExt cx="812800" cy="5440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543988"/>
            </a:xfrm>
            <a:custGeom>
              <a:avLst/>
              <a:gdLst/>
              <a:ahLst/>
              <a:cxnLst/>
              <a:rect r="r" b="b" t="t" l="l"/>
              <a:pathLst>
                <a:path h="543988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9086"/>
                    <a:pt x="603543" y="39331"/>
                    <a:pt x="623736" y="88821"/>
                  </a:cubicBezTo>
                  <a:cubicBezTo>
                    <a:pt x="742003" y="82221"/>
                    <a:pt x="827989" y="175799"/>
                    <a:pt x="775586" y="267642"/>
                  </a:cubicBezTo>
                  <a:cubicBezTo>
                    <a:pt x="793012" y="286941"/>
                    <a:pt x="807550" y="308529"/>
                    <a:pt x="812800" y="337504"/>
                  </a:cubicBezTo>
                  <a:cubicBezTo>
                    <a:pt x="812800" y="345804"/>
                    <a:pt x="812800" y="354084"/>
                    <a:pt x="812800" y="362383"/>
                  </a:cubicBezTo>
                  <a:cubicBezTo>
                    <a:pt x="797154" y="436126"/>
                    <a:pt x="729827" y="485957"/>
                    <a:pt x="619295" y="472542"/>
                  </a:cubicBezTo>
                  <a:cubicBezTo>
                    <a:pt x="590856" y="510406"/>
                    <a:pt x="540252" y="548240"/>
                    <a:pt x="461507" y="543601"/>
                  </a:cubicBezTo>
                  <a:cubicBezTo>
                    <a:pt x="420804" y="541116"/>
                    <a:pt x="392488" y="526718"/>
                    <a:pt x="367697" y="509226"/>
                  </a:cubicBezTo>
                  <a:cubicBezTo>
                    <a:pt x="341584" y="523766"/>
                    <a:pt x="313304" y="535177"/>
                    <a:pt x="272443" y="535303"/>
                  </a:cubicBezTo>
                  <a:cubicBezTo>
                    <a:pt x="177910" y="535518"/>
                    <a:pt x="114672" y="479500"/>
                    <a:pt x="113139" y="402662"/>
                  </a:cubicBezTo>
                  <a:cubicBezTo>
                    <a:pt x="52367" y="384687"/>
                    <a:pt x="11206" y="351134"/>
                    <a:pt x="0" y="293719"/>
                  </a:cubicBezTo>
                  <a:cubicBezTo>
                    <a:pt x="0" y="285421"/>
                    <a:pt x="0" y="277104"/>
                    <a:pt x="0" y="268840"/>
                  </a:cubicBezTo>
                  <a:cubicBezTo>
                    <a:pt x="12369" y="211947"/>
                    <a:pt x="51292" y="176210"/>
                    <a:pt x="116099" y="161061"/>
                  </a:cubicBezTo>
                  <a:cubicBezTo>
                    <a:pt x="112205" y="65086"/>
                    <a:pt x="241837" y="5115"/>
                    <a:pt x="348333" y="47397"/>
                  </a:cubicBezTo>
                  <a:cubicBezTo>
                    <a:pt x="373689" y="26489"/>
                    <a:pt x="409562" y="3684"/>
                    <a:pt x="461490" y="0"/>
                  </a:cubicBezTo>
                  <a:close/>
                </a:path>
              </a:pathLst>
            </a:custGeom>
            <a:solidFill>
              <a:srgbClr val="FF999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8100" y="52567"/>
              <a:ext cx="736600" cy="413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de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226934" y="3797076"/>
            <a:ext cx="574832" cy="1606320"/>
            <a:chOff x="0" y="0"/>
            <a:chExt cx="543802" cy="15196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3802" cy="1519608"/>
            </a:xfrm>
            <a:custGeom>
              <a:avLst/>
              <a:gdLst/>
              <a:ahLst/>
              <a:cxnLst/>
              <a:rect r="r" b="b" t="t" l="l"/>
              <a:pathLst>
                <a:path h="1519608" w="543802">
                  <a:moveTo>
                    <a:pt x="0" y="1246558"/>
                  </a:moveTo>
                  <a:lnTo>
                    <a:pt x="271901" y="1519608"/>
                  </a:lnTo>
                  <a:lnTo>
                    <a:pt x="543802" y="1246558"/>
                  </a:lnTo>
                  <a:lnTo>
                    <a:pt x="410452" y="1246558"/>
                  </a:lnTo>
                  <a:lnTo>
                    <a:pt x="410452" y="273050"/>
                  </a:lnTo>
                  <a:lnTo>
                    <a:pt x="543802" y="273050"/>
                  </a:lnTo>
                  <a:lnTo>
                    <a:pt x="271901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1246558"/>
                  </a:lnTo>
                  <a:lnTo>
                    <a:pt x="0" y="12465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63500"/>
              <a:ext cx="264402" cy="13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33197" y="8847834"/>
            <a:ext cx="2034996" cy="821071"/>
            <a:chOff x="0" y="0"/>
            <a:chExt cx="618899" cy="2497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8899" cy="249711"/>
            </a:xfrm>
            <a:custGeom>
              <a:avLst/>
              <a:gdLst/>
              <a:ahLst/>
              <a:cxnLst/>
              <a:rect r="r" b="b" t="t" l="l"/>
              <a:pathLst>
                <a:path h="249711" w="618899">
                  <a:moveTo>
                    <a:pt x="415699" y="0"/>
                  </a:moveTo>
                  <a:cubicBezTo>
                    <a:pt x="527923" y="0"/>
                    <a:pt x="618899" y="55900"/>
                    <a:pt x="618899" y="124855"/>
                  </a:cubicBezTo>
                  <a:cubicBezTo>
                    <a:pt x="618899" y="193811"/>
                    <a:pt x="527923" y="249711"/>
                    <a:pt x="415699" y="249711"/>
                  </a:cubicBezTo>
                  <a:lnTo>
                    <a:pt x="203200" y="249711"/>
                  </a:lnTo>
                  <a:cubicBezTo>
                    <a:pt x="90976" y="249711"/>
                    <a:pt x="0" y="193811"/>
                    <a:pt x="0" y="124855"/>
                  </a:cubicBezTo>
                  <a:cubicBezTo>
                    <a:pt x="0" y="559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18899" cy="287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salida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226934" y="7038391"/>
            <a:ext cx="647521" cy="1809442"/>
            <a:chOff x="0" y="0"/>
            <a:chExt cx="543802" cy="1519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3802" cy="1519608"/>
            </a:xfrm>
            <a:custGeom>
              <a:avLst/>
              <a:gdLst/>
              <a:ahLst/>
              <a:cxnLst/>
              <a:rect r="r" b="b" t="t" l="l"/>
              <a:pathLst>
                <a:path h="1519608" w="543802">
                  <a:moveTo>
                    <a:pt x="0" y="1246558"/>
                  </a:moveTo>
                  <a:lnTo>
                    <a:pt x="271901" y="1519608"/>
                  </a:lnTo>
                  <a:lnTo>
                    <a:pt x="543802" y="1246558"/>
                  </a:lnTo>
                  <a:lnTo>
                    <a:pt x="410452" y="1246558"/>
                  </a:lnTo>
                  <a:lnTo>
                    <a:pt x="410452" y="273050"/>
                  </a:lnTo>
                  <a:lnTo>
                    <a:pt x="543802" y="273050"/>
                  </a:lnTo>
                  <a:lnTo>
                    <a:pt x="271901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1246558"/>
                  </a:lnTo>
                  <a:lnTo>
                    <a:pt x="0" y="12465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63500"/>
              <a:ext cx="264402" cy="13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2966" y="6647030"/>
            <a:ext cx="2034996" cy="782721"/>
            <a:chOff x="0" y="0"/>
            <a:chExt cx="618899" cy="2380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8899" cy="238047"/>
            </a:xfrm>
            <a:custGeom>
              <a:avLst/>
              <a:gdLst/>
              <a:ahLst/>
              <a:cxnLst/>
              <a:rect r="r" b="b" t="t" l="l"/>
              <a:pathLst>
                <a:path h="238047" w="618899">
                  <a:moveTo>
                    <a:pt x="415699" y="0"/>
                  </a:moveTo>
                  <a:cubicBezTo>
                    <a:pt x="527923" y="0"/>
                    <a:pt x="618899" y="53289"/>
                    <a:pt x="618899" y="119024"/>
                  </a:cubicBezTo>
                  <a:cubicBezTo>
                    <a:pt x="618899" y="184759"/>
                    <a:pt x="527923" y="238047"/>
                    <a:pt x="415699" y="238047"/>
                  </a:cubicBezTo>
                  <a:lnTo>
                    <a:pt x="203200" y="238047"/>
                  </a:lnTo>
                  <a:cubicBezTo>
                    <a:pt x="90976" y="238047"/>
                    <a:pt x="0" y="184759"/>
                    <a:pt x="0" y="119024"/>
                  </a:cubicBezTo>
                  <a:cubicBezTo>
                    <a:pt x="0" y="5328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18899" cy="276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Driver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-1601812">
            <a:off x="13800492" y="6235747"/>
            <a:ext cx="1657922" cy="726300"/>
            <a:chOff x="0" y="0"/>
            <a:chExt cx="1281900" cy="5615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1900" cy="561573"/>
            </a:xfrm>
            <a:custGeom>
              <a:avLst/>
              <a:gdLst/>
              <a:ahLst/>
              <a:cxnLst/>
              <a:rect r="r" b="b" t="t" l="l"/>
              <a:pathLst>
                <a:path h="561573" w="1281900">
                  <a:moveTo>
                    <a:pt x="1281900" y="280786"/>
                  </a:moveTo>
                  <a:lnTo>
                    <a:pt x="875500" y="0"/>
                  </a:lnTo>
                  <a:lnTo>
                    <a:pt x="875500" y="203200"/>
                  </a:lnTo>
                  <a:lnTo>
                    <a:pt x="0" y="203200"/>
                  </a:lnTo>
                  <a:lnTo>
                    <a:pt x="0" y="358373"/>
                  </a:lnTo>
                  <a:lnTo>
                    <a:pt x="875500" y="358373"/>
                  </a:lnTo>
                  <a:lnTo>
                    <a:pt x="875500" y="561573"/>
                  </a:lnTo>
                  <a:lnTo>
                    <a:pt x="1281900" y="28078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65100"/>
              <a:ext cx="1180300" cy="19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2172" y="630302"/>
            <a:ext cx="11560793" cy="113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b="true" sz="3724" spc="107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ESQUEMA DE SOLUCIÓN A PROBLEMÁTICA</a:t>
            </a:r>
          </a:p>
        </p:txBody>
      </p:sp>
      <p:grpSp>
        <p:nvGrpSpPr>
          <p:cNvPr name="Group 31" id="31"/>
          <p:cNvGrpSpPr/>
          <p:nvPr/>
        </p:nvGrpSpPr>
        <p:grpSpPr>
          <a:xfrm rot="1719360">
            <a:off x="10717306" y="6294001"/>
            <a:ext cx="1345828" cy="741373"/>
            <a:chOff x="0" y="0"/>
            <a:chExt cx="1104923" cy="60866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4923" cy="608667"/>
            </a:xfrm>
            <a:custGeom>
              <a:avLst/>
              <a:gdLst/>
              <a:ahLst/>
              <a:cxnLst/>
              <a:rect r="r" b="b" t="t" l="l"/>
              <a:pathLst>
                <a:path h="608667" w="1104923">
                  <a:moveTo>
                    <a:pt x="1104923" y="304333"/>
                  </a:moveTo>
                  <a:lnTo>
                    <a:pt x="698523" y="0"/>
                  </a:lnTo>
                  <a:lnTo>
                    <a:pt x="698523" y="203200"/>
                  </a:lnTo>
                  <a:lnTo>
                    <a:pt x="0" y="203200"/>
                  </a:lnTo>
                  <a:lnTo>
                    <a:pt x="0" y="405467"/>
                  </a:lnTo>
                  <a:lnTo>
                    <a:pt x="698523" y="405467"/>
                  </a:lnTo>
                  <a:lnTo>
                    <a:pt x="698523" y="608667"/>
                  </a:lnTo>
                  <a:lnTo>
                    <a:pt x="1104923" y="304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65100"/>
              <a:ext cx="1003323" cy="24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4379394">
            <a:off x="8702401" y="6667704"/>
            <a:ext cx="1345828" cy="741373"/>
            <a:chOff x="0" y="0"/>
            <a:chExt cx="1104923" cy="6086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4923" cy="608667"/>
            </a:xfrm>
            <a:custGeom>
              <a:avLst/>
              <a:gdLst/>
              <a:ahLst/>
              <a:cxnLst/>
              <a:rect r="r" b="b" t="t" l="l"/>
              <a:pathLst>
                <a:path h="608667" w="1104923">
                  <a:moveTo>
                    <a:pt x="1104923" y="304333"/>
                  </a:moveTo>
                  <a:lnTo>
                    <a:pt x="698523" y="0"/>
                  </a:lnTo>
                  <a:lnTo>
                    <a:pt x="698523" y="203200"/>
                  </a:lnTo>
                  <a:lnTo>
                    <a:pt x="0" y="203200"/>
                  </a:lnTo>
                  <a:lnTo>
                    <a:pt x="0" y="405467"/>
                  </a:lnTo>
                  <a:lnTo>
                    <a:pt x="698523" y="405467"/>
                  </a:lnTo>
                  <a:lnTo>
                    <a:pt x="698523" y="608667"/>
                  </a:lnTo>
                  <a:lnTo>
                    <a:pt x="1104923" y="304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65100"/>
              <a:ext cx="1003323" cy="24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02413" y="7551752"/>
            <a:ext cx="2283173" cy="782721"/>
            <a:chOff x="0" y="0"/>
            <a:chExt cx="694377" cy="23804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4377" cy="238047"/>
            </a:xfrm>
            <a:custGeom>
              <a:avLst/>
              <a:gdLst/>
              <a:ahLst/>
              <a:cxnLst/>
              <a:rect r="r" b="b" t="t" l="l"/>
              <a:pathLst>
                <a:path h="238047" w="694377">
                  <a:moveTo>
                    <a:pt x="491177" y="0"/>
                  </a:moveTo>
                  <a:cubicBezTo>
                    <a:pt x="603401" y="0"/>
                    <a:pt x="694377" y="53289"/>
                    <a:pt x="694377" y="119024"/>
                  </a:cubicBezTo>
                  <a:cubicBezTo>
                    <a:pt x="694377" y="184759"/>
                    <a:pt x="603401" y="238047"/>
                    <a:pt x="491177" y="238047"/>
                  </a:cubicBezTo>
                  <a:lnTo>
                    <a:pt x="203200" y="238047"/>
                  </a:lnTo>
                  <a:cubicBezTo>
                    <a:pt x="90976" y="238047"/>
                    <a:pt x="0" y="184759"/>
                    <a:pt x="0" y="119024"/>
                  </a:cubicBezTo>
                  <a:cubicBezTo>
                    <a:pt x="0" y="5328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94377" cy="276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Interfaz Grafica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823991" y="5065850"/>
            <a:ext cx="2498092" cy="1533047"/>
            <a:chOff x="0" y="0"/>
            <a:chExt cx="812800" cy="4988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498847"/>
            </a:xfrm>
            <a:custGeom>
              <a:avLst/>
              <a:gdLst/>
              <a:ahLst/>
              <a:cxnLst/>
              <a:rect r="r" b="b" t="t" l="l"/>
              <a:pathLst>
                <a:path h="498847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331"/>
                    <a:pt x="603543" y="36063"/>
                    <a:pt x="623736" y="81441"/>
                  </a:cubicBezTo>
                  <a:cubicBezTo>
                    <a:pt x="742003" y="75390"/>
                    <a:pt x="827989" y="161194"/>
                    <a:pt x="775586" y="245406"/>
                  </a:cubicBezTo>
                  <a:cubicBezTo>
                    <a:pt x="793012" y="263102"/>
                    <a:pt x="807550" y="282896"/>
                    <a:pt x="812800" y="309463"/>
                  </a:cubicBezTo>
                  <a:cubicBezTo>
                    <a:pt x="812800" y="317074"/>
                    <a:pt x="812800" y="324666"/>
                    <a:pt x="812800" y="332275"/>
                  </a:cubicBezTo>
                  <a:cubicBezTo>
                    <a:pt x="797154" y="399892"/>
                    <a:pt x="729827" y="445583"/>
                    <a:pt x="619295" y="433282"/>
                  </a:cubicBezTo>
                  <a:cubicBezTo>
                    <a:pt x="590856" y="468000"/>
                    <a:pt x="540252" y="503043"/>
                    <a:pt x="461507" y="498438"/>
                  </a:cubicBezTo>
                  <a:cubicBezTo>
                    <a:pt x="420804" y="496159"/>
                    <a:pt x="392488" y="482957"/>
                    <a:pt x="367697" y="466918"/>
                  </a:cubicBezTo>
                  <a:cubicBezTo>
                    <a:pt x="341584" y="480251"/>
                    <a:pt x="313304" y="490714"/>
                    <a:pt x="272443" y="490829"/>
                  </a:cubicBezTo>
                  <a:cubicBezTo>
                    <a:pt x="177910" y="491026"/>
                    <a:pt x="114672" y="439662"/>
                    <a:pt x="113139" y="369208"/>
                  </a:cubicBezTo>
                  <a:cubicBezTo>
                    <a:pt x="52367" y="352726"/>
                    <a:pt x="11206" y="321961"/>
                    <a:pt x="0" y="269317"/>
                  </a:cubicBezTo>
                  <a:cubicBezTo>
                    <a:pt x="0" y="261708"/>
                    <a:pt x="0" y="254082"/>
                    <a:pt x="0" y="246505"/>
                  </a:cubicBezTo>
                  <a:cubicBezTo>
                    <a:pt x="12369" y="194338"/>
                    <a:pt x="51292" y="161570"/>
                    <a:pt x="116099" y="147680"/>
                  </a:cubicBezTo>
                  <a:cubicBezTo>
                    <a:pt x="112205" y="59679"/>
                    <a:pt x="241837" y="4690"/>
                    <a:pt x="348333" y="43459"/>
                  </a:cubicBezTo>
                  <a:cubicBezTo>
                    <a:pt x="373689" y="24288"/>
                    <a:pt x="409562" y="3378"/>
                    <a:pt x="461490" y="0"/>
                  </a:cubicBezTo>
                  <a:close/>
                </a:path>
              </a:pathLst>
            </a:custGeom>
            <a:solidFill>
              <a:srgbClr val="FF999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38100" y="45034"/>
              <a:ext cx="736600" cy="38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Microcontrolador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65795" y="2823467"/>
            <a:ext cx="6135759" cy="1645330"/>
            <a:chOff x="0" y="0"/>
            <a:chExt cx="1616002" cy="4333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6002" cy="433338"/>
            </a:xfrm>
            <a:custGeom>
              <a:avLst/>
              <a:gdLst/>
              <a:ahLst/>
              <a:cxnLst/>
              <a:rect r="r" b="b" t="t" l="l"/>
              <a:pathLst>
                <a:path h="433338" w="1616002">
                  <a:moveTo>
                    <a:pt x="0" y="0"/>
                  </a:moveTo>
                  <a:lnTo>
                    <a:pt x="1616002" y="0"/>
                  </a:lnTo>
                  <a:lnTo>
                    <a:pt x="1616002" y="433338"/>
                  </a:lnTo>
                  <a:lnTo>
                    <a:pt x="0" y="433338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16002" cy="490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DC/DC </a:t>
              </a:r>
            </a:p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Buck Bidireccional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852262" y="3646132"/>
            <a:ext cx="3575789" cy="6356958"/>
          </a:xfrm>
          <a:custGeom>
            <a:avLst/>
            <a:gdLst/>
            <a:ahLst/>
            <a:cxnLst/>
            <a:rect r="r" b="b" t="t" l="l"/>
            <a:pathLst>
              <a:path h="6356958" w="3575789">
                <a:moveTo>
                  <a:pt x="0" y="0"/>
                </a:moveTo>
                <a:lnTo>
                  <a:pt x="3575789" y="0"/>
                </a:lnTo>
                <a:lnTo>
                  <a:pt x="357578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5029" y="4661941"/>
            <a:ext cx="7121532" cy="5341149"/>
          </a:xfrm>
          <a:custGeom>
            <a:avLst/>
            <a:gdLst/>
            <a:ahLst/>
            <a:cxnLst/>
            <a:rect r="r" b="b" t="t" l="l"/>
            <a:pathLst>
              <a:path h="5341149" w="7121532">
                <a:moveTo>
                  <a:pt x="0" y="0"/>
                </a:moveTo>
                <a:lnTo>
                  <a:pt x="7121532" y="0"/>
                </a:lnTo>
                <a:lnTo>
                  <a:pt x="7121532" y="5341149"/>
                </a:lnTo>
                <a:lnTo>
                  <a:pt x="0" y="5341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5650" y="1198148"/>
            <a:ext cx="1035586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0937"/>
            <a:ext cx="4926076" cy="1543050"/>
            <a:chOff x="0" y="0"/>
            <a:chExt cx="1297403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7403" cy="406400"/>
            </a:xfrm>
            <a:custGeom>
              <a:avLst/>
              <a:gdLst/>
              <a:ahLst/>
              <a:cxnLst/>
              <a:rect r="r" b="b" t="t" l="l"/>
              <a:pathLst>
                <a:path h="406400" w="1297403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b="true" sz="2400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80962" y="2770937"/>
            <a:ext cx="4926076" cy="1543050"/>
            <a:chOff x="0" y="0"/>
            <a:chExt cx="1297403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7403" cy="406400"/>
            </a:xfrm>
            <a:custGeom>
              <a:avLst/>
              <a:gdLst/>
              <a:ahLst/>
              <a:cxnLst/>
              <a:rect r="r" b="b" t="t" l="l"/>
              <a:pathLst>
                <a:path h="406400" w="1297403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b="true" sz="2400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2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33224" y="2770937"/>
            <a:ext cx="4926076" cy="1543050"/>
            <a:chOff x="0" y="0"/>
            <a:chExt cx="129740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7403" cy="406400"/>
            </a:xfrm>
            <a:custGeom>
              <a:avLst/>
              <a:gdLst/>
              <a:ahLst/>
              <a:cxnLst/>
              <a:rect r="r" b="b" t="t" l="l"/>
              <a:pathLst>
                <a:path h="406400" w="1297403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b="true" sz="2400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3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47467" y="4797951"/>
            <a:ext cx="18582933" cy="5999092"/>
            <a:chOff x="0" y="0"/>
            <a:chExt cx="4894271" cy="15800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94271" cy="1580008"/>
            </a:xfrm>
            <a:custGeom>
              <a:avLst/>
              <a:gdLst/>
              <a:ahLst/>
              <a:cxnLst/>
              <a:rect r="r" b="b" t="t" l="l"/>
              <a:pathLst>
                <a:path h="1580008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1580008"/>
                  </a:lnTo>
                  <a:lnTo>
                    <a:pt x="0" y="1580008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4894271" cy="156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4364" y="4797951"/>
            <a:ext cx="5739272" cy="5489049"/>
            <a:chOff x="0" y="0"/>
            <a:chExt cx="1511578" cy="14456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1578" cy="1445676"/>
            </a:xfrm>
            <a:custGeom>
              <a:avLst/>
              <a:gdLst/>
              <a:ahLst/>
              <a:cxnLst/>
              <a:rect r="r" b="b" t="t" l="l"/>
              <a:pathLst>
                <a:path h="1445676" w="1511578">
                  <a:moveTo>
                    <a:pt x="0" y="0"/>
                  </a:moveTo>
                  <a:lnTo>
                    <a:pt x="1511578" y="0"/>
                  </a:lnTo>
                  <a:lnTo>
                    <a:pt x="1511578" y="1445676"/>
                  </a:lnTo>
                  <a:lnTo>
                    <a:pt x="0" y="1445676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11578" cy="148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2668" y="5302471"/>
            <a:ext cx="5458140" cy="3955829"/>
            <a:chOff x="0" y="0"/>
            <a:chExt cx="7277521" cy="527443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9525"/>
              <a:ext cx="7277521" cy="1049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2"/>
                </a:lnSpc>
              </a:pPr>
              <a:r>
                <a:rPr lang="en-US" b="true" sz="2654" spc="3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PROTORIPO CONVERTIDOR DC/DC BUCK BIDIRECCIONAL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161479"/>
              <a:ext cx="7277521" cy="4112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Estudio de topología</a:t>
              </a:r>
            </a:p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Diseño de circuito y simulación</a:t>
              </a:r>
            </a:p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Listado de componentes</a:t>
              </a:r>
            </a:p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Seleccion y estudio de drivers</a:t>
              </a:r>
            </a:p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Diseño del driver</a:t>
              </a:r>
            </a:p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Diseño e implementación de PCB</a:t>
              </a:r>
            </a:p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Prototipado y verificación</a:t>
              </a:r>
            </a:p>
            <a:p>
              <a:pPr algn="l" marL="429861" indent="-214931" lvl="1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Resultados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80962" y="5302471"/>
            <a:ext cx="5306343" cy="4191467"/>
            <a:chOff x="0" y="0"/>
            <a:chExt cx="7075125" cy="558862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9050"/>
              <a:ext cx="7075125" cy="115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64"/>
                </a:lnSpc>
              </a:pPr>
              <a:r>
                <a:rPr lang="en-US" b="true" sz="3012" spc="42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GENERADOR DE PULSOS PWM UTILIZANDO PIC32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293850"/>
              <a:ext cx="7075125" cy="4294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0236" indent="-225118" lvl="1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Estudio del microcontrolador</a:t>
              </a:r>
            </a:p>
            <a:p>
              <a:pPr algn="l" marL="450236" indent="-225118" lvl="1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Estudio del kit de desarrollo</a:t>
              </a:r>
            </a:p>
            <a:p>
              <a:pPr algn="l" marL="450236" indent="-225118" lvl="1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Familiarizacion con lenguaje de programación</a:t>
              </a:r>
            </a:p>
            <a:p>
              <a:pPr algn="l" marL="450236" indent="-225118" lvl="1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Programación de pulso PWM</a:t>
              </a:r>
            </a:p>
            <a:p>
              <a:pPr algn="l" marL="450236" indent="-225118" lvl="1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Implementación y verificación del código</a:t>
              </a:r>
            </a:p>
            <a:p>
              <a:pPr algn="l" marL="450236" indent="-225118" lvl="1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Prototipado y verificación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13636" y="4797951"/>
            <a:ext cx="6274364" cy="5489049"/>
            <a:chOff x="0" y="0"/>
            <a:chExt cx="1652507" cy="14456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2507" cy="1445676"/>
            </a:xfrm>
            <a:custGeom>
              <a:avLst/>
              <a:gdLst/>
              <a:ahLst/>
              <a:cxnLst/>
              <a:rect r="r" b="b" t="t" l="l"/>
              <a:pathLst>
                <a:path h="1445676" w="1652507">
                  <a:moveTo>
                    <a:pt x="0" y="0"/>
                  </a:moveTo>
                  <a:lnTo>
                    <a:pt x="1652507" y="0"/>
                  </a:lnTo>
                  <a:lnTo>
                    <a:pt x="1652507" y="1445676"/>
                  </a:lnTo>
                  <a:lnTo>
                    <a:pt x="0" y="144567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52507" cy="148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82684" y="5302471"/>
            <a:ext cx="4676616" cy="4481750"/>
            <a:chOff x="0" y="0"/>
            <a:chExt cx="6235488" cy="597566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19050"/>
              <a:ext cx="6235488" cy="1471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1"/>
                </a:lnSpc>
              </a:pPr>
              <a:r>
                <a:rPr lang="en-US" sz="2514" spc="35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b="true" sz="2514" spc="3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NTERFAZ GRÁFICA JUNTO CON  MICROCONTROLADOR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593041"/>
              <a:ext cx="6235488" cy="4382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7165" indent="-203583" lvl="1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Selección de plataforma para diseño de interfaz</a:t>
              </a:r>
            </a:p>
            <a:p>
              <a:pPr algn="l" marL="407165" indent="-203583" lvl="1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Programación interfaz gráfica</a:t>
              </a:r>
            </a:p>
            <a:p>
              <a:pPr algn="l" marL="407165" indent="-203583" lvl="1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Pruebas interfaz gráfica con microcontrolador</a:t>
              </a:r>
            </a:p>
            <a:p>
              <a:pPr algn="l" marL="407165" indent="-203583" lvl="1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Prueba con conexiones del microcontrolador y driver a circuito</a:t>
              </a:r>
            </a:p>
            <a:p>
              <a:pPr algn="l" marL="407165" indent="-203583" lvl="1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Realizar pruebas y mediciones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522113"/>
            <a:ext cx="9229883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b="true" sz="360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FASES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22307" y="2473760"/>
            <a:ext cx="5212729" cy="4122999"/>
          </a:xfrm>
          <a:custGeom>
            <a:avLst/>
            <a:gdLst/>
            <a:ahLst/>
            <a:cxnLst/>
            <a:rect r="r" b="b" t="t" l="l"/>
            <a:pathLst>
              <a:path h="4122999" w="5212729">
                <a:moveTo>
                  <a:pt x="0" y="0"/>
                </a:moveTo>
                <a:lnTo>
                  <a:pt x="5212729" y="0"/>
                </a:lnTo>
                <a:lnTo>
                  <a:pt x="5212729" y="4122998"/>
                </a:lnTo>
                <a:lnTo>
                  <a:pt x="0" y="4122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31951" y="6218654"/>
            <a:ext cx="5579125" cy="3717092"/>
          </a:xfrm>
          <a:custGeom>
            <a:avLst/>
            <a:gdLst/>
            <a:ahLst/>
            <a:cxnLst/>
            <a:rect r="r" b="b" t="t" l="l"/>
            <a:pathLst>
              <a:path h="3717092" w="5579125">
                <a:moveTo>
                  <a:pt x="0" y="0"/>
                </a:moveTo>
                <a:lnTo>
                  <a:pt x="5579125" y="0"/>
                </a:lnTo>
                <a:lnTo>
                  <a:pt x="5579125" y="3717092"/>
                </a:lnTo>
                <a:lnTo>
                  <a:pt x="0" y="3717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650" y="1198148"/>
            <a:ext cx="1035586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INTERFAZ GRÁFICA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1939" y="3383510"/>
            <a:ext cx="6467215" cy="484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visual</a:t>
            </a: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en donde interactua el usuario con tal de controlar ciertos parametros de manera más intuitiva y sencilla.</a:t>
            </a:r>
          </a:p>
          <a:p>
            <a:pPr algn="l">
              <a:lnSpc>
                <a:spcPts val="3855"/>
              </a:lnSpc>
            </a:pPr>
          </a:p>
          <a:p>
            <a:pPr algn="l">
              <a:lnSpc>
                <a:spcPts val="3855"/>
              </a:lnSpc>
            </a:pPr>
            <a:r>
              <a:rPr lang="en-US" sz="275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Posee:</a:t>
            </a:r>
          </a:p>
          <a:p>
            <a:pPr algn="l" marL="594606" indent="-297303" lvl="1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Botones</a:t>
            </a:r>
          </a:p>
          <a:p>
            <a:pPr algn="l" marL="594606" indent="-297303" lvl="1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Menus</a:t>
            </a:r>
          </a:p>
          <a:p>
            <a:pPr algn="l" marL="594606" indent="-297303" lvl="1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Gráficos</a:t>
            </a:r>
          </a:p>
          <a:p>
            <a:pPr algn="l" marL="594606" indent="-297303" lvl="1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Ventanas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93339" y="2998213"/>
            <a:ext cx="9182348" cy="5558381"/>
          </a:xfrm>
          <a:custGeom>
            <a:avLst/>
            <a:gdLst/>
            <a:ahLst/>
            <a:cxnLst/>
            <a:rect r="r" b="b" t="t" l="l"/>
            <a:pathLst>
              <a:path h="5558381" w="9182348">
                <a:moveTo>
                  <a:pt x="0" y="0"/>
                </a:moveTo>
                <a:lnTo>
                  <a:pt x="9182347" y="0"/>
                </a:lnTo>
                <a:lnTo>
                  <a:pt x="9182347" y="5558381"/>
                </a:lnTo>
                <a:lnTo>
                  <a:pt x="0" y="5558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5650" y="873942"/>
            <a:ext cx="10355863" cy="121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PROTOCOLOS DE COMUNICACION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650" y="2789331"/>
            <a:ext cx="7892921" cy="733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Protocolo USB:</a:t>
            </a:r>
          </a:p>
          <a:p>
            <a:pPr algn="l" marL="508540" indent="-254270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Utiliza una arquitectura Maestro-Esclavo (Host-Client) asimétrica.</a:t>
            </a:r>
          </a:p>
          <a:p>
            <a:pPr algn="l" marL="508540" indent="-254270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USB 2.0 High-Speed 480Mbits/s</a:t>
            </a:r>
          </a:p>
          <a:p>
            <a:pPr algn="l" marL="508540" indent="-254270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Emplea Señalización Diferencial a través de un par trenzado de cables (D+ y D-).</a:t>
            </a:r>
          </a:p>
          <a:p>
            <a:pPr algn="l" marL="508540" indent="-254270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Transferencia “Bulk”</a:t>
            </a:r>
          </a:p>
          <a:p>
            <a:pPr algn="l">
              <a:lnSpc>
                <a:spcPts val="3297"/>
              </a:lnSpc>
            </a:pPr>
          </a:p>
          <a:p>
            <a:pPr algn="l">
              <a:lnSpc>
                <a:spcPts val="3700"/>
              </a:lnSpc>
            </a:pPr>
            <a:r>
              <a:rPr lang="en-US" sz="264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Protocolo UART:</a:t>
            </a:r>
          </a:p>
          <a:p>
            <a:pPr algn="l" marL="508540" indent="-254270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Comunicacion serial, punto-punto y Full-Duplex</a:t>
            </a:r>
          </a:p>
          <a:p>
            <a:pPr algn="l" marL="508540" indent="-254270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sistema depende del Baud Rate para sincronizar datos.</a:t>
            </a:r>
          </a:p>
          <a:p>
            <a:pPr algn="l" marL="508540" indent="-254270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Comunicación Crossover</a:t>
            </a: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35714" y="2792164"/>
            <a:ext cx="6545328" cy="6793469"/>
          </a:xfrm>
          <a:custGeom>
            <a:avLst/>
            <a:gdLst/>
            <a:ahLst/>
            <a:cxnLst/>
            <a:rect r="r" b="b" t="t" l="l"/>
            <a:pathLst>
              <a:path h="6793469" w="6545328">
                <a:moveTo>
                  <a:pt x="0" y="0"/>
                </a:moveTo>
                <a:lnTo>
                  <a:pt x="6545327" y="0"/>
                </a:lnTo>
                <a:lnTo>
                  <a:pt x="6545327" y="6793470"/>
                </a:lnTo>
                <a:lnTo>
                  <a:pt x="0" y="6793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408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81041" y="2792164"/>
            <a:ext cx="6819308" cy="6793469"/>
          </a:xfrm>
          <a:custGeom>
            <a:avLst/>
            <a:gdLst/>
            <a:ahLst/>
            <a:cxnLst/>
            <a:rect r="r" b="b" t="t" l="l"/>
            <a:pathLst>
              <a:path h="6793469" w="6819308">
                <a:moveTo>
                  <a:pt x="0" y="0"/>
                </a:moveTo>
                <a:lnTo>
                  <a:pt x="6819308" y="0"/>
                </a:lnTo>
                <a:lnTo>
                  <a:pt x="6819308" y="6793470"/>
                </a:lnTo>
                <a:lnTo>
                  <a:pt x="0" y="6793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20" t="0" r="-9574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650" y="1254790"/>
            <a:ext cx="7209081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b="true" sz="360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DESARROLLO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5650" y="2979965"/>
            <a:ext cx="6814144" cy="576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2423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Sistema operativo: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Linux 6.17.7-arch1-1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Windows 11</a:t>
            </a:r>
          </a:p>
          <a:p>
            <a:pPr algn="l">
              <a:lnSpc>
                <a:spcPts val="4580"/>
              </a:lnSpc>
            </a:pPr>
            <a:r>
              <a:rPr lang="en-US" sz="2423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Editor de texto: 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nvim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visual studio</a:t>
            </a:r>
          </a:p>
          <a:p>
            <a:pPr algn="l">
              <a:lnSpc>
                <a:spcPts val="4580"/>
              </a:lnSpc>
            </a:pPr>
            <a:r>
              <a:rPr lang="en-US" sz="2423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Lenguaje: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Python 3.13.7</a:t>
            </a:r>
          </a:p>
          <a:p>
            <a:pPr algn="l">
              <a:lnSpc>
                <a:spcPts val="4580"/>
              </a:lnSpc>
            </a:pPr>
            <a:r>
              <a:rPr lang="en-US" sz="2423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Control de versiones: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Git/Github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63922" y="3427376"/>
            <a:ext cx="9688818" cy="4493189"/>
          </a:xfrm>
          <a:custGeom>
            <a:avLst/>
            <a:gdLst/>
            <a:ahLst/>
            <a:cxnLst/>
            <a:rect r="r" b="b" t="t" l="l"/>
            <a:pathLst>
              <a:path h="4493189" w="9688818">
                <a:moveTo>
                  <a:pt x="0" y="0"/>
                </a:moveTo>
                <a:lnTo>
                  <a:pt x="9688818" y="0"/>
                </a:lnTo>
                <a:lnTo>
                  <a:pt x="9688818" y="4493189"/>
                </a:lnTo>
                <a:lnTo>
                  <a:pt x="0" y="4493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5650" y="1254790"/>
            <a:ext cx="7209081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b="true" sz="360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TKINTER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175" y="4442053"/>
            <a:ext cx="6814144" cy="284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2423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TKINTER: 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Librería, python wrapper de Tcl/Tk</a:t>
            </a:r>
          </a:p>
          <a:p>
            <a:pPr algn="l">
              <a:lnSpc>
                <a:spcPts val="4580"/>
              </a:lnSpc>
            </a:pPr>
            <a:r>
              <a:rPr lang="en-US" sz="2423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TTK:</a:t>
            </a:r>
          </a:p>
          <a:p>
            <a:pPr algn="l" marL="523231" indent="-261616" lvl="1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Submódulo de la librería tkinter, con temas más modernos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03598" y="4962842"/>
            <a:ext cx="998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466" y="2688471"/>
            <a:ext cx="7600950" cy="7602375"/>
            <a:chOff x="0" y="0"/>
            <a:chExt cx="2001896" cy="2002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1896" cy="2002272"/>
            </a:xfrm>
            <a:custGeom>
              <a:avLst/>
              <a:gdLst/>
              <a:ahLst/>
              <a:cxnLst/>
              <a:rect r="r" b="b" t="t" l="l"/>
              <a:pathLst>
                <a:path h="2002272" w="2001896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01896" cy="204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12009" y="1955163"/>
            <a:ext cx="11301259" cy="1949467"/>
          </a:xfrm>
          <a:custGeom>
            <a:avLst/>
            <a:gdLst/>
            <a:ahLst/>
            <a:cxnLst/>
            <a:rect r="r" b="b" t="t" l="l"/>
            <a:pathLst>
              <a:path h="1949467" w="11301259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20365" y="7861737"/>
            <a:ext cx="5768279" cy="2255978"/>
          </a:xfrm>
          <a:custGeom>
            <a:avLst/>
            <a:gdLst/>
            <a:ahLst/>
            <a:cxnLst/>
            <a:rect r="r" b="b" t="t" l="l"/>
            <a:pathLst>
              <a:path h="2255978" w="5768279">
                <a:moveTo>
                  <a:pt x="0" y="0"/>
                </a:moveTo>
                <a:lnTo>
                  <a:pt x="5768279" y="0"/>
                </a:lnTo>
                <a:lnTo>
                  <a:pt x="5768279" y="2255978"/>
                </a:lnTo>
                <a:lnTo>
                  <a:pt x="0" y="2255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20365" y="4921418"/>
            <a:ext cx="11301259" cy="1695189"/>
          </a:xfrm>
          <a:custGeom>
            <a:avLst/>
            <a:gdLst/>
            <a:ahLst/>
            <a:cxnLst/>
            <a:rect r="r" b="b" t="t" l="l"/>
            <a:pathLst>
              <a:path h="1695189" w="11301259">
                <a:moveTo>
                  <a:pt x="0" y="0"/>
                </a:moveTo>
                <a:lnTo>
                  <a:pt x="11301259" y="0"/>
                </a:lnTo>
                <a:lnTo>
                  <a:pt x="11301259" y="1695189"/>
                </a:lnTo>
                <a:lnTo>
                  <a:pt x="0" y="169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82891" y="6305544"/>
            <a:ext cx="5776409" cy="989330"/>
          </a:xfrm>
          <a:custGeom>
            <a:avLst/>
            <a:gdLst/>
            <a:ahLst/>
            <a:cxnLst/>
            <a:rect r="r" b="b" t="t" l="l"/>
            <a:pathLst>
              <a:path h="989330" w="5776409">
                <a:moveTo>
                  <a:pt x="0" y="0"/>
                </a:moveTo>
                <a:lnTo>
                  <a:pt x="5776409" y="0"/>
                </a:lnTo>
                <a:lnTo>
                  <a:pt x="5776409" y="989329"/>
                </a:lnTo>
                <a:lnTo>
                  <a:pt x="0" y="9893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17629" y="7861737"/>
            <a:ext cx="3162992" cy="2131581"/>
          </a:xfrm>
          <a:custGeom>
            <a:avLst/>
            <a:gdLst/>
            <a:ahLst/>
            <a:cxnLst/>
            <a:rect r="r" b="b" t="t" l="l"/>
            <a:pathLst>
              <a:path h="2131581" w="3162992">
                <a:moveTo>
                  <a:pt x="0" y="0"/>
                </a:moveTo>
                <a:lnTo>
                  <a:pt x="3162992" y="0"/>
                </a:lnTo>
                <a:lnTo>
                  <a:pt x="3162992" y="2131582"/>
                </a:lnTo>
                <a:lnTo>
                  <a:pt x="0" y="2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52372" y="386151"/>
            <a:ext cx="4604641" cy="2302321"/>
          </a:xfrm>
          <a:custGeom>
            <a:avLst/>
            <a:gdLst/>
            <a:ahLst/>
            <a:cxnLst/>
            <a:rect r="r" b="b" t="t" l="l"/>
            <a:pathLst>
              <a:path h="2302321" w="4604641">
                <a:moveTo>
                  <a:pt x="0" y="0"/>
                </a:moveTo>
                <a:lnTo>
                  <a:pt x="4604642" y="0"/>
                </a:lnTo>
                <a:lnTo>
                  <a:pt x="4604642" y="2302320"/>
                </a:lnTo>
                <a:lnTo>
                  <a:pt x="0" y="23023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2172" y="1955163"/>
            <a:ext cx="11179767" cy="55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b="true" sz="360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OBJETOS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338" y="3315248"/>
            <a:ext cx="6368030" cy="520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7"/>
              </a:lnSpc>
            </a:pPr>
            <a:r>
              <a:rPr lang="en-US" sz="2189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Frames:</a:t>
            </a:r>
          </a:p>
          <a:p>
            <a:pPr algn="l" marL="472690" indent="-236345" lvl="1">
              <a:lnSpc>
                <a:spcPts val="4137"/>
              </a:lnSpc>
              <a:buFont typeface="Arial"/>
              <a:buChar char="•"/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Los frames “sujetan” objetos dentro</a:t>
            </a:r>
          </a:p>
          <a:p>
            <a:pPr algn="l">
              <a:lnSpc>
                <a:spcPts val="4137"/>
              </a:lnSpc>
            </a:pPr>
          </a:p>
          <a:p>
            <a:pPr algn="l">
              <a:lnSpc>
                <a:spcPts val="4137"/>
              </a:lnSpc>
            </a:pPr>
            <a:r>
              <a:rPr lang="en-US" sz="2189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Botones</a:t>
            </a:r>
          </a:p>
          <a:p>
            <a:pPr algn="l" marL="472690" indent="-236345" lvl="1">
              <a:lnSpc>
                <a:spcPts val="4137"/>
              </a:lnSpc>
              <a:buFont typeface="Arial"/>
              <a:buChar char="•"/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los botones llaman comandos</a:t>
            </a:r>
          </a:p>
          <a:p>
            <a:pPr algn="l">
              <a:lnSpc>
                <a:spcPts val="4137"/>
              </a:lnSpc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al ser presionados</a:t>
            </a:r>
          </a:p>
          <a:p>
            <a:pPr algn="l">
              <a:lnSpc>
                <a:spcPts val="4137"/>
              </a:lnSpc>
            </a:pPr>
          </a:p>
          <a:p>
            <a:pPr algn="l">
              <a:lnSpc>
                <a:spcPts val="4137"/>
              </a:lnSpc>
            </a:pPr>
            <a:r>
              <a:rPr lang="en-US" sz="2189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ComboBox</a:t>
            </a:r>
          </a:p>
          <a:p>
            <a:pPr algn="l" marL="472690" indent="-236345" lvl="1">
              <a:lnSpc>
                <a:spcPts val="4137"/>
              </a:lnSpc>
              <a:buFont typeface="Arial"/>
              <a:buChar char="•"/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Permiten esoger opciones</a:t>
            </a:r>
          </a:p>
          <a:p>
            <a:pPr algn="l">
              <a:lnSpc>
                <a:spcPts val="413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50153" y="6310021"/>
            <a:ext cx="8542994" cy="3303679"/>
          </a:xfrm>
          <a:custGeom>
            <a:avLst/>
            <a:gdLst/>
            <a:ahLst/>
            <a:cxnLst/>
            <a:rect r="r" b="b" t="t" l="l"/>
            <a:pathLst>
              <a:path h="3303679" w="8542994">
                <a:moveTo>
                  <a:pt x="0" y="0"/>
                </a:moveTo>
                <a:lnTo>
                  <a:pt x="8542993" y="0"/>
                </a:lnTo>
                <a:lnTo>
                  <a:pt x="8542993" y="3303679"/>
                </a:lnTo>
                <a:lnTo>
                  <a:pt x="0" y="3303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17557" y="2473760"/>
            <a:ext cx="8841743" cy="3405833"/>
          </a:xfrm>
          <a:custGeom>
            <a:avLst/>
            <a:gdLst/>
            <a:ahLst/>
            <a:cxnLst/>
            <a:rect r="r" b="b" t="t" l="l"/>
            <a:pathLst>
              <a:path h="3405833" w="8841743">
                <a:moveTo>
                  <a:pt x="0" y="0"/>
                </a:moveTo>
                <a:lnTo>
                  <a:pt x="8841743" y="0"/>
                </a:lnTo>
                <a:lnTo>
                  <a:pt x="8841743" y="3405832"/>
                </a:lnTo>
                <a:lnTo>
                  <a:pt x="0" y="3405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5650" y="6653235"/>
            <a:ext cx="5943890" cy="3633765"/>
          </a:xfrm>
          <a:custGeom>
            <a:avLst/>
            <a:gdLst/>
            <a:ahLst/>
            <a:cxnLst/>
            <a:rect r="r" b="b" t="t" l="l"/>
            <a:pathLst>
              <a:path h="3633765" w="5943890">
                <a:moveTo>
                  <a:pt x="0" y="0"/>
                </a:moveTo>
                <a:lnTo>
                  <a:pt x="5943890" y="0"/>
                </a:lnTo>
                <a:lnTo>
                  <a:pt x="5943890" y="3633765"/>
                </a:lnTo>
                <a:lnTo>
                  <a:pt x="0" y="3633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650" y="1254790"/>
            <a:ext cx="7209081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b="true" sz="360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CONEXIONES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5650" y="2532935"/>
            <a:ext cx="6659972" cy="391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2368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Función send2controller:</a:t>
            </a:r>
          </a:p>
          <a:p>
            <a:pPr algn="l" marL="511393" indent="-255697" lvl="1">
              <a:lnSpc>
                <a:spcPts val="4476"/>
              </a:lnSpc>
              <a:buFont typeface="Arial"/>
              <a:buChar char="•"/>
            </a:pPr>
            <a:r>
              <a:rPr lang="en-US" sz="236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Envío de información de frecuencia y ciclo de trabajo hacia el PIC32</a:t>
            </a:r>
          </a:p>
          <a:p>
            <a:pPr algn="l">
              <a:lnSpc>
                <a:spcPts val="4476"/>
              </a:lnSpc>
            </a:pPr>
            <a:r>
              <a:rPr lang="en-US" sz="2368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Función Connect y Disconnect:</a:t>
            </a:r>
          </a:p>
          <a:p>
            <a:pPr algn="l" marL="511393" indent="-255697" lvl="1">
              <a:lnSpc>
                <a:spcPts val="4476"/>
              </a:lnSpc>
              <a:buFont typeface="Arial"/>
              <a:buChar char="•"/>
            </a:pPr>
            <a:r>
              <a:rPr lang="en-US" sz="236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 configuran los puertos, junto con la velocidad de transmision de datos y la seguridad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2159" y="2829712"/>
            <a:ext cx="6333233" cy="7602375"/>
            <a:chOff x="0" y="0"/>
            <a:chExt cx="1668012" cy="2002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8012" cy="2002272"/>
            </a:xfrm>
            <a:custGeom>
              <a:avLst/>
              <a:gdLst/>
              <a:ahLst/>
              <a:cxnLst/>
              <a:rect r="r" b="b" t="t" l="l"/>
              <a:pathLst>
                <a:path h="2002272" w="1668012">
                  <a:moveTo>
                    <a:pt x="0" y="0"/>
                  </a:moveTo>
                  <a:lnTo>
                    <a:pt x="1668012" y="0"/>
                  </a:lnTo>
                  <a:lnTo>
                    <a:pt x="1668012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68012" cy="204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11074" y="2336490"/>
            <a:ext cx="4350320" cy="2807010"/>
          </a:xfrm>
          <a:custGeom>
            <a:avLst/>
            <a:gdLst/>
            <a:ahLst/>
            <a:cxnLst/>
            <a:rect r="r" b="b" t="t" l="l"/>
            <a:pathLst>
              <a:path h="2807010" w="4350320">
                <a:moveTo>
                  <a:pt x="0" y="0"/>
                </a:moveTo>
                <a:lnTo>
                  <a:pt x="4350321" y="0"/>
                </a:lnTo>
                <a:lnTo>
                  <a:pt x="4350321" y="2807010"/>
                </a:lnTo>
                <a:lnTo>
                  <a:pt x="0" y="2807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799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41163" y="6286513"/>
            <a:ext cx="6856533" cy="3959648"/>
          </a:xfrm>
          <a:custGeom>
            <a:avLst/>
            <a:gdLst/>
            <a:ahLst/>
            <a:cxnLst/>
            <a:rect r="r" b="b" t="t" l="l"/>
            <a:pathLst>
              <a:path h="3959648" w="6856533">
                <a:moveTo>
                  <a:pt x="0" y="0"/>
                </a:moveTo>
                <a:lnTo>
                  <a:pt x="6856534" y="0"/>
                </a:lnTo>
                <a:lnTo>
                  <a:pt x="6856534" y="3959648"/>
                </a:lnTo>
                <a:lnTo>
                  <a:pt x="0" y="395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16429" y="3462309"/>
            <a:ext cx="6598681" cy="3719507"/>
          </a:xfrm>
          <a:custGeom>
            <a:avLst/>
            <a:gdLst/>
            <a:ahLst/>
            <a:cxnLst/>
            <a:rect r="r" b="b" t="t" l="l"/>
            <a:pathLst>
              <a:path h="3719507" w="6598681">
                <a:moveTo>
                  <a:pt x="0" y="0"/>
                </a:moveTo>
                <a:lnTo>
                  <a:pt x="6598681" y="0"/>
                </a:lnTo>
                <a:lnTo>
                  <a:pt x="6598681" y="3719507"/>
                </a:lnTo>
                <a:lnTo>
                  <a:pt x="0" y="3719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3280886">
            <a:off x="8002232" y="5377514"/>
            <a:ext cx="1883963" cy="1258694"/>
            <a:chOff x="0" y="0"/>
            <a:chExt cx="812800" cy="54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43040"/>
            </a:xfrm>
            <a:custGeom>
              <a:avLst/>
              <a:gdLst/>
              <a:ahLst/>
              <a:cxnLst/>
              <a:rect r="r" b="b" t="t" l="l"/>
              <a:pathLst>
                <a:path h="543040" w="812800">
                  <a:moveTo>
                    <a:pt x="812800" y="27152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39840"/>
                  </a:lnTo>
                  <a:lnTo>
                    <a:pt x="406400" y="339840"/>
                  </a:lnTo>
                  <a:lnTo>
                    <a:pt x="406400" y="543040"/>
                  </a:lnTo>
                  <a:lnTo>
                    <a:pt x="812800" y="27152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60325"/>
              <a:ext cx="711200" cy="27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505927">
            <a:off x="10824180" y="6648078"/>
            <a:ext cx="1694029" cy="1131798"/>
            <a:chOff x="0" y="0"/>
            <a:chExt cx="812800" cy="54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543040"/>
            </a:xfrm>
            <a:custGeom>
              <a:avLst/>
              <a:gdLst/>
              <a:ahLst/>
              <a:cxnLst/>
              <a:rect r="r" b="b" t="t" l="l"/>
              <a:pathLst>
                <a:path h="543040" w="812800">
                  <a:moveTo>
                    <a:pt x="812800" y="27152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39840"/>
                  </a:lnTo>
                  <a:lnTo>
                    <a:pt x="406400" y="339840"/>
                  </a:lnTo>
                  <a:lnTo>
                    <a:pt x="406400" y="543040"/>
                  </a:lnTo>
                  <a:lnTo>
                    <a:pt x="812800" y="27152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0325"/>
              <a:ext cx="711200" cy="27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2405" y="2988256"/>
            <a:ext cx="6259591" cy="254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21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Compatibilidad:</a:t>
            </a:r>
          </a:p>
          <a:p>
            <a:pPr algn="l" marL="464641" indent="-232320" lvl="1">
              <a:lnSpc>
                <a:spcPts val="4067"/>
              </a:lnSpc>
              <a:buFont typeface="Arial"/>
              <a:buChar char="•"/>
            </a:pPr>
            <a:r>
              <a:rPr lang="en-US" sz="21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Microsoft Windows 10 o superior</a:t>
            </a:r>
          </a:p>
          <a:p>
            <a:pPr algn="l" marL="464641" indent="-232320" lvl="1">
              <a:lnSpc>
                <a:spcPts val="4067"/>
              </a:lnSpc>
              <a:buFont typeface="Arial"/>
              <a:buChar char="•"/>
            </a:pPr>
            <a:r>
              <a:rPr lang="en-US" sz="21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Linux</a:t>
            </a:r>
          </a:p>
          <a:p>
            <a:pPr algn="l">
              <a:lnSpc>
                <a:spcPts val="4067"/>
              </a:lnSpc>
            </a:pPr>
            <a:r>
              <a:rPr lang="en-US" sz="21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Enlace de descarga:</a:t>
            </a:r>
          </a:p>
          <a:p>
            <a:pPr algn="l" marL="464641" indent="-232320" lvl="1">
              <a:lnSpc>
                <a:spcPts val="4067"/>
              </a:lnSpc>
              <a:buFont typeface="Arial"/>
              <a:buChar char="•"/>
            </a:pPr>
            <a:r>
              <a:rPr lang="en-US" b="true" sz="2152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  <a:hlinkClick r:id="rId6" tooltip="https://github.com/aguscsc/Bidirectional-Buck-DC-DC-converter/tree/main/microcontroller/graphic_interface/executables"/>
              </a:rPr>
              <a:t>descarga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405" y="1820558"/>
            <a:ext cx="11179767" cy="55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b="true" sz="360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CÓMO UTILIZAR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82814" y="4399777"/>
            <a:ext cx="5206841" cy="73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  <a:spcBef>
                <a:spcPct val="0"/>
              </a:spcBef>
            </a:pPr>
            <a:r>
              <a:rPr lang="en-US" b="true" sz="3352">
                <a:solidFill>
                  <a:srgbClr val="FFBD59"/>
                </a:solidFill>
                <a:latin typeface="Now Bold"/>
                <a:ea typeface="Now Bold"/>
                <a:cs typeface="Now Bold"/>
                <a:sym typeface="Now Bold"/>
              </a:rPr>
              <a:t>Descargar el ejecutable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1074" y="9168135"/>
            <a:ext cx="1795145" cy="73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  <a:spcBef>
                <a:spcPct val="0"/>
              </a:spcBef>
            </a:pPr>
            <a:r>
              <a:rPr lang="en-US" b="true" sz="3352">
                <a:solidFill>
                  <a:srgbClr val="FF751F"/>
                </a:solidFill>
                <a:latin typeface="Now Bold"/>
                <a:ea typeface="Now Bold"/>
                <a:cs typeface="Now Bold"/>
                <a:sym typeface="Now Bold"/>
              </a:rPr>
              <a:t>Ejecutar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41362" y="5867589"/>
            <a:ext cx="974408" cy="73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  <a:spcBef>
                <a:spcPct val="0"/>
              </a:spcBef>
            </a:pPr>
            <a:r>
              <a:rPr lang="en-US" b="true" sz="3352">
                <a:solidFill>
                  <a:srgbClr val="FF751F"/>
                </a:solidFill>
                <a:latin typeface="Now Bold"/>
                <a:ea typeface="Now Bold"/>
                <a:cs typeface="Now Bold"/>
                <a:sym typeface="Now Bold"/>
              </a:rPr>
              <a:t>Usar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" y="2817558"/>
            <a:ext cx="7600950" cy="7602375"/>
            <a:chOff x="0" y="0"/>
            <a:chExt cx="2001896" cy="2002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1896" cy="2002272"/>
            </a:xfrm>
            <a:custGeom>
              <a:avLst/>
              <a:gdLst/>
              <a:ahLst/>
              <a:cxnLst/>
              <a:rect r="r" b="b" t="t" l="l"/>
              <a:pathLst>
                <a:path h="2002272" w="2001896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00025"/>
              <a:ext cx="2001896" cy="2202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60328" y="1406164"/>
            <a:ext cx="13722630" cy="8537291"/>
          </a:xfrm>
          <a:custGeom>
            <a:avLst/>
            <a:gdLst/>
            <a:ahLst/>
            <a:cxnLst/>
            <a:rect r="r" b="b" t="t" l="l"/>
            <a:pathLst>
              <a:path h="8537291" w="13722630">
                <a:moveTo>
                  <a:pt x="0" y="0"/>
                </a:moveTo>
                <a:lnTo>
                  <a:pt x="13722631" y="0"/>
                </a:lnTo>
                <a:lnTo>
                  <a:pt x="13722631" y="8537291"/>
                </a:lnTo>
                <a:lnTo>
                  <a:pt x="0" y="8537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24791"/>
            <a:ext cx="6095248" cy="175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7"/>
              </a:lnSpc>
              <a:spcBef>
                <a:spcPct val="0"/>
              </a:spcBef>
            </a:pPr>
            <a:r>
              <a:rPr lang="en-US" sz="385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Configuracion de el micro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79458"/>
            <a:ext cx="7600950" cy="7602375"/>
            <a:chOff x="0" y="0"/>
            <a:chExt cx="2001896" cy="2002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1896" cy="2002272"/>
            </a:xfrm>
            <a:custGeom>
              <a:avLst/>
              <a:gdLst/>
              <a:ahLst/>
              <a:cxnLst/>
              <a:rect r="r" b="b" t="t" l="l"/>
              <a:pathLst>
                <a:path h="2002272" w="2001896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00025"/>
              <a:ext cx="2001896" cy="2202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3014193"/>
            <a:ext cx="8242997" cy="5680658"/>
          </a:xfrm>
          <a:custGeom>
            <a:avLst/>
            <a:gdLst/>
            <a:ahLst/>
            <a:cxnLst/>
            <a:rect r="r" b="b" t="t" l="l"/>
            <a:pathLst>
              <a:path h="5680658" w="8242997">
                <a:moveTo>
                  <a:pt x="0" y="0"/>
                </a:moveTo>
                <a:lnTo>
                  <a:pt x="8242997" y="0"/>
                </a:lnTo>
                <a:lnTo>
                  <a:pt x="8242997" y="5680657"/>
                </a:lnTo>
                <a:lnTo>
                  <a:pt x="0" y="56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86401" y="0"/>
            <a:ext cx="9450539" cy="10287000"/>
          </a:xfrm>
          <a:custGeom>
            <a:avLst/>
            <a:gdLst/>
            <a:ahLst/>
            <a:cxnLst/>
            <a:rect r="r" b="b" t="t" l="l"/>
            <a:pathLst>
              <a:path h="10287000" w="9450539">
                <a:moveTo>
                  <a:pt x="0" y="0"/>
                </a:moveTo>
                <a:lnTo>
                  <a:pt x="9450539" y="0"/>
                </a:lnTo>
                <a:lnTo>
                  <a:pt x="94505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224791"/>
            <a:ext cx="6095248" cy="175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7"/>
              </a:lnSpc>
              <a:spcBef>
                <a:spcPct val="0"/>
              </a:spcBef>
            </a:pPr>
            <a:r>
              <a:rPr lang="en-US" sz="385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Configuracion de el micro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DAG4hIDAEXg</dc:identifier>
  <dcterms:modified xsi:type="dcterms:W3CDTF">2011-08-01T06:04:30Z</dcterms:modified>
  <cp:revision>1</cp:revision>
  <dc:title>Proyecto: Convertidor DC/dc</dc:title>
</cp:coreProperties>
</file>